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85" r:id="rId6"/>
    <p:sldId id="293" r:id="rId7"/>
    <p:sldId id="286" r:id="rId8"/>
    <p:sldId id="289" r:id="rId9"/>
    <p:sldId id="290" r:id="rId10"/>
    <p:sldId id="291" r:id="rId11"/>
    <p:sldId id="294" r:id="rId12"/>
    <p:sldId id="292" r:id="rId13"/>
    <p:sldId id="298" r:id="rId14"/>
    <p:sldId id="295" r:id="rId15"/>
    <p:sldId id="297" r:id="rId16"/>
    <p:sldId id="296" r:id="rId17"/>
    <p:sldId id="300" r:id="rId18"/>
    <p:sldId id="301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279" r:id="rId2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F2D08C-1971-4621-9F87-ED85056B6420}">
          <p14:sldIdLst>
            <p14:sldId id="256"/>
            <p14:sldId id="257"/>
            <p14:sldId id="258"/>
            <p14:sldId id="260"/>
            <p14:sldId id="285"/>
            <p14:sldId id="293"/>
            <p14:sldId id="286"/>
            <p14:sldId id="289"/>
            <p14:sldId id="290"/>
            <p14:sldId id="291"/>
            <p14:sldId id="294"/>
            <p14:sldId id="292"/>
            <p14:sldId id="298"/>
            <p14:sldId id="295"/>
            <p14:sldId id="297"/>
            <p14:sldId id="296"/>
            <p14:sldId id="300"/>
            <p14:sldId id="301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pos="6221" userDrawn="1">
          <p15:clr>
            <a:srgbClr val="A4A3A4"/>
          </p15:clr>
        </p15:guide>
        <p15:guide id="5" orient="horz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8600"/>
    <a:srgbClr val="97497B"/>
    <a:srgbClr val="1E1F22"/>
    <a:srgbClr val="B96F9F"/>
    <a:srgbClr val="C6B35F"/>
    <a:srgbClr val="E1DFDD"/>
    <a:srgbClr val="707070"/>
    <a:srgbClr val="3B7D23"/>
    <a:srgbClr val="224378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>
        <p:guide orient="horz" pos="391"/>
        <p:guide pos="257"/>
        <p:guide pos="7423"/>
        <p:guide pos="6221"/>
        <p:guide orient="horz"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5:58:55.505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2192 2957 8192,'-29'-24'5452,"-1"1"1,-59-35 0,31 22-3789,-311-230-1664,290 201 0,4-5 0,-97-111 0,81 70 0,4-4 0,5-3 0,-111-217 0,37 28-4618,-31-65-5606,80 118 7044,32 44 5146,-22-108 5319,95 309-6059,-2-6 660,0-1 0,1 1 0,-1-23 1,5 38-1887,0 0 0,0 0 0,-1 0 0,1 0 0,0 0 0,0 0 0,-1 0 0,1 1 0,0-1 0,-1 0 0,1 1 0,0-1 0,-1 0 0,1 1 0,0-1 0,-1 1 0,1-1 0,-1 1 0,1-1 0,0 1 0,-1-1 0,1 1 0,-1-1 0,0 1 0,1 1 0,188 212 0,-4 3 0,-112-127 0,-54-64 0,-19-26 0,-1 0 0,1 0 0,0 0 0,0 0 0,0 1 0,0-1 0,-1 0 0,1 0 0,0 0 0,0 0 0,0 0 0,0 1 0,-1-1 0,1 0 0,0 0 0,0 0 0,0 0 0,-1 0 0,1 0 0,0 0 0,0 0 0,-1 0 0,1 0 0,0 0 0,0 0 0,0 0 0,-1 0 0,1 0 0,0 0 0,0 0 0,-1 0 0,1 0 0,0 0 0,0-1 0,0 1 0,-1 0 0,1 0 0,0 0 0,0 0 0,0 0 0,0-1 0,-1 1 0,1 0 0,0 0 0,0 0 0,0 0 0,0-1 0,0 1 0,0 0 0,0 0 0,-1 0 0,1-1 0,-50-36 0,41 29 0,-61-47-1729,-120-113-10905,115 90 9996,45 41 4843,-24-55 10489,33 54-10592,21 37-2102,0 0 0,-1 0 0,1-1 0,-1 1 0,0 0 0,1 0 0,-1 0 0,0 0 0,0 0 0,0 0 0,0 0 0,0 0 0,0 0 0,0 1 0,0-1 0,0 0 0,0 1 0,0-1 0,0 0 0,-1 1 0,1 0 0,0-1 0,0 1 0,-3-1 0,3 2 0,-1-1 0,1 1 0,0-1 0,-1 1 0,1 0 0,0 0 0,0 0 0,0 0 0,-1 0 0,1 0 0,0 0 0,0 0 0,0 0 0,1 0 0,-1 0 0,0 1 0,0-1 0,0 2 0,-5 9 0,1 1 0,0 0 0,-5 22 0,-12 71-1702,-1 149-8002,15-147 7274,-3-1 3485,2-57 8957,-4-22-7243,-1-12-2769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5:59:22.927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2749 1152 8192,'-3'-62'16362,"1"45"-14702,-7-45-1660,-3 1 0,-2 1 0,-33-88 0,35 120 0,0 0 0,-2 0 0,-1 1 0,-1 1 0,-1 1 0,-2 0 0,0 2 0,-1 0 0,-29-25 0,-13-2-938,-107-66 1,95 73-1442,-1 4 1,-159-58-1,145 69 0,0 4 0,-146-20 0,-48 25 505,199 19 3222,1 3 0,-1 4 0,1 4 0,-136 35 0,179-34-620,0 2-1,1 1 0,1 2 1,1 2-1,0 1 1,1 2-1,2 1 1,0 2-1,2 1 1,0 2-1,-35 41 1,51-50-476,2 1 0,0 0 1,1 1-1,1 0 0,1 1 1,1 0-1,1 1 1,-11 45-1,13-35-138,1 0 1,2 1 0,2 0-1,1 0 1,7 65-1,0-52-1126,3 1 0,1-2 0,30 80 0,-21-79-1972,2 0 0,2-1 0,34 48 0,-28-53 2559,2-1 1,1-1-1,3-2 1,0-2-1,3-1 0,55 39 1,-50-44 472,0-2 0,2-2 0,1-1 0,0-3 0,2-2 0,0-2 0,1-2 0,1-2 0,0-3 0,72 7 0,-29-14-48,1-3 0,0-5 0,-1-4 0,0-4 0,0-3 0,157-51 0,-58 8 9443,-151 48-7554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5:58:55.505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1154 1557 8192,'-15'-13'5452,"-1"1"1,-31-18 0,17 11-3789,-164-121-1664,152 105 0,2-1 0,-50-60 0,42 38 0,2-3 0,3-1 0,-58-114 0,18 14-4618,-15-33-5606,42 61 7044,16 23 5146,-11-56 5319,50 162-6059,-1-3 660,0 0 0,0 0 0,0-12 1,3 20-1887,-1 0 0,1 0 0,-1 0 0,0 0 0,1 0 0,-1 0 0,0 0 0,1 1 0,-1-1 0,0 0 0,1 0 0,-1 0 0,0 0 0,1 1 0,0-1 0,-1 0 0,0 0 0,0 1 0,1-1 0,-1 0 0,0 0 0,1 1 0,-1-1 0,0 0 0,0 1 0,100 112 0,-3 1 0,-59-67 0,-28-33 0,-10-14 0,0 0 0,0 0 0,0 0 0,0 0 0,0 1 0,0-1 0,-1 0 0,1 0 0,0 0 0,0 0 0,0 0 0,0 0 0,0 0 0,0 0 0,0 0 0,0 0 0,0 0 0,-1 0 0,1 0 0,0 0 0,0 0 0,0 0 0,0 0 0,0 0 0,0 0 0,0 0 0,-1 0 0,1 0 0,0 0 0,0 0 0,0 0 0,0 0 0,0 0 0,0 0 0,0 0 0,-1 0 0,1 0 0,0 0 0,0 0 0,0 0 0,0-1 0,0 1 0,0 0 0,0 0 0,0 0 0,0 0 0,0 0 0,0 0 0,0 0 0,0 0 0,-1 0 0,1-1 0,-26-18 0,21 14 0,-32-24-1729,-63-59-10905,61 47 9996,23 22 4843,-12-30 10489,17 29-10592,11 20-2102,0-1 0,-1 1 0,1-2 0,-1 2 0,1-1 0,0 1 0,-1-1 0,1 1 0,-1-1 0,1 1 0,-1-1 0,1 1 0,-1-1 0,1 1 0,-1 0 0,1-1 0,-1 1 0,1 0 0,-1-1 0,0 1 0,1 0 0,-1 0 0,0 0 0,-1-1 0,2 2 0,-1-1 0,0 0 0,1 0 0,-1 1 0,0-1 0,1 1 0,-1-1 0,1 1 0,-1-1 0,0 1 0,0-1 0,1 1 0,-1-1 0,1 1 0,0-1 0,-1 1 0,1 0 0,-1 1 0,-2 4 0,1 1 0,-1 0 0,-2 11 0,-7 38-1702,0 78-8002,8-77 7274,-2-1 3485,1-30 8957,-2-11-7243,0-6-2769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2:32:10.186"/>
    </inkml:context>
    <inkml:brush xml:id="br0">
      <inkml:brushProperty name="width" value="0.07938" units="cm"/>
      <inkml:brushProperty name="height" value="0.07938" units="cm"/>
      <inkml:brushProperty name="color" value="#A38600"/>
    </inkml:brush>
  </inkml:definitions>
  <inkml:trace contextRef="#ctx0" brushRef="#br0">1881 3768 8192,'-25'-31'5452,"-1"2"1,-50-45 0,26 28-3789,-266-293-1664,248 256 0,3-6 0,-82-141 0,69 88 0,3-4 0,5-5 0,-96-276 0,32 36-4618,-26-83-5606,68 150 7044,28 57 5146,-20-138 5319,83 393-6059,-3-7 660,1-1 0,0 0 0,0-28 1,4 48-1887,0 0 0,-1 0 0,0 0 0,1 0 0,0 0 0,0 0 0,-1 0 0,1 1 0,0-1 0,-1 0 0,1 2 0,-1-2 0,0 0 0,1 1 0,0-1 0,-1 1 0,1-1 0,-1 1 0,1-1 0,0 2 0,-1-2 0,1 1 0,-1-1 0,0 1 0,0 2 0,163 269 0,-5 5 0,-95-162 0,-47-82 0,-16-33 0,-1 0 0,1 0 0,0 0 0,0 0 0,0 1 0,0-1 0,0 0 0,0 0 0,0 0 0,0 0 0,0 0 0,0 1 0,-1-1 0,1 0 0,0 0 0,0 0 0,0 0 0,-1 0 0,1 0 0,0 0 0,0 0 0,-1 0 0,1 0 0,0 0 0,0 0 0,0 0 0,-1 0 0,1 0 0,0 0 0,0 0 0,-1 0 0,1 0 0,0 0 0,0-1 0,0 1 0,-1 0 0,1 0 0,0 0 0,0 0 0,0 0 0,0-1 0,0 1 0,0 0 0,0 0 0,0 0 0,0 0 0,0-1 0,0 1 0,0 0 0,0 0 0,-1 0 0,1-2 0,-43-45 0,35 37 0,-52-60-1729,-103-144-10905,99 114 9996,38 53 4843,-20-70 10489,28 69-10592,18 46-2102,0 1 0,-1 0 0,1-2 0,-1 2 0,0 0 0,1-1 0,-1 1 0,0 0 0,0 0 0,1-1 0,-1 1 0,0 0 0,0-1 0,0 2 0,0-1 0,0 0 0,1 1 0,-1-1 0,0-1 0,-1 2 0,1 0 0,0-1 0,1 1 0,-4-1 0,3 2 0,0-1 0,0 1 0,0-1 0,-1 2 0,1-1 0,0 0 0,1 0 0,-1 1 0,-1-1 0,1 0 0,0 1 0,0-1 0,1 0 0,0 0 0,-1 1 0,0 0 0,0-1 0,0 3 0,-4 12 0,1 0 0,-1 1 0,-3 27 0,-11 91-1702,-1 190-8002,13-187 7274,-2-2 3485,1-72 8957,-3-28-7243,-1-16-2769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2:38:43.166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899 1 9830,'-21'0'449,"0"1"-1,0 1 0,0 1 1,0 0-1,0 2 1,-37 14-1,46-14-274,-1 1 0,1 0 0,0 1 0,1 0 0,0 1 0,0 1 0,1 0 0,0 0 0,0 1 0,1 0-1,-14 20 1,7-6 293,2 1-1,0 1 1,2 0-1,1 1 0,1 0 1,-10 45-1,1 2 535,-35 177 1964,46-177-1982,-15 81 699,20-143-1637,0 0 0,-1 0 0,-1-1 0,0 1 1,-1-1-1,0 0 0,0-1 0,-1 0 1,-1 0-1,1 0 0,-2-1 0,1 0 0,-20 15 1,-3-3 102,-1 0 1,-1-2 0,-40 17-1,29-15-113,39-19-35,1 1 0,-1-1 0,0 1 0,1 0 0,0 0 0,0 1 0,0-1 0,0 1 0,-5 7 0,9-11 0,-1 1 0,1 0 0,-1-1 0,1 1 0,0 0 0,0-1 0,-1 1 0,1 0 0,0 0 0,0-1 0,0 1 0,0 0 0,0 0 0,0 0 0,0-1 0,0 1 0,0 0 0,0 0 0,0-1 0,0 1 0,1 0 0,-1 0 0,0-1 0,1 1 0,0 1 0,0 0 0,1-1 0,0 1 0,0-1 0,-1 1 0,1-1 0,0 0 0,0 0 0,1 0 0,-1 0 0,0 0 0,0 0 0,0-1 0,4 1 0,14 3 0,1-1 0,0-1 0,41-1 0,-39-2 0,0 2 0,0 0 0,23 5 0,-42-5 0,-1 0 0,1 0 0,0 1 0,-1-1 0,1 1 0,-1 0 0,1 0 0,-1 0 0,0 1 0,0-1 0,0 1 0,0 0 0,0-1 0,3 7 0,-1-2 0,0 0 0,-1 1 0,0 0 0,-1 0 0,0 0 0,3 11 0,1 10 0,-2 0 0,3 54 0,-8-80 0,25 241 0,-11-135 0,16 240 0,-26-323 0,2 24 0,2-1 0,28 91 0,-27-115 0,2-1 0,0 0 0,2-1 0,1 0 0,0-1 0,27 30 0,-35-45 0,12 16 0,0-2 0,40 37 0,-51-52 0,1-1 0,0 1 0,0-1 0,1-1 0,-1 0 0,1 0 0,0 0 0,0-1 0,0-1 0,0 1 0,0-2 0,15 2 0,88-2 0,-79-2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2:38:58.052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85-1 9830,'21'0'449,"0"1"-1,0 1 0,0 1 1,0 0-1,0 2 1,37 14-1,-45-14-274,-1 1 0,0 0 0,0 1 0,-1 0 0,0 1 0,0 1 0,-1 0 0,0 0 0,0 1 0,-1 0-1,14 20 1,-7-6 293,-2 1-1,0 1 1,-2 0-1,-1 1 0,-1 0 1,10 45-1,-1 2 535,35 177 1964,-46-177-1982,15 81 699,-20-143-1637,0 0 0,1 0 0,1-1 0,0 1 1,1-1-1,0 0 0,0-1 0,1 0 1,1 0-1,-1 0 0,2-1 0,-1 0 0,20 15 1,3-3 102,1 0 1,1-2 0,40 17-1,-29-15-113,-39-19-35,-1 1 0,1-1 0,0 1 0,-1 0 0,0 0 0,0 1 0,0-1 0,0 1 0,5 7 0,-9-11 0,1 1 0,-1 0 0,1-1 0,-1 1 0,0 0 0,0-1 0,1 1 0,-1 0 0,0 0 0,0-1 0,0 1 0,0 0 0,0 0 0,0 0 0,0-1 0,0 1 0,0 0 0,0 0 0,0-1 0,0 1 0,-1 0 0,1 0 0,0-1 0,-1 1 0,0 1 0,0 0 0,-1-1 0,0 1 0,0-1 0,1 1 0,-1-1 0,0 0 0,0 0 0,-1 0 0,1 0 0,0 0 0,0 0 0,0-1 0,-4 1 0,-14 3 0,-1-1 0,0-1 0,-41-1 0,39-2 0,0 2 0,0 0 0,-23 5 0,42-5 0,1 0 0,-1 0 0,0 1 0,1-1 0,-1 1 0,1 0 0,-1 0 0,1 0 0,0 1 0,0-1 0,0 1 0,0 0 0,0-1 0,-3 7 0,1-2 0,0 0 0,1 1 0,0 0 0,1 0 0,0 0 0,-3 11 0,-1 10 0,2 0 0,-3 54 0,8-80 0,-25 241 0,11-135 0,-16 240 0,26-323 0,-2 24 0,-2-1 0,-28 91 0,27-115 0,-2-1 0,0 0 0,-2-1 0,-1 0 0,0-1 0,-27 30 0,35-45 0,-12 16 0,0-2 0,-40 37 0,51-52 0,-1-1 0,0 1 0,0-1 0,-1-1 0,1 0 0,-1 0 0,0 0 0,0-1 0,0-1 0,0 1 0,0-2 0,-15 2 0,-88-2 0,79-2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08:56:33.215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1154 1557 8192,'-15'-13'5452,"-1"1"1,-31-18 0,17 11-3789,-164-121-1664,152 105 0,2-1 0,-50-60 0,42 38 0,2-3 0,3-1 0,-58-114 0,18 14-4618,-15-33-5606,42 61 7044,16 23 5146,-11-56 5319,50 162-6059,-1-3 660,0 0 0,0 0 0,0-12 1,3 20-1887,-1 0 0,1 0 0,-1 0 0,0 0 0,1 0 0,-1 0 0,0 0 0,1 1 0,-1-1 0,0 0 0,1 0 0,-1 0 0,0 0 0,1 1 0,0-1 0,-1 0 0,0 0 0,0 1 0,1-1 0,-1 0 0,0 0 0,1 1 0,-1-1 0,0 0 0,0 1 0,100 112 0,-3 1 0,-59-67 0,-28-33 0,-10-14 0,0 0 0,0 0 0,0 0 0,0 0 0,0 1 0,0-1 0,-1 0 0,1 0 0,0 0 0,0 0 0,0 0 0,0 0 0,0 0 0,0 0 0,0 0 0,0 0 0,0 0 0,-1 0 0,1 0 0,0 0 0,0 0 0,0 0 0,0 0 0,0 0 0,0 0 0,0 0 0,-1 0 0,1 0 0,0 0 0,0 0 0,0 0 0,0 0 0,0 0 0,0 0 0,0 0 0,-1 0 0,1 0 0,0 0 0,0 0 0,0 0 0,0-1 0,0 1 0,0 0 0,0 0 0,0 0 0,0 0 0,0 0 0,0 0 0,0 0 0,0 0 0,-1 0 0,1-1 0,-26-18 0,21 14 0,-32-24-1729,-63-59-10905,61 47 9996,23 22 4843,-12-30 10489,17 29-10592,11 20-2102,0-1 0,-1 1 0,1-2 0,-1 2 0,1-1 0,0 1 0,-1-1 0,1 1 0,-1-1 0,1 1 0,-1-1 0,1 1 0,-1-1 0,1 1 0,-1 0 0,1-1 0,-1 1 0,1 0 0,-1-1 0,0 1 0,1 0 0,-1 0 0,0 0 0,-1-1 0,2 2 0,-1-1 0,0 0 0,1 0 0,-1 1 0,0-1 0,1 1 0,-1-1 0,1 1 0,-1-1 0,0 1 0,0-1 0,1 1 0,-1-1 0,1 1 0,0-1 0,-1 1 0,1 0 0,-1 1 0,-2 4 0,1 1 0,-1 0 0,-2 11 0,-7 38-1702,0 78-8002,8-77 7274,-2-1 3485,1-30 8957,-2-11-7243,0-6-2769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4:23:07.511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450 0 9830,'-11'0'449,"0"1"-1,1 0 0,-1 0 1,1 1-1,0 1 1,-19 6-1,22-7-274,1 1 0,0 1 0,0-1 0,0 1 0,1 0 0,0 0 0,-1 0 0,1 1 0,1 0 0,-1 0-1,-6 10 1,3-3 293,0 1-1,2-1 1,0 2-1,0-1 0,1 1 1,-5 22-1,0 0 535,-16 90 1964,21-89-1982,-6 41 699,10-72-1637,-1 0 0,0-1 0,0 1 0,-1 0 1,0-1-1,0 1 0,0-1 0,-1 0 1,1 0-1,-1 0 0,0 0 0,-1-1 0,-8 8 1,-3-1 102,0-1 1,0-1 0,-21 9-1,15-7-113,20-10-35,-1 0 0,1 1 0,0-1 0,0 1 0,-1-1 0,1 1 0,0 0 0,1 0 0,-4 3 0,5-5 0,0 0 0,-1 1 0,1-1 0,0 0 0,0 1 0,0-1 0,0 1 0,0-1 0,0 0 0,-1 1 0,1-1 0,0 0 0,0 1 0,0-1 0,0 1 0,0-1 0,0 0 0,1 1 0,-1-1 0,0 1 0,0-1 0,0 0 0,0 1 0,0-1 0,1 1 0,0 0 0,-1 0 0,1-1 0,0 1 0,0 0 0,0-1 0,0 1 0,0 0 0,0-1 0,0 1 0,0-1 0,1 0 0,-1 1 0,1-1 0,9 2 0,-1 0 0,0-1 0,21-1 0,-19 0 0,-1 0 0,1 1 0,11 1 0,-21-1 0,0 0 0,0-1 0,-1 1 0,1 0 0,0 0 0,0 0 0,-1 0 0,1 0 0,-1 0 0,1 0 0,-1 0 0,1 1 0,-1-1 0,3 3 0,-2 0 0,0 0 0,0-1 0,0 1 0,0 0 0,0 0 0,1 6 0,0 4 0,-1 1 0,2 27 0,-4-41 0,13 121 0,-6-68 0,8 121 0,-13-162 0,1 12 0,1-1 0,14 46 0,-13-57 0,0-1 0,1 0 0,0-1 0,1 1 0,0-1 0,14 15 0,-18-22 0,5 7 0,1 0 0,21 17 0,-27-25 0,1 0 0,0 0 0,0-1 0,0 1 0,1-1 0,-1 0 0,0-1 0,1 1 0,-1-1 0,1 0 0,0 0 0,7 1 0,44-2 0,-40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4:23:35.343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450 0 9830,'-11'0'449,"0"1"-1,1 0 0,-1 0 1,1 1-1,0 1 1,-19 6-1,22-7-274,1 1 0,0 1 0,0-1 0,0 1 0,1 0 0,0 0 0,-1 0 0,1 1 0,1 0 0,-1 0-1,-6 10 1,3-3 293,0 1-1,2-1 1,0 2-1,0-1 0,1 1 1,-5 22-1,0 0 535,-16 90 1964,21-89-1982,-6 41 699,10-72-1637,-1 0 0,0-1 0,0 1 0,-1 0 1,0-1-1,0 1 0,0-1 0,-1 0 1,1 0-1,-1 0 0,0 0 0,-1-1 0,-8 8 1,-3-1 102,0-1 1,0-1 0,-21 9-1,15-7-113,20-10-35,-1 0 0,1 1 0,0-1 0,0 1 0,-1-1 0,1 1 0,0 0 0,1 0 0,-4 3 0,5-5 0,0 0 0,-1 1 0,1-1 0,0 0 0,0 1 0,0-1 0,0 1 0,0-1 0,0 0 0,-1 1 0,1-1 0,0 0 0,0 1 0,0-1 0,0 1 0,0-1 0,0 0 0,1 1 0,-1-1 0,0 1 0,0-1 0,0 0 0,0 1 0,0-1 0,1 1 0,0 0 0,-1 0 0,1-1 0,0 1 0,0 0 0,0-1 0,0 1 0,0 0 0,0-1 0,0 1 0,0-1 0,1 0 0,-1 1 0,1-1 0,9 2 0,-1 0 0,0-1 0,21-1 0,-19 0 0,-1 0 0,1 1 0,11 1 0,-21-1 0,0 0 0,0-1 0,-1 1 0,1 0 0,0 0 0,0 0 0,-1 0 0,1 0 0,-1 0 0,1 0 0,-1 0 0,1 1 0,-1-1 0,3 3 0,-2 0 0,0 0 0,0-1 0,0 1 0,0 0 0,0 0 0,1 6 0,0 4 0,-1 1 0,2 27 0,-4-41 0,13 121 0,-6-68 0,8 121 0,-13-162 0,1 12 0,1-1 0,14 46 0,-13-57 0,0-1 0,1 0 0,0-1 0,1 1 0,0-1 0,14 15 0,-18-22 0,5 7 0,1 0 0,21 17 0,-27-25 0,1 0 0,0 0 0,0-1 0,0 1 0,1-1 0,-1 0 0,0-1 0,1 1 0,-1-1 0,1 0 0,0 0 0,7 1 0,44-2 0,-40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4:12:46.094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1912 801 8192,'-2'-43'16362,"0"31"-14702,-4-31-1660,-2 1 0,-2 0 0,-23-61 0,25 84 0,-1-1 0,0 1 0,-2 0 0,0 1 0,-1 1 0,-1-1 0,0 2 0,-1 0 0,-20-17 0,-9-2-938,-75-46 1,67 52-1442,-1 1 1,-111-39-1,101 47 0,0 4 0,-101-15 0,-34 18 505,139 13 3222,0 2 0,0 3 0,0 3 0,-94 24 0,124-24-620,0 2-1,1 0 0,0 2 1,2 1-1,-1 1 1,1 1-1,1 1 1,1 2-1,0 0 1,1 1-1,-24 29 1,35-35-476,1 1 0,0 0 1,1 1-1,1-1 0,0 2 1,1-1-1,1 1 1,-8 31-1,9-24-138,1 0 1,1 1 0,2-1-1,0 1 1,5 45-1,0-36-1126,3 0 0,0-1 0,20 56 0,-13-56-1972,0 1 0,2-1 0,24 33 0,-20-36 2559,2-1 1,0-1-1,2-2 1,0 0-1,3-2 0,38 28 1,-36-31 472,1-1 0,2-2 0,0 0 0,0-2 0,1-2 0,0-1 0,1-2 0,1-1 0,0-2 0,50 5 0,-21-10-48,2-2 0,-1-3 0,0-4 0,-1-2 0,1-2 0,109-35 0,-41 5 9443,-104 33-7554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4:16:37.687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 1 8192,'11'9'5452,"-1"-1"1,22 13 0,-12-9-3789,111 83-1664,-103-72 0,-1 1 0,34 41 0,-29-26 0,-1 2 0,-2 0 0,39 78 0,-13-10-4618,12 23-5606,-29-42 7044,-12-16 5146,9 39 5319,-35-110-6059,2 2 660,-1 1 0,0-1 0,1 9 1,-3-14-1887,1 0 0,0 0 0,0 0 0,-1 0 0,1 0 0,-1 0 0,1 0 0,0-1 0,0 1 0,0 0 0,-1 0 0,1 0 0,0 0 0,0 0 0,-1 0 0,1-1 0,0 1 0,0 0 0,0 0 0,-1 0 0,1 0 0,0-1 0,0 1 0,0 0 0,0-1 0,-67-75 0,1 0 0,40 44 0,19 22 0,7 10 0,1 0 0,-1 0 0,0 0 0,0 0 0,0 0 0,0 0 0,0 0 0,0 0 0,0 0 0,0 0 0,0 0 0,0 0 0,0 0 0,0 0 0,0 0 0,0 0 0,0 0 0,1 0 0,-1 0 0,0 0 0,0 0 0,0 0 0,0 0 0,0 0 0,0 0 0,0 0 0,1 0 0,-1 0 0,0 0 0,0 0 0,0 0 0,0 0 0,0 0 0,0 0 0,0 0 0,0 0 0,0 0 0,0 0 0,0 0 0,0 0 0,0 0 0,1 0 0,-1 0 0,0 0 0,0 0 0,0 0 0,0 1 0,0-1 0,0 0 0,0 0 0,0 0 0,0 0 0,18 13 0,-15-10 0,22 17-1729,42 39-10905,-40-31 9996,-17-15 4843,9 19 10489,-11-18-10592,-8-14-2102,0 1 0,0-1 0,0 1 0,0-1 0,1 0 0,-1 1 0,0-1 0,1 0 0,-1 1 0,0-1 0,1 1 0,-1-1 0,0 0 0,1 0 0,-1 1 0,0-1 0,1 0 0,-1 0 0,0 1 0,1-1 0,0 0 0,-1 0 0,0 0 0,2 0 0,-2 0 0,1 0 0,-1 0 0,0 0 0,1-1 0,-1 1 0,1 0 0,-1-1 0,1 1 0,-1 0 0,1-1 0,-1 1 0,0-1 0,1 1 0,-1 0 0,0-1 0,0 1 0,1-1 0,-1 0 0,2-3 0,0-1 0,0 1 0,1-9 0,5-24-1702,0-54-8002,-5 53 7274,1 0 3485,-1 21 8957,2 7-7243,0 4-2769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4:23:07.511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450 0 9830,'-11'0'449,"0"1"-1,1 0 0,-1 0 1,1 1-1,0 1 1,-19 6-1,22-7-274,1 1 0,0 1 0,0-1 0,0 1 0,1 0 0,0 0 0,-1 0 0,1 1 0,1 0 0,-1 0-1,-6 10 1,3-3 293,0 1-1,2-1 1,0 2-1,0-1 0,1 1 1,-5 22-1,0 0 535,-16 90 1964,21-89-1982,-6 41 699,10-72-1637,-1 0 0,0-1 0,0 1 0,-1 0 1,0-1-1,0 1 0,0-1 0,-1 0 1,1 0-1,-1 0 0,0 0 0,-1-1 0,-8 8 1,-3-1 102,0-1 1,0-1 0,-21 9-1,15-7-113,20-10-35,-1 0 0,1 1 0,0-1 0,0 1 0,-1-1 0,1 1 0,0 0 0,1 0 0,-4 3 0,5-5 0,0 0 0,-1 1 0,1-1 0,0 0 0,0 1 0,0-1 0,0 1 0,0-1 0,0 0 0,-1 1 0,1-1 0,0 0 0,0 1 0,0-1 0,0 1 0,0-1 0,0 0 0,1 1 0,-1-1 0,0 1 0,0-1 0,0 0 0,0 1 0,0-1 0,1 1 0,0 0 0,-1 0 0,1-1 0,0 1 0,0 0 0,0-1 0,0 1 0,0 0 0,0-1 0,0 1 0,0-1 0,1 0 0,-1 1 0,1-1 0,9 2 0,-1 0 0,0-1 0,21-1 0,-19 0 0,-1 0 0,1 1 0,11 1 0,-21-1 0,0 0 0,0-1 0,-1 1 0,1 0 0,0 0 0,0 0 0,-1 0 0,1 0 0,-1 0 0,1 0 0,-1 0 0,1 1 0,-1-1 0,3 3 0,-2 0 0,0 0 0,0-1 0,0 1 0,0 0 0,0 0 0,1 6 0,0 4 0,-1 1 0,2 27 0,-4-41 0,13 121 0,-6-68 0,8 121 0,-13-162 0,1 12 0,1-1 0,14 46 0,-13-57 0,0-1 0,1 0 0,0-1 0,1 1 0,0-1 0,14 15 0,-18-22 0,5 7 0,1 0 0,21 17 0,-27-25 0,1 0 0,0 0 0,0-1 0,0 1 0,1-1 0,-1 0 0,0-1 0,1 1 0,-1-1 0,1 0 0,0 0 0,7 1 0,44-2 0,-40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4:23:35.343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450 0 9830,'-11'0'449,"0"1"-1,1 0 0,-1 0 1,1 1-1,0 1 1,-19 6-1,22-7-274,1 1 0,0 1 0,0-1 0,0 1 0,1 0 0,0 0 0,-1 0 0,1 1 0,1 0 0,-1 0-1,-6 10 1,3-3 293,0 1-1,2-1 1,0 2-1,0-1 0,1 1 1,-5 22-1,0 0 535,-16 90 1964,21-89-1982,-6 41 699,10-72-1637,-1 0 0,0-1 0,0 1 0,-1 0 1,0-1-1,0 1 0,0-1 0,-1 0 1,1 0-1,-1 0 0,0 0 0,-1-1 0,-8 8 1,-3-1 102,0-1 1,0-1 0,-21 9-1,15-7-113,20-10-35,-1 0 0,1 1 0,0-1 0,0 1 0,-1-1 0,1 1 0,0 0 0,1 0 0,-4 3 0,5-5 0,0 0 0,-1 1 0,1-1 0,0 0 0,0 1 0,0-1 0,0 1 0,0-1 0,0 0 0,-1 1 0,1-1 0,0 0 0,0 1 0,0-1 0,0 1 0,0-1 0,0 0 0,1 1 0,-1-1 0,0 1 0,0-1 0,0 0 0,0 1 0,0-1 0,1 1 0,0 0 0,-1 0 0,1-1 0,0 1 0,0 0 0,0-1 0,0 1 0,0 0 0,0-1 0,0 1 0,0-1 0,1 0 0,-1 1 0,1-1 0,9 2 0,-1 0 0,0-1 0,21-1 0,-19 0 0,-1 0 0,1 1 0,11 1 0,-21-1 0,0 0 0,0-1 0,-1 1 0,1 0 0,0 0 0,0 0 0,-1 0 0,1 0 0,-1 0 0,1 0 0,-1 0 0,1 1 0,-1-1 0,3 3 0,-2 0 0,0 0 0,0-1 0,0 1 0,0 0 0,0 0 0,1 6 0,0 4 0,-1 1 0,2 27 0,-4-41 0,13 121 0,-6-68 0,8 121 0,-13-162 0,1 12 0,1-1 0,14 46 0,-13-57 0,0-1 0,1 0 0,0-1 0,1 1 0,0-1 0,14 15 0,-18-22 0,5 7 0,1 0 0,21 17 0,-27-25 0,1 0 0,0 0 0,0-1 0,0 1 0,1-1 0,-1 0 0,0-1 0,1 1 0,-1-1 0,1 0 0,0 0 0,7 1 0,44-2 0,-40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4:46.480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 1 8192,'21'18'5452,"-1"-3"1,42 26 0,-23-18-3789,217 163-1664,-202-142 0,-1 3 0,66 80 0,-57-51 0,-1 4 0,-5 0 0,77 152 0,-26-20-4618,23 46-5606,-55-83 7044,-25-31 5146,18 77 5319,-68-216-6059,4 5 660,-2 2 0,0-2 0,2 17 1,-6-27-1887,2 0 0,0 0 0,0 0 0,-2 0 0,2 0 0,-2 0 0,2 0 0,0-2 0,0 2 0,0 0 0,-2 0 0,2 0 0,0 0 0,0 0 0,-2 0 0,2-2 0,0 2 0,0 0 0,0 0 0,-2 0 0,2 0 0,0-2 0,0 2 0,0 0 0,0-2 0,-130-146 0,1 0 0,79 85 0,36 44 0,14 19 0,2 0 0,-2 0 0,0 0 0,0 0 0,0 0 0,0 0 0,0 0 0,0 0 0,0 0 0,0 0 0,0 0 0,0 0 0,0 0 0,0 0 0,0 0 0,0 0 0,0 0 0,2 0 0,-2 0 0,0 0 0,0 0 0,0 0 0,0 0 0,0 0 0,0 0 0,0 0 0,2 0 0,-2 0 0,0 0 0,0 0 0,0 0 0,0 0 0,0 0 0,0 0 0,0 0 0,0 0 0,0 0 0,0 0 0,0 0 0,0 0 0,0 0 0,2 0 0,-2 0 0,0 0 0,0 0 0,0 0 0,0 2 0,0-2 0,0 0 0,0 0 0,0 0 0,0 0 0,35 25 0,-29-19 0,42 33-1729,83 76-10905,-78-60 9996,-34-30 4843,18 37 10489,-21-34-10592,-16-28-2102,0 2 0,0-2 0,0 2 0,0-2 0,2 0 0,-2 1 0,0-1 0,2 0 0,-2 2 0,0-2 0,2 2 0,-2-2 0,0 0 0,1 0 0,-1 2 0,0-2 0,2 0 0,-2 0 0,0 2 0,2-2 0,0 0 0,-2 0 0,0 0 0,4 0 0,-4 0 0,2 0 0,-2 0 0,0 0 0,2-2 0,-2 2 0,2 0 0,-2-2 0,2 2 0,-2 0 0,2-2 0,-2 2 0,0-2 0,2 2 0,-2 0 0,0-1 0,0 1 0,2-2 0,-2 0 0,4-6 0,0-2 0,0 2 0,1-17 0,11-47-1702,0-106-8002,-11 104 7274,3 0 3485,-2 41 8957,4 14-7243,0 7-2769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5:11.877"/>
    </inkml:context>
    <inkml:brush xml:id="br0">
      <inkml:brushProperty name="width" value="0.07938" units="cm"/>
      <inkml:brushProperty name="height" value="0.07938" units="cm"/>
      <inkml:brushProperty name="color" value="#A38600"/>
    </inkml:brush>
  </inkml:definitions>
  <inkml:trace contextRef="#ctx0" brushRef="#br0">2 2 8192,'9'11'5452,"1"0"1,18 17 0,-9-11-3789,98 108-1664,-92-94 0,-1 2 0,31 52 0,-27-32 0,0 1 0,-2 2 0,36 102 0,-13-13-4618,11 31-5606,-26-56 7044,-10-21 5146,7 51 5319,-31-145-6059,2 2 660,-1 0 0,0 1 0,0 10 1,-1-18-1887,-1 0 0,1 0 0,0 0 0,0 0 0,-1 0 0,1 0 0,0 0 0,0-1 0,-1 1 0,1 0 0,0-1 0,0 1 0,0 0 0,0 0 0,-1 0 0,1 0 0,0 0 0,0-1 0,-1 1 0,1 0 0,0 0 0,0-1 0,0 1 0,0 0 0,0-1 0,-61-100 0,3-2 0,34 61 0,18 29 0,6 13 0,1 0 0,-1 0 0,0 0 0,0 0 0,0 0 0,0 0 0,0 0 0,0 0 0,0 0 0,0 0 0,0 0 0,0 0 0,0 0 0,0 0 0,0 0 0,0 0 0,0 0 0,1 0 0,-1 0 0,0 0 0,0 0 0,0 0 0,0 0 0,0 0 0,0 0 0,0 0 0,0 0 0,0 0 0,0 0 0,0 0 0,1 0 0,-1 0 0,0 0 0,0 0 0,0 0 0,0 0 0,0 0 0,0 0 0,0 0 0,0 0 0,0 0 0,0 0 0,0 0 0,0 0 0,0 0 0,0 0 0,0 1 0,0-1 0,0 0 0,0 0 0,0 0 0,0 0 0,16 18 0,-13-14 0,20 22-1729,37 53-10905,-36-42 9996,-15-20 4843,8 27 10489,-10-26-10592,-7-18-2102,0 1 0,0-1 0,0 1 0,1-1 0,-1 1 0,0 0 0,1-1 0,-1 0 0,0 1 0,0-1 0,1 1 0,-1-1 0,0 1 0,1-1 0,-1 0 0,1 1 0,-1-1 0,0 0 0,0 1 0,1-1 0,-1 0 0,1 0 0,-1 0 0,1 1 0,0-2 0,-1 1 0,0 0 0,1 0 0,-1-1 0,1 1 0,-1-1 0,0 1 0,1-1 0,-1 1 0,1-1 0,-1 1 0,0-1 0,0 1 0,0 0 0,1-1 0,-1 0 0,1 1 0,-1-2 0,2-4 0,-1 0 0,1 0 0,1-10 0,4-34-1702,1-71-8002,-6 70 7274,1 1 3485,0 26 8957,2 11-7243,-1 5-2769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08:44.008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1912 801 8192,'-2'-43'16362,"0"31"-14702,-4-31-1660,-2 1 0,-2 0 0,-23-61 0,25 84 0,-1-1 0,0 1 0,-2 0 0,0 1 0,-1 1 0,-1-1 0,0 2 0,-1 0 0,-20-17 0,-9-2-938,-75-46 1,67 52-1442,-1 1 1,-111-39-1,101 47 0,0 4 0,-101-15 0,-34 18 505,139 13 3222,0 2 0,0 3 0,0 3 0,-94 24 0,124-24-620,0 2-1,1 0 0,0 2 1,2 1-1,-1 1 1,1 1-1,1 1 1,1 2-1,0 0 1,1 1-1,-24 29 1,35-35-476,1 1 0,0 0 1,1 1-1,1-1 0,0 2 1,1-1-1,1 1 1,-8 31-1,9-24-138,1 0 1,1 1 0,2-1-1,0 1 1,5 45-1,0-36-1126,3 0 0,0-1 0,20 56 0,-13-56-1972,0 1 0,2-1 0,24 33 0,-20-36 2559,2-1 1,0-1-1,2-2 1,0 0-1,3-2 0,38 28 1,-36-31 472,1-1 0,2-2 0,0 0 0,0-2 0,1-2 0,0-1 0,1-2 0,1-1 0,0-2 0,50 5 0,-21-10-48,2-2 0,-1-3 0,0-4 0,-1-2 0,1-2 0,109-35 0,-41 5 9443,-104 33-7554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0:16:21.117"/>
    </inkml:context>
    <inkml:brush xml:id="br0">
      <inkml:brushProperty name="width" value="0.05" units="cm"/>
      <inkml:brushProperty name="height" value="0.05" units="cm"/>
      <inkml:brushProperty name="color" value="#A38600"/>
    </inkml:brush>
  </inkml:definitions>
  <inkml:trace contextRef="#ctx0" brushRef="#br0">890 43 9830,'-610'-25'10735,"554"18"-10387,22 2-81,0 2-1,-58 1 0,89 2-229,1 0 0,-1 0 0,1 0-1,-1 0 1,1 1 0,-1-1 0,1 1 0,-1 0 0,1 0 0,0 0 0,-1 0 0,1 0 0,0 0 0,0 0 0,0 1-1,0-1 1,0 1 0,0 0 0,0 0 0,0-1 0,1 1 0,-1 0 0,1 0 0,-1 0 0,1 1 0,0-1-1,-1 3 1,0 3 256,1 0 1,0 0-1,0 0 0,0 0 0,1 1 0,2 14 0,-1-6 172,17 537 3826,-18 282-4592,-2-360 539,2 1100-238,0-1557 0,-1-6 0,1 1 0,1-1 0,4 24 0,-5-36 0,1 1 0,-1-1 0,1 0 0,-1 0 0,1 1 0,0-1 0,-1 0 0,1 0 0,0 0 0,0 0 0,0 0 0,0 0 0,0 0 0,0 0 0,0-1 0,0 1 0,0 0 0,0-1 0,1 1 0,-1-1 0,0 1 0,0-1 0,1 1 0,-1-1 0,0 0 0,1 1 0,1-1 0,40-3 0,-33 1 0,433-27 0,-354 28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4:48:49.926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1154 1557 8192,'-15'-13'5452,"-1"1"1,-31-18 0,17 11-3789,-164-121-1664,152 105 0,2-1 0,-50-60 0,42 38 0,2-3 0,3-1 0,-58-114 0,18 14-4618,-15-33-5606,42 61 7044,16 23 5146,-11-56 5319,50 162-6059,-1-3 660,0 0 0,0 0 0,0-12 1,3 20-1887,-1 0 0,1 0 0,-1 0 0,0 0 0,1 0 0,-1 0 0,0 0 0,1 1 0,-1-1 0,0 0 0,1 0 0,-1 0 0,0 0 0,1 1 0,0-1 0,-1 0 0,0 0 0,0 1 0,1-1 0,-1 0 0,0 0 0,1 1 0,-1-1 0,0 0 0,0 1 0,100 112 0,-3 1 0,-59-67 0,-28-33 0,-10-14 0,0 0 0,0 0 0,0 0 0,0 0 0,0 1 0,0-1 0,-1 0 0,1 0 0,0 0 0,0 0 0,0 0 0,0 0 0,0 0 0,0 0 0,0 0 0,0 0 0,0 0 0,-1 0 0,1 0 0,0 0 0,0 0 0,0 0 0,0 0 0,0 0 0,0 0 0,0 0 0,-1 0 0,1 0 0,0 0 0,0 0 0,0 0 0,0 0 0,0 0 0,0 0 0,0 0 0,-1 0 0,1 0 0,0 0 0,0 0 0,0 0 0,0-1 0,0 1 0,0 0 0,0 0 0,0 0 0,0 0 0,0 0 0,0 0 0,0 0 0,0 0 0,-1 0 0,1-1 0,-26-18 0,21 14 0,-32-24-1729,-63-59-10905,61 47 9996,23 22 4843,-12-30 10489,17 29-10592,11 20-2102,0-1 0,-1 1 0,1-2 0,-1 2 0,1-1 0,0 1 0,-1-1 0,1 1 0,-1-1 0,1 1 0,-1-1 0,1 1 0,-1-1 0,1 1 0,-1 0 0,1-1 0,-1 1 0,1 0 0,-1-1 0,0 1 0,1 0 0,-1 0 0,0 0 0,-1-1 0,2 2 0,-1-1 0,0 0 0,1 0 0,-1 1 0,0-1 0,1 1 0,-1-1 0,1 1 0,-1-1 0,0 1 0,0-1 0,1 1 0,-1-1 0,1 1 0,0-1 0,-1 1 0,1 0 0,-1 1 0,-2 4 0,1 1 0,-1 0 0,-2 11 0,-7 38-1702,0 78-8002,8-77 7274,-2-1 3485,1-30 8957,-2-11-7243,0-6-2769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4:55:38.312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1912 801 8192,'-2'-43'16362,"0"31"-14702,-4-31-1660,-2 1 0,-2 0 0,-23-61 0,25 84 0,-1-1 0,0 1 0,-2 0 0,0 1 0,-1 1 0,-1-1 0,0 2 0,-1 0 0,-20-17 0,-9-2-938,-75-46 1,67 52-1442,-1 1 1,-111-39-1,101 47 0,0 4 0,-101-15 0,-34 18 505,139 13 3222,0 2 0,0 3 0,0 3 0,-94 24 0,124-24-620,0 2-1,1 0 0,0 2 1,2 1-1,-1 1 1,1 1-1,1 1 1,1 2-1,0 0 1,1 1-1,-24 29 1,35-35-476,1 1 0,0 0 1,1 1-1,1-1 0,0 2 1,1-1-1,1 1 1,-8 31-1,9-24-138,1 0 1,1 1 0,2-1-1,0 1 1,5 45-1,0-36-1126,3 0 0,0-1 0,20 56 0,-13-56-1972,0 1 0,2-1 0,24 33 0,-20-36 2559,2-1 1,0-1-1,2-2 1,0 0-1,3-2 0,38 28 1,-36-31 472,1-1 0,2-2 0,0 0 0,0-2 0,1-2 0,0-1 0,1-2 0,1-1 0,0-2 0,50 5 0,-21-10-48,2-2 0,-1-3 0,0-4 0,-1-2 0,1-2 0,109-35 0,-41 5 9443,-104 33-7554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4:55:38.312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1912 801 8192,'-2'-43'16362,"0"31"-14702,-4-31-1660,-2 1 0,-2 0 0,-23-61 0,25 84 0,-1-1 0,0 1 0,-2 0 0,0 1 0,-1 1 0,-1-1 0,0 2 0,-1 0 0,-20-17 0,-9-2-938,-75-46 1,67 52-1442,-1 1 1,-111-39-1,101 47 0,0 4 0,-101-15 0,-34 18 505,139 13 3222,0 2 0,0 3 0,0 3 0,-94 24 0,124-24-620,0 2-1,1 0 0,0 2 1,2 1-1,-1 1 1,1 1-1,1 1 1,1 2-1,0 0 1,1 1-1,-24 29 1,35-35-476,1 1 0,0 0 1,1 1-1,1-1 0,0 2 1,1-1-1,1 1 1,-8 31-1,9-24-138,1 0 1,1 1 0,2-1-1,0 1 1,5 45-1,0-36-1126,3 0 0,0-1 0,20 56 0,-13-56-1972,0 1 0,2-1 0,24 33 0,-20-36 2559,2-1 1,0-1-1,2-2 1,0 0-1,3-2 0,38 28 1,-36-31 472,1-1 0,2-2 0,0 0 0,0-2 0,1-2 0,0-1 0,1-2 0,1-1 0,0-2 0,50 5 0,-21-10-48,2-2 0,-1-3 0,0-4 0,-1-2 0,1-2 0,109-35 0,-41 5 9443,-104 33-7554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2:39:40.820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899 1 9830,'-21'0'449,"0"2"-1,0 1 0,0 1 1,0 1-1,0 3 1,-37 21-1,46-21-274,-1 1 0,1 0 0,0 2 0,1 0 0,0 1 0,0 2 0,1 0 0,0-1 0,0 3 0,1-1-1,-14 31 1,7-9 293,2 2-1,0 1 1,2 0-1,1 2 0,1-1 1,-10 70-1,1 3 535,-35 273 1964,46-273-1982,-15 124 699,20-219-1637,0-1 0,-1 1 0,-1-2 0,0 1 1,-1-1-1,0 0 0,0-2 0,-1 1 1,-1-1-1,1 1 0,-2-2 0,1-1 0,-20 24 1,-3-4 102,-1-1 1,-1-3 0,-40 27-1,29-24-113,39-29-35,1 2 0,-1-2 0,0 1 0,1 1 0,0 0 0,0 1 0,0-1 0,0 1 0,-5 11 0,9-17 0,-1 1 0,1 1 0,-1-2 0,1 1 0,0 1 0,0-2 0,-1 1 0,1 1 0,0-1 0,0-1 0,0 2 0,0-1 0,0 1 0,0 0 0,0-2 0,0 1 0,0 1 0,0-1 0,0-1 0,0 2 0,1-1 0,-1 1 0,0-2 0,1 1 0,0 2 0,0 0 0,1-1 0,0 1 0,0-1 0,-1 1 0,1-2 0,0 1 0,0-1 0,1 1 0,-1-1 0,0 1 0,0 0 0,0-2 0,4 1 0,14 5 0,1-1 0,0-2 0,41-2 0,-39-2 0,0 2 0,0 1 0,23 7 0,-42-7 0,-1-1 0,1 1 0,0 1 0,-1-2 0,1 3 0,-1-1 0,1 0 0,-1 0 0,0 1 0,0-1 0,0 2 0,0 0 0,0-2 0,3 11 0,-1-4 0,0 1 0,-1 2 0,0-1 0,-1 0 0,0 1 0,3 16 0,1 15 0,-2 1 0,3 83 0,-8-123 0,25 370 0,-11-207 0,16 370 0,-26-498 0,2 37 0,2-2 0,28 141 0,-27-178 0,2-1 0,0 0 0,2-1 0,1-1 0,0-1 0,27 46 0,-35-69 0,12 24 0,0-2 0,40 56 0,-51-80 0,1-1 0,0 1 0,0-1 0,1-2 0,-1 0 0,1 0 0,0 1 0,0-3 0,0-1 0,0 2 0,0-4 0,15 4 0,88-3 0,-79-4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2:39:40.821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85-1 9830,'21'0'449,"0"2"-1,0 1 0,0 1 1,0 1-1,0 2 1,37 22-1,-45-21-274,-1 1 0,0 0 0,0 2 0,-1 0 0,0 1 0,0 2 0,-1 0 0,0-1 0,0 3 0,-1-1-1,14 31 1,-7-10 293,-2 3-1,0 0 1,-2 1-1,-1 1 0,-1 1 1,10 68-1,-1 3 535,35 270 1964,-46-269-1982,15 122 699,-20-217-1637,0-1 0,1 1 0,1-3 0,0 3 1,1-3-1,0 1 0,0-1 0,1-1 1,1 0-1,-1 0 0,2-1 0,-1 0 0,20 23 1,3-5 102,1 0 1,1-3 0,40 26-1,-29-23-113,-39-29-35,-1 2 0,1-2 0,0 1 0,-1 1 0,0-1 0,0 3 0,0-3 0,0 2 0,5 11 0,-9-17 0,1 2 0,-1-1 0,1-1 0,-1 2 0,0-1 0,0-1 0,1 2 0,-1-1 0,0 1 0,0-2 0,0 1 0,0 1 0,0-1 0,0 1 0,0-2 0,0 1 0,0 1 0,0-1 0,0-1 0,0 2 0,-1 0 0,1-1 0,0-1 0,-1 2 0,0 1 0,0 0 0,-1-2 0,0 2 0,0-1 0,1 1 0,-1-2 0,0 1 0,0-1 0,-1 1 0,1 0 0,0-1 0,0 1 0,0-2 0,-4 1 0,-14 5 0,-1-1 0,0-2 0,-41-2 0,39-2 0,0 2 0,0 1 0,-23 7 0,42-7 0,1-1 0,-1 1 0,0 1 0,1-2 0,-1 2 0,1 0 0,-1 0 0,1 0 0,0 2 0,0-2 0,0 2 0,0-1 0,0-1 0,-3 11 0,1-3 0,0 0 0,1 1 0,0 0 0,1 0 0,0 0 0,-3 17 0,-1 16 0,2-1 0,-3 83 0,8-122 0,-25 368 0,11-207 0,-16 368 0,26-495 0,-2 38 0,-2-2 0,-28 139 0,27-176 0,-2-1 0,0-1 0,-2-1 0,-1 0 0,0-1 0,-27 46 0,35-70 0,-12 25 0,0-2 0,-40 55 0,51-79 0,-1-1 0,0 1 0,0-1 0,-1-2 0,1 0 0,-1 0 0,0 0 0,0-1 0,0-2 0,0 2 0,0-4 0,-15 4 0,-88-4 0,79-2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4:18:33.089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1154 1557 8192,'-15'-13'5452,"-1"1"1,-31-18 0,17 11-3789,-164-121-1664,152 105 0,2-1 0,-50-60 0,42 38 0,2-3 0,3-1 0,-58-114 0,18 14-4618,-15-33-5606,42 61 7044,16 23 5146,-11-56 5319,50 162-6059,-1-3 660,0 0 0,0 0 0,0-12 1,3 20-1887,-1 0 0,1 0 0,-1 0 0,0 0 0,1 0 0,-1 0 0,0 0 0,1 1 0,-1-1 0,0 0 0,1 0 0,-1 0 0,0 0 0,1 1 0,0-1 0,-1 0 0,0 0 0,0 1 0,1-1 0,-1 0 0,0 0 0,1 1 0,-1-1 0,0 0 0,0 1 0,100 112 0,-3 1 0,-59-67 0,-28-33 0,-10-14 0,0 0 0,0 0 0,0 0 0,0 0 0,0 1 0,0-1 0,-1 0 0,1 0 0,0 0 0,0 0 0,0 0 0,0 0 0,0 0 0,0 0 0,0 0 0,0 0 0,0 0 0,-1 0 0,1 0 0,0 0 0,0 0 0,0 0 0,0 0 0,0 0 0,0 0 0,0 0 0,-1 0 0,1 0 0,0 0 0,0 0 0,0 0 0,0 0 0,0 0 0,0 0 0,0 0 0,-1 0 0,1 0 0,0 0 0,0 0 0,0 0 0,0-1 0,0 1 0,0 0 0,0 0 0,0 0 0,0 0 0,0 0 0,0 0 0,0 0 0,0 0 0,-1 0 0,1-1 0,-26-18 0,21 14 0,-32-24-1729,-63-59-10905,61 47 9996,23 22 4843,-12-30 10489,17 29-10592,11 20-2102,0-1 0,-1 1 0,1-2 0,-1 2 0,1-1 0,0 1 0,-1-1 0,1 1 0,-1-1 0,1 1 0,-1-1 0,1 1 0,-1-1 0,1 1 0,-1 0 0,1-1 0,-1 1 0,1 0 0,-1-1 0,0 1 0,1 0 0,-1 0 0,0 0 0,-1-1 0,2 2 0,-1-1 0,0 0 0,1 0 0,-1 1 0,0-1 0,1 1 0,-1-1 0,1 1 0,-1-1 0,0 1 0,0-1 0,1 1 0,-1-1 0,1 1 0,0-1 0,-1 1 0,1 0 0,-1 1 0,-2 4 0,1 1 0,-1 0 0,-2 11 0,-7 38-1702,0 78-8002,8-77 7274,-2-1 3485,1-30 8957,-2-11-7243,0-6-2769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4:18:33.090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1912 801 8192,'-2'-43'16362,"0"31"-14702,-4-31-1660,-2 1 0,-2 0 0,-23-61 0,25 84 0,-1-1 0,0 1 0,-2 0 0,0 1 0,-1 1 0,-1-1 0,0 2 0,-1 0 0,-20-17 0,-9-2-938,-75-46 1,67 52-1442,-1 1 1,-111-39-1,101 47 0,0 4 0,-101-15 0,-34 18 505,139 13 3222,0 2 0,0 3 0,0 3 0,-94 24 0,124-24-620,0 2-1,1 0 0,0 2 1,2 1-1,-1 1 1,1 1-1,1 1 1,1 2-1,0 0 1,1 1-1,-24 29 1,35-35-476,1 1 0,0 0 1,1 1-1,1-1 0,0 2 1,1-1-1,1 1 1,-8 31-1,9-24-138,1 0 1,1 1 0,2-1-1,0 1 1,5 45-1,0-36-1126,3 0 0,0-1 0,20 56 0,-13-56-1972,0 1 0,2-1 0,24 33 0,-20-36 2559,2-1 1,0-1-1,2-2 1,0 0-1,3-2 0,38 28 1,-36-31 472,1-1 0,2-2 0,0 0 0,0-2 0,1-2 0,0-1 0,1-2 0,1-1 0,0-2 0,50 5 0,-21-10-48,2-2 0,-1-3 0,0-4 0,-1-2 0,1-2 0,109-35 0,-41 5 9443,-104 33-7554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4:29:28.325"/>
    </inkml:context>
    <inkml:brush xml:id="br0">
      <inkml:brushProperty name="width" value="0.05" units="cm"/>
      <inkml:brushProperty name="height" value="0.05" units="cm"/>
      <inkml:brushProperty name="color" value="#97497B"/>
    </inkml:brush>
  </inkml:definitions>
  <inkml:trace contextRef="#ctx0" brushRef="#br0">0 0 9830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4:30:07.025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0 0 9830,'0'0'0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4:30:19.260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0 0 9830,'9'1'252,"-1"0"-1,0 1 1,0 0 0,14 5-1,26 5 243,301-7 3147,-189-8-2094,-131 2-1194,-16 0-184,0 0 1,1 1 0,19 3-1,-30-3-122,-1 0-1,1 1 0,-1-1 0,0 1 0,1 0 0,-1 0 0,0 0 0,1 0 0,-1 0 1,0 0-1,0 1 0,0-1 0,0 1 0,0-1 0,0 1 0,-1 0 0,1-1 0,0 1 0,-1 0 1,0 0-1,1 0 0,-1 1 0,0-1 0,1 4 0,4 20 435,-2 2 1,-1-1-1,-2 0 0,0 0 0,-6 47 1,2 1 453,0 719 1995,3-510-2423,1-280-507,-1 1 0,0-1 0,-1 0 0,1 0 0,-1 0 0,1 0 0,-1 0 0,0 1 0,-1-1 0,1-1 0,-1 1 0,0 0 0,-2 5 0,1-7 0,1 0 0,-1 0 0,0 0 0,1 0 0,-1 0 0,0 0 0,0-1 0,0 1 0,0-1 0,-1 0 0,1 0 0,0 0 0,0 0 0,-1-1 0,1 1 0,-7-1 0,-260 0 0,114-4 0,99 4 0,33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6:07:23.047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0 0 9830,'9'1'252,"-1"0"-1,0 1 1,0 0 0,14 5-1,26 5 243,301-7 3147,-189-8-2094,-131 2-1194,-16 0-184,0 0 1,1 1 0,19 3-1,-30-3-122,-1 0-1,1 1 0,-1-1 0,0 1 0,1 0 0,-1 0 0,0 0 0,1 0 0,-1 0 1,0 0-1,0 1 0,0-1 0,0 1 0,0-1 0,0 1 0,-1 0 0,1-1 0,0 1 0,-1 0 1,0 0-1,1 0 0,-1 1 0,0-1 0,1 4 0,4 20 435,-2 2 1,-1-1-1,-2 0 0,0 0 0,-6 47 1,2 1 453,0 719 1995,3-510-2423,1-280-507,-1 1 0,0-1 0,-1 0 0,1 0 0,-1 0 0,1 0 0,-1 0 0,0 1 0,-1-1 0,1-1 0,-1 1 0,0 0 0,-2 5 0,1-7 0,1 0 0,-1 0 0,0 0 0,1 0 0,-1 0 0,0 0 0,0-1 0,0 1 0,0-1 0,-1 0 0,1 0 0,0 0 0,0 0 0,-1-1 0,1 1 0,-7-1 0,-260 0 0,114-4 0,99 4 0,33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4:38:21.206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2305 3327 8192,'-30'-27'5452,"-2"1"1,-62-38 0,34 23-3789,-328-258-1664,305 224 0,3-2 0,-100-128 0,84 81 0,4-7 0,6-1 0,-116-244 0,36 29-4618,-29-69-5606,83 129 7044,32 50 5146,-22-120 5319,100 346-6059,-2-6 660,0 0 0,0 0 0,0-26 1,6 43-1887,-2 0 0,2 0 0,-2 0 0,0 0 0,2 0 0,-2 0 0,0 0 0,2 2 0,-2-2 0,0 0 0,2 0 0,-2 0 0,0 0 0,2 2 0,0-2 0,-2 0 0,0 0 0,0 2 0,2-2 0,-2 0 0,0 0 0,2 3 0,-2-3 0,0 0 0,0 2 0,200 239 0,-7 3 0,-117-144 0,-56-70 0,-20-30 0,0 0 0,0 0 0,0 0 0,0 0 0,0 3 0,0-3 0,-2 0 0,2 0 0,0 0 0,0 0 0,0 0 0,0 0 0,0 0 0,0 0 0,0 0 0,0 0 0,0 0 0,-2 0 0,2 0 0,0 0 0,0 0 0,0 0 0,0 0 0,0 0 0,0 0 0,0 0 0,-2 0 0,2 0 0,0 0 0,0 0 0,0 0 0,0 0 0,0 0 0,0 0 0,0 0 0,-2 0 0,2 0 0,0 0 0,0 0 0,0 0 0,0-3 0,0 3 0,0 0 0,0 0 0,0 0 0,0 0 0,0 0 0,0 0 0,0 0 0,0 0 0,-2 0 0,2-2 0,-52-38 0,42 29 0,-64-51-1729,-125-126-10905,121 100 9996,46 48 4843,-24-65 10489,34 62-10592,22 43-2102,0-2 0,-2 2 0,2-4 0,-2 4 0,2-3 0,0 3 0,-2-2 0,2 2 0,-2-2 0,2 2 0,-2-2 0,2 2 0,-2-2 0,2 2 0,-2 0 0,2-2 0,-2 2 0,2 0 0,-2-2 0,0 2 0,2 0 0,-2 0 0,0 0 0,-2-2 0,4 4 0,-2-2 0,0 0 0,2 0 0,-2 2 0,0-2 0,2 2 0,-2-2 0,2 2 0,-2-2 0,0 2 0,0-2 0,2 2 0,-2-2 0,2 2 0,0-2 0,-2 3 0,2-1 0,-2 2 0,-4 9 0,2 2 0,-2 0 0,-4 23 0,-14 82-1702,0 166-8002,16-164 7274,-4-2 3485,2-64 8957,-4-24-7243,0-13-2769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4:44:43.281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1544 0 9830,'0'5'273,"-4"10"338,-11 7-1,-17 8 375,-20 14 380,-24 17 384,-21 15-1,-17 9-156,-12 9 157,-7 9 181,-7 11 203,-7 8-494,-2-3-1639,12-9 0,20-18 0,25-20 0,24-18 0,24-18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4:50:08.888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450 0 9830,'-11'0'449,"0"1"-1,1 0 0,-1 0 1,1 1-1,0 1 1,-19 6-1,22-7-274,1 1 0,0 1 0,0-1 0,0 1 0,1 0 0,0 0 0,-1 0 0,1 1 0,1 0 0,-1 0-1,-6 10 1,3-3 293,0 1-1,2-1 1,0 2-1,0-1 0,1 1 1,-5 22-1,0 0 535,-16 90 1964,21-89-1982,-6 41 699,10-72-1637,-1 0 0,0-1 0,0 1 0,-1 0 1,0-1-1,0 1 0,0-1 0,-1 0 1,1 0-1,-1 0 0,0 0 0,-1-1 0,-8 8 1,-3-1 102,0-1 1,0-1 0,-21 9-1,15-7-113,20-10-35,-1 0 0,1 1 0,0-1 0,0 1 0,-1-1 0,1 1 0,0 0 0,1 0 0,-4 3 0,5-5 0,0 0 0,-1 1 0,1-1 0,0 0 0,0 1 0,0-1 0,0 1 0,0-1 0,0 0 0,-1 1 0,1-1 0,0 0 0,0 1 0,0-1 0,0 1 0,0-1 0,0 0 0,1 1 0,-1-1 0,0 1 0,0-1 0,0 0 0,0 1 0,0-1 0,1 1 0,0 0 0,-1 0 0,1-1 0,0 1 0,0 0 0,0-1 0,0 1 0,0 0 0,0-1 0,0 1 0,0-1 0,1 0 0,-1 1 0,1-1 0,9 2 0,-1 0 0,0-1 0,21-1 0,-19 0 0,-1 0 0,1 1 0,11 1 0,-21-1 0,0 0 0,0-1 0,-1 1 0,1 0 0,0 0 0,0 0 0,-1 0 0,1 0 0,-1 0 0,1 0 0,-1 0 0,1 1 0,-1-1 0,3 3 0,-2 0 0,0 0 0,0-1 0,0 1 0,0 0 0,0 0 0,1 6 0,0 4 0,-1 1 0,2 27 0,-4-41 0,13 121 0,-6-68 0,8 121 0,-13-162 0,1 12 0,1-1 0,14 46 0,-13-57 0,0-1 0,1 0 0,0-1 0,1 1 0,0-1 0,14 15 0,-18-22 0,5 7 0,1 0 0,21 17 0,-27-25 0,1 0 0,0 0 0,0-1 0,0 1 0,1-1 0,-1 0 0,0-1 0,1 1 0,-1-1 0,1 0 0,0 0 0,7 1 0,44-2 0,-40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4:50:08.889"/>
    </inkml:context>
    <inkml:brush xml:id="br0">
      <inkml:brushProperty name="width" value="0.1" units="cm"/>
      <inkml:brushProperty name="height" value="0.1" units="cm"/>
      <inkml:brushProperty name="color" value="#A38600"/>
    </inkml:brush>
  </inkml:definitions>
  <inkml:trace contextRef="#ctx0" brushRef="#br0">450 0 9830,'-11'0'449,"0"1"-1,1 0 0,-1 0 1,1 1-1,0 1 1,-19 6-1,22-7-274,1 1 0,0 1 0,0-1 0,0 1 0,1 0 0,0 0 0,-1 0 0,1 1 0,1 0 0,-1 0-1,-6 10 1,3-3 293,0 1-1,2-1 1,0 2-1,0-1 0,1 1 1,-5 22-1,0 0 535,-16 90 1964,21-89-1982,-6 41 699,10-72-1637,-1 0 0,0-1 0,0 1 0,-1 0 1,0-1-1,0 1 0,0-1 0,-1 0 1,1 0-1,-1 0 0,0 0 0,-1-1 0,-8 8 1,-3-1 102,0-1 1,0-1 0,-21 9-1,15-7-113,20-10-35,-1 0 0,1 1 0,0-1 0,0 1 0,-1-1 0,1 1 0,0 0 0,1 0 0,-4 3 0,5-5 0,0 0 0,-1 1 0,1-1 0,0 0 0,0 1 0,0-1 0,0 1 0,0-1 0,0 0 0,-1 1 0,1-1 0,0 0 0,0 1 0,0-1 0,0 1 0,0-1 0,0 0 0,1 1 0,-1-1 0,0 1 0,0-1 0,0 0 0,0 1 0,0-1 0,1 1 0,0 0 0,-1 0 0,1-1 0,0 1 0,0 0 0,0-1 0,0 1 0,0 0 0,0-1 0,0 1 0,0-1 0,1 0 0,-1 1 0,1-1 0,9 2 0,-1 0 0,0-1 0,21-1 0,-19 0 0,-1 0 0,1 1 0,11 1 0,-21-1 0,0 0 0,0-1 0,-1 1 0,1 0 0,0 0 0,0 0 0,-1 0 0,1 0 0,-1 0 0,1 0 0,-1 0 0,1 1 0,-1-1 0,3 3 0,-2 0 0,0 0 0,0-1 0,0 1 0,0 0 0,0 0 0,1 6 0,0 4 0,-1 1 0,2 27 0,-4-41 0,13 121 0,-6-68 0,8 121 0,-13-162 0,1 12 0,1-1 0,14 46 0,-13-57 0,0-1 0,1 0 0,0-1 0,1 1 0,0-1 0,14 15 0,-18-22 0,5 7 0,1 0 0,21 17 0,-27-25 0,1 0 0,0 0 0,0-1 0,0 1 0,1-1 0,-1 0 0,0-1 0,1 1 0,-1-1 0,1 0 0,0 0 0,7 1 0,44-2 0,-40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6:07:41.803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0 1 9830,'9'1'252,"-1"1"-1,0 2 1,0-1 0,14 11-1,26 10 243,301-13 3147,-189-16-2094,-131 2-1194,-16 1-184,0 1 1,1 1 0,19 5-1,-30-5-122,-1 1-1,1 0 0,-1 0 0,0 0 0,1 1 0,-1 0 0,0 0 0,1 0 0,-1 0 1,0 1-1,0-1 0,0 1 0,0 0 0,0 1 0,0-1 0,-1 1 0,1-1 0,0 1 0,-1 0 1,0 0-1,1 0 0,-1 1 0,0-1 0,1 8 0,4 42 435,-2 0 1,-1 1-1,-2 0 0,0 0 0,-6 93 1,2 2 453,0 1446 1995,3-1025-2423,1-563-507,-1 1 0,0-1 0,-1 1 0,1-1 0,-1 0 0,1 1 0,-1-1 0,0 0 0,-1 0 0,1 0 0,-1 0 0,0-1 0,-2 10 0,1-12 0,1 0 0,-1-1 0,0 0 0,1 0 0,-1-1 0,0 1 0,0-1 0,0 0 0,0-1 0,-1 1 0,1-1 0,0-1 0,0 1 0,-1-1 0,1 0 0,-7 0 0,-260-1 0,114-8 0,99 8 0,33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16:07:41.804"/>
    </inkml:context>
    <inkml:brush xml:id="br0">
      <inkml:brushProperty name="width" value="0.1" units="cm"/>
      <inkml:brushProperty name="height" value="0.1" units="cm"/>
      <inkml:brushProperty name="color" value="#97497B"/>
    </inkml:brush>
  </inkml:definitions>
  <inkml:trace contextRef="#ctx0" brushRef="#br0">0 1 9830,'9'1'252,"-1"2"-1,0 0 1,0 0 0,14 12-1,26 9 243,301-13 3147,-189-17-2094,-131 3-1194,-16 1-184,0 1 1,1 1 0,19 5-1,-30-4-122,-1-1-1,1 1 0,-1 0 0,0 1 0,1-1 0,-1 1 0,0 0 0,1 0 0,-1 1 1,0-1-1,0 1 0,0 0 0,0 0 0,0 0 0,0 0 0,-1 1 0,1 0 0,0 0 0,-1 0 1,0 0-1,1 0 0,-1 0 0,0 1 0,1 6 0,4 44 435,-2-1 1,-1 1-1,-2 1 0,0-1 0,-6 94 1,2 1 453,0 1454 1995,3-1031-2423,1-564-507,-1-1 0,0 1 0,-1-1 0,1 1 0,-1-1 0,1 0 0,-1 1 0,0-1 0,-1 0 0,1 0 0,-1 0 0,0-1 0,-2 10 0,1-12 0,1 0 0,-1-1 0,0 0 0,1 0 0,-1 0 0,0-1 0,0 0 0,0 0 0,0 0 0,-1-1 0,1 0 0,0 0 0,0-1 0,-1 0 0,1 0 0,-7 0 0,-260 0 0,114-10 0,99 9 0,33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9C15-F6E4-FEA3-6247-77485F731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ECFA6-F60F-FA3E-1006-3997E0CAC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16121-2D1F-4BAD-6B8B-CC7E7033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C1A28-E4C5-4261-4FFE-CB36A913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1C083-6EF9-93FF-26B9-ADE0FA14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596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7766-F692-C5E1-22E9-76634982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6CDB6-0935-5B6D-16B9-B4FEB1905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26DD5-07D2-DF84-6531-9F445342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4BA35-ECCB-1ECD-187F-C6EA862F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A2E51-3948-384D-C2F8-E8B946F6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806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B8E8F-1F75-AF6A-6B2B-D60F7B84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2DCAF-2FF8-850F-B70E-C27C9ED34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DDDEF-254F-3D59-2ED2-5480BE75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8BC2A-4D4C-592C-042F-361AD2F1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D4943-7624-9BA3-1AB7-75AC1C72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452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160F-1D9C-1FF8-408A-9343DB92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69A34-22AE-FA5C-CDCF-E19F9AA78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323C3-1B87-1AA6-E906-37FD30E03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7CC2A-6DF3-973D-5ADA-2DF82F75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1718E-F0DB-E6FB-1A4F-7814AFFB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DF892-0F45-0D25-6716-3588F85D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925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DED1-2AA3-A574-2549-31751813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CD3A-BF35-6498-039F-D61D5D34B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D4294-EA5A-2B8B-1F0C-C86B52D14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25ADE8-8B6F-CB58-118C-3DF6E6DB1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AE033-55FC-DF5F-E9B0-FA2F3AEB9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3EA629-B193-A0A3-6B40-FF71DFBDA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0305A-F4DD-96A7-D6CF-0B4874C3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F6247-E489-5DEC-5F42-5B595062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728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A2BC-EA84-34A7-477A-1099C5FD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BCC639-7018-60CC-6482-E7890691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1AA8E-A2D5-0590-C0C9-9087A6E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42B1D-50C4-13C3-8A38-B55934DF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600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E1E88F-BB23-A115-AC59-7F2D58EA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DAED6B-6B93-9473-B992-1FB870EC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E5F2B-A252-7492-CDEC-72ECD62D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983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4510-D889-4151-ED6E-0C98EC61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96964-6E27-FBF7-A38B-E4384E79E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B24A7-5EC8-1BAD-2AE3-361D19681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5DA5D-EB1A-038F-DBFA-3DA4B642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822B2-DDAB-65D3-721B-FCD5E96C7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BBEA2-DF05-FEDD-505A-475E2809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149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7336-CB3E-310E-5174-8D14F0151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46BBB-456B-07D1-8BF7-A44F4C45F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0F3FE-5B1E-0AB1-1E20-9201FF212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84F18-7587-87FC-E644-3873F088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4E1EE-6A36-7C7D-F1D1-79A6DB24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46839-591E-2805-6857-A4ED5A49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3705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212A-5E95-612F-24BE-EA21964F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FEA8F-FEE4-B267-B622-F11236AE8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6AB0-F6CD-C94A-4017-AD6C590C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01160-4636-D8E4-DE16-10E8C6A7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222C6-67BD-05C2-A9CF-68BF0DA1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5308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D9118E-3609-3515-683C-44A0A7743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677D4-22A9-7199-25B8-319878166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6FE86-E1BE-FAE3-CDD1-2D6F53A7E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0AF71-DF5E-4713-CD99-4300AEA7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63095-9771-5960-F24C-B1FBAA38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766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0E79C-C17A-6048-8307-46CE2BE9A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9500E-4EB7-EABE-D455-7194F8C1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9B5E3-9464-ECB6-9172-60AB85CC2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F613A-AAAF-402D-BB89-62559A5A540E}" type="datetimeFigureOut">
              <a:rPr lang="LID4096" smtClean="0"/>
              <a:t>11/19/2025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FB7C4-A294-8621-AAAD-8BB6954C4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C2695-E8D7-482A-28B3-13FF3EB20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35391-74A7-46A0-8A67-6305F68A06B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510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3.png"/><Relationship Id="rId3" Type="http://schemas.openxmlformats.org/officeDocument/2006/relationships/customXml" Target="../ink/ink4.xml"/><Relationship Id="rId7" Type="http://schemas.openxmlformats.org/officeDocument/2006/relationships/image" Target="../media/image12.png"/><Relationship Id="rId12" Type="http://schemas.openxmlformats.org/officeDocument/2006/relationships/customXml" Target="../ink/ink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10" Type="http://schemas.openxmlformats.org/officeDocument/2006/relationships/customXml" Target="../ink/ink6.xml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19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customXml" Target="../ink/ink10.xml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1.xml"/><Relationship Id="rId10" Type="http://schemas.openxmlformats.org/officeDocument/2006/relationships/customXml" Target="../ink/ink13.xml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7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9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31.png"/><Relationship Id="rId4" Type="http://schemas.openxmlformats.org/officeDocument/2006/relationships/customXml" Target="../ink/ink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24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customXml" Target="../ink/ink26.xml"/><Relationship Id="rId4" Type="http://schemas.openxmlformats.org/officeDocument/2006/relationships/image" Target="../media/image36.png"/><Relationship Id="rId9" Type="http://schemas.openxmlformats.org/officeDocument/2006/relationships/customXml" Target="../ink/ink2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30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5" Type="http://schemas.openxmlformats.org/officeDocument/2006/relationships/image" Target="../media/image42.png"/><Relationship Id="rId4" Type="http://schemas.openxmlformats.org/officeDocument/2006/relationships/customXml" Target="../ink/ink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Relationship Id="rId5" Type="http://schemas.openxmlformats.org/officeDocument/2006/relationships/image" Target="../media/image46.png"/><Relationship Id="rId9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1">
            <a:extLst>
              <a:ext uri="{FF2B5EF4-FFF2-40B4-BE49-F238E27FC236}">
                <a16:creationId xmlns:a16="http://schemas.microsoft.com/office/drawing/2014/main" id="{994A9843-9526-21B7-00EB-CA8CDEFCA85A}"/>
              </a:ext>
            </a:extLst>
          </p:cNvPr>
          <p:cNvSpPr/>
          <p:nvPr/>
        </p:nvSpPr>
        <p:spPr>
          <a:xfrm>
            <a:off x="739913" y="472053"/>
            <a:ext cx="10764837" cy="1609073"/>
          </a:xfrm>
          <a:custGeom>
            <a:avLst/>
            <a:gdLst>
              <a:gd name="connsiteX0" fmla="*/ 0 w 12057529"/>
              <a:gd name="connsiteY0" fmla="*/ 0 h 1416323"/>
              <a:gd name="connsiteX1" fmla="*/ 12057529 w 12057529"/>
              <a:gd name="connsiteY1" fmla="*/ 0 h 1416323"/>
              <a:gd name="connsiteX2" fmla="*/ 12057529 w 12057529"/>
              <a:gd name="connsiteY2" fmla="*/ 1416323 h 1416323"/>
              <a:gd name="connsiteX3" fmla="*/ 0 w 12057529"/>
              <a:gd name="connsiteY3" fmla="*/ 1416323 h 1416323"/>
              <a:gd name="connsiteX4" fmla="*/ 0 w 12057529"/>
              <a:gd name="connsiteY4" fmla="*/ 0 h 1416323"/>
              <a:gd name="connsiteX0" fmla="*/ 0 w 12057529"/>
              <a:gd name="connsiteY0" fmla="*/ 0 h 1416323"/>
              <a:gd name="connsiteX1" fmla="*/ 12057529 w 12057529"/>
              <a:gd name="connsiteY1" fmla="*/ 0 h 1416323"/>
              <a:gd name="connsiteX2" fmla="*/ 12057529 w 12057529"/>
              <a:gd name="connsiteY2" fmla="*/ 1416323 h 1416323"/>
              <a:gd name="connsiteX3" fmla="*/ 654424 w 12057529"/>
              <a:gd name="connsiteY3" fmla="*/ 1398394 h 1416323"/>
              <a:gd name="connsiteX4" fmla="*/ 0 w 12057529"/>
              <a:gd name="connsiteY4" fmla="*/ 0 h 1416323"/>
              <a:gd name="connsiteX0" fmla="*/ 0 w 12057529"/>
              <a:gd name="connsiteY0" fmla="*/ 0 h 1416323"/>
              <a:gd name="connsiteX1" fmla="*/ 12057529 w 12057529"/>
              <a:gd name="connsiteY1" fmla="*/ 0 h 1416323"/>
              <a:gd name="connsiteX2" fmla="*/ 11438964 w 12057529"/>
              <a:gd name="connsiteY2" fmla="*/ 1416323 h 1416323"/>
              <a:gd name="connsiteX3" fmla="*/ 654424 w 12057529"/>
              <a:gd name="connsiteY3" fmla="*/ 1398394 h 1416323"/>
              <a:gd name="connsiteX4" fmla="*/ 0 w 12057529"/>
              <a:gd name="connsiteY4" fmla="*/ 0 h 1416323"/>
              <a:gd name="connsiteX0" fmla="*/ 0 w 11403106"/>
              <a:gd name="connsiteY0" fmla="*/ 0 h 1416323"/>
              <a:gd name="connsiteX1" fmla="*/ 11403106 w 11403106"/>
              <a:gd name="connsiteY1" fmla="*/ 0 h 1416323"/>
              <a:gd name="connsiteX2" fmla="*/ 10784541 w 11403106"/>
              <a:gd name="connsiteY2" fmla="*/ 1416323 h 1416323"/>
              <a:gd name="connsiteX3" fmla="*/ 1 w 11403106"/>
              <a:gd name="connsiteY3" fmla="*/ 1398394 h 1416323"/>
              <a:gd name="connsiteX4" fmla="*/ 0 w 11403106"/>
              <a:gd name="connsiteY4" fmla="*/ 0 h 1416323"/>
              <a:gd name="connsiteX0" fmla="*/ 0 w 10784541"/>
              <a:gd name="connsiteY0" fmla="*/ 0 h 1416323"/>
              <a:gd name="connsiteX1" fmla="*/ 10784541 w 10784541"/>
              <a:gd name="connsiteY1" fmla="*/ 8965 h 1416323"/>
              <a:gd name="connsiteX2" fmla="*/ 10784541 w 10784541"/>
              <a:gd name="connsiteY2" fmla="*/ 1416323 h 1416323"/>
              <a:gd name="connsiteX3" fmla="*/ 1 w 10784541"/>
              <a:gd name="connsiteY3" fmla="*/ 1398394 h 1416323"/>
              <a:gd name="connsiteX4" fmla="*/ 0 w 10784541"/>
              <a:gd name="connsiteY4" fmla="*/ 0 h 1416323"/>
              <a:gd name="connsiteX0" fmla="*/ 0 w 10784541"/>
              <a:gd name="connsiteY0" fmla="*/ 0 h 1416323"/>
              <a:gd name="connsiteX1" fmla="*/ 10784541 w 10784541"/>
              <a:gd name="connsiteY1" fmla="*/ 8965 h 1416323"/>
              <a:gd name="connsiteX2" fmla="*/ 10784541 w 10784541"/>
              <a:gd name="connsiteY2" fmla="*/ 1416323 h 1416323"/>
              <a:gd name="connsiteX3" fmla="*/ 1 w 10784541"/>
              <a:gd name="connsiteY3" fmla="*/ 1411451 h 1416323"/>
              <a:gd name="connsiteX4" fmla="*/ 0 w 10784541"/>
              <a:gd name="connsiteY4" fmla="*/ 0 h 1416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84541" h="1416323">
                <a:moveTo>
                  <a:pt x="0" y="0"/>
                </a:moveTo>
                <a:lnTo>
                  <a:pt x="10784541" y="8965"/>
                </a:lnTo>
                <a:lnTo>
                  <a:pt x="10784541" y="1416323"/>
                </a:lnTo>
                <a:lnTo>
                  <a:pt x="1" y="1411451"/>
                </a:lnTo>
                <a:cubicBezTo>
                  <a:pt x="1" y="945320"/>
                  <a:pt x="0" y="466131"/>
                  <a:pt x="0" y="0"/>
                </a:cubicBezTo>
                <a:close/>
              </a:path>
            </a:pathLst>
          </a:custGeom>
          <a:solidFill>
            <a:srgbClr val="E8E1BF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AA16A6-CAFB-24DF-137F-F162F6BB33EC}"/>
              </a:ext>
            </a:extLst>
          </p:cNvPr>
          <p:cNvSpPr/>
          <p:nvPr/>
        </p:nvSpPr>
        <p:spPr>
          <a:xfrm>
            <a:off x="8588189" y="5609121"/>
            <a:ext cx="2938087" cy="843671"/>
          </a:xfrm>
          <a:prstGeom prst="rect">
            <a:avLst/>
          </a:prstGeom>
          <a:solidFill>
            <a:srgbClr val="E8E1BF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03B60-8E0E-9DEF-66FC-D6D23D80B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913" y="1204453"/>
            <a:ext cx="10748685" cy="898094"/>
          </a:xfrm>
        </p:spPr>
        <p:txBody>
          <a:bodyPr anchor="ctr">
            <a:normAutofit/>
          </a:bodyPr>
          <a:lstStyle/>
          <a:p>
            <a:r>
              <a:rPr lang="en-US" sz="40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Consultant Dashboard</a:t>
            </a:r>
            <a:endParaRPr lang="en-US" sz="4000" noProof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5D130-4EFB-7C8E-F0B1-93CAFAAE6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986" y="2834947"/>
            <a:ext cx="10740612" cy="203620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600" noProof="0" dirty="0"/>
              <a:t>Imagine you are a Consultant preparing a market research for a mobile app company. </a:t>
            </a:r>
            <a:br>
              <a:rPr lang="en-US" sz="1600" noProof="0" dirty="0"/>
            </a:br>
            <a:r>
              <a:rPr lang="en-US" sz="1600" noProof="0" dirty="0"/>
              <a:t>One of your daily tasks is to </a:t>
            </a:r>
            <a:r>
              <a:rPr lang="en-US" sz="1600" b="1" noProof="0" dirty="0">
                <a:solidFill>
                  <a:srgbClr val="595959"/>
                </a:solidFill>
              </a:rPr>
              <a:t>meet the Product Manager and evaluate their App idea</a:t>
            </a:r>
            <a:r>
              <a:rPr lang="en-US" sz="1600" noProof="0" dirty="0"/>
              <a:t>.  </a:t>
            </a:r>
            <a:br>
              <a:rPr lang="en-US" sz="1600" noProof="0" dirty="0"/>
            </a:br>
            <a:endParaRPr lang="en-US" sz="1600" noProof="0" dirty="0"/>
          </a:p>
          <a:p>
            <a:pPr>
              <a:lnSpc>
                <a:spcPct val="120000"/>
              </a:lnSpc>
            </a:pPr>
            <a:r>
              <a:rPr lang="en-US" sz="1600" noProof="0" dirty="0"/>
              <a:t>My </a:t>
            </a:r>
            <a:r>
              <a:rPr lang="en-US" sz="1600" b="1" noProof="0" dirty="0">
                <a:solidFill>
                  <a:srgbClr val="A38600"/>
                </a:solidFill>
              </a:rPr>
              <a:t>Consultant Dashboard </a:t>
            </a:r>
            <a:r>
              <a:rPr lang="en-US" sz="1600" noProof="0" dirty="0"/>
              <a:t>gives you a practical way </a:t>
            </a:r>
            <a:br>
              <a:rPr lang="en-US" sz="1600" noProof="0" dirty="0"/>
            </a:br>
            <a:r>
              <a:rPr lang="en-US" sz="1600" noProof="0" dirty="0"/>
              <a:t>to walk app creators through the market data behind their ideas, </a:t>
            </a:r>
            <a:br>
              <a:rPr lang="en-US" sz="1600" noProof="0" dirty="0"/>
            </a:br>
            <a:r>
              <a:rPr lang="en-US" sz="1600" noProof="0" dirty="0"/>
              <a:t>helping you ground the conversation in clear, </a:t>
            </a:r>
            <a:r>
              <a:rPr lang="en-US" sz="1600" b="1" noProof="0" dirty="0">
                <a:solidFill>
                  <a:srgbClr val="A38600"/>
                </a:solidFill>
              </a:rPr>
              <a:t>data-driven insights</a:t>
            </a:r>
            <a:r>
              <a:rPr lang="en-US" sz="1600" noProof="0" dirty="0"/>
              <a:t>.</a:t>
            </a:r>
          </a:p>
        </p:txBody>
      </p:sp>
      <p:pic>
        <p:nvPicPr>
          <p:cNvPr id="1028" name="Picture 4" descr="Learning Python » Khmer168.com – Your Source for IT Knowledge, Comparisons,  Best Practices, and ICT Insights in Cambodia Ratana SOTH - the IT Geek in  Cambodia">
            <a:extLst>
              <a:ext uri="{FF2B5EF4-FFF2-40B4-BE49-F238E27FC236}">
                <a16:creationId xmlns:a16="http://schemas.microsoft.com/office/drawing/2014/main" id="{0BEDA7DF-C512-0141-F709-A7C057882E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1" r="20892"/>
          <a:stretch>
            <a:fillRect/>
          </a:stretch>
        </p:blipFill>
        <p:spPr bwMode="auto">
          <a:xfrm>
            <a:off x="1643110" y="5671876"/>
            <a:ext cx="769085" cy="77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t Reviews 2025: Details, Pricing, &amp; Features | G2">
            <a:extLst>
              <a:ext uri="{FF2B5EF4-FFF2-40B4-BE49-F238E27FC236}">
                <a16:creationId xmlns:a16="http://schemas.microsoft.com/office/drawing/2014/main" id="{68E59D5F-5089-E038-989C-D898BB9A43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0" t="25056" r="26378" b="28886"/>
          <a:stretch>
            <a:fillRect/>
          </a:stretch>
        </p:blipFill>
        <p:spPr bwMode="auto">
          <a:xfrm>
            <a:off x="2490854" y="5848801"/>
            <a:ext cx="949698" cy="52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is GitHub? Beginner Guide For GitHub | by Ishara Madusanka | MS Club  of SLIIT | Medium">
            <a:extLst>
              <a:ext uri="{FF2B5EF4-FFF2-40B4-BE49-F238E27FC236}">
                <a16:creationId xmlns:a16="http://schemas.microsoft.com/office/drawing/2014/main" id="{18468F58-C8BF-FB00-C7DF-E103ED684D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7" t="17618" r="7703" b="17076"/>
          <a:stretch>
            <a:fillRect/>
          </a:stretch>
        </p:blipFill>
        <p:spPr bwMode="auto">
          <a:xfrm>
            <a:off x="3440552" y="5803165"/>
            <a:ext cx="1461304" cy="61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257D30-035A-91A3-7C07-E7CDB683BE6B}"/>
              </a:ext>
            </a:extLst>
          </p:cNvPr>
          <p:cNvSpPr/>
          <p:nvPr/>
        </p:nvSpPr>
        <p:spPr>
          <a:xfrm>
            <a:off x="723762" y="342453"/>
            <a:ext cx="10780987" cy="108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ln>
                <a:solidFill>
                  <a:srgbClr val="E8E1BF"/>
                </a:solidFill>
              </a:ln>
              <a:solidFill>
                <a:srgbClr val="E8E1B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2271C5-9580-C32B-B783-AD335B8C4D6A}"/>
              </a:ext>
            </a:extLst>
          </p:cNvPr>
          <p:cNvSpPr/>
          <p:nvPr/>
        </p:nvSpPr>
        <p:spPr>
          <a:xfrm>
            <a:off x="731837" y="2088346"/>
            <a:ext cx="10764837" cy="108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D58A3A2-0140-DD98-8F0D-DB80D2A23D7D}"/>
              </a:ext>
            </a:extLst>
          </p:cNvPr>
          <p:cNvSpPr txBox="1">
            <a:spLocks/>
          </p:cNvSpPr>
          <p:nvPr/>
        </p:nvSpPr>
        <p:spPr>
          <a:xfrm>
            <a:off x="8489578" y="5722427"/>
            <a:ext cx="2938087" cy="783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BY DOMINIKA DRĄŻYK</a:t>
            </a:r>
            <a:br>
              <a:rPr lang="en-US" sz="2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sz="2000" b="1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NOVEMBER, 2025</a:t>
            </a:r>
          </a:p>
        </p:txBody>
      </p:sp>
      <p:pic>
        <p:nvPicPr>
          <p:cNvPr id="8" name="Picture 7" descr="A yellow rectangular shapes on a black background&#10;&#10;AI-generated content may be incorrect.">
            <a:extLst>
              <a:ext uri="{FF2B5EF4-FFF2-40B4-BE49-F238E27FC236}">
                <a16:creationId xmlns:a16="http://schemas.microsoft.com/office/drawing/2014/main" id="{DFD0CE21-926E-94EA-1F49-4109031DF7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5" r="25340"/>
          <a:stretch>
            <a:fillRect/>
          </a:stretch>
        </p:blipFill>
        <p:spPr>
          <a:xfrm>
            <a:off x="745944" y="5671876"/>
            <a:ext cx="689321" cy="75079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327D13-1D86-2555-8EB7-96B283B5A594}"/>
              </a:ext>
            </a:extLst>
          </p:cNvPr>
          <p:cNvSpPr/>
          <p:nvPr/>
        </p:nvSpPr>
        <p:spPr>
          <a:xfrm>
            <a:off x="8588189" y="6432320"/>
            <a:ext cx="2938087" cy="108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E5BC7E0-D90F-66BF-3F8A-BA1E8B8BA7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5054"/>
          <a:stretch>
            <a:fillRect/>
          </a:stretch>
        </p:blipFill>
        <p:spPr>
          <a:xfrm>
            <a:off x="1992293" y="654402"/>
            <a:ext cx="8260076" cy="70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28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9082F6-B095-9355-7B53-FCA78D1ADCB0}"/>
              </a:ext>
            </a:extLst>
          </p:cNvPr>
          <p:cNvSpPr/>
          <p:nvPr/>
        </p:nvSpPr>
        <p:spPr>
          <a:xfrm>
            <a:off x="425253" y="677504"/>
            <a:ext cx="5670748" cy="108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4DB703-35A6-CD5A-AC01-816AA6CEC7B3}"/>
              </a:ext>
            </a:extLst>
          </p:cNvPr>
          <p:cNvSpPr txBox="1"/>
          <p:nvPr/>
        </p:nvSpPr>
        <p:spPr>
          <a:xfrm>
            <a:off x="344570" y="15428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1" dirty="0"/>
              <a:t>Introduction</a:t>
            </a:r>
            <a:endParaRPr lang="LID4096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B76ADF-9493-42A9-A4E6-627F26BE6B2F}"/>
              </a:ext>
            </a:extLst>
          </p:cNvPr>
          <p:cNvSpPr txBox="1"/>
          <p:nvPr/>
        </p:nvSpPr>
        <p:spPr>
          <a:xfrm>
            <a:off x="425251" y="1066922"/>
            <a:ext cx="5670748" cy="516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dirty="0"/>
              <a:t>Imagine you are a </a:t>
            </a:r>
            <a:r>
              <a:rPr lang="pl-PL" sz="1600" b="1" dirty="0">
                <a:solidFill>
                  <a:srgbClr val="97497B"/>
                </a:solidFill>
              </a:rPr>
              <a:t>Market Research Consultant</a:t>
            </a:r>
            <a:r>
              <a:rPr lang="pl-PL" sz="1600" dirty="0"/>
              <a:t> hired </a:t>
            </a:r>
            <a:br>
              <a:rPr lang="pl-PL" sz="1600" dirty="0"/>
            </a:br>
            <a:r>
              <a:rPr lang="pl-PL" sz="1600" dirty="0"/>
              <a:t>by a mobile app company. One of your tasks is to assist </a:t>
            </a:r>
            <a:br>
              <a:rPr lang="pl-PL" sz="1600" dirty="0"/>
            </a:br>
            <a:r>
              <a:rPr lang="pl-PL" sz="1600" dirty="0"/>
              <a:t>the </a:t>
            </a:r>
            <a:r>
              <a:rPr lang="pl-PL" sz="1600" b="1" dirty="0">
                <a:solidFill>
                  <a:srgbClr val="97497B"/>
                </a:solidFill>
              </a:rPr>
              <a:t>Product Manager</a:t>
            </a:r>
            <a:r>
              <a:rPr lang="en-US" sz="1600" b="1" dirty="0">
                <a:solidFill>
                  <a:srgbClr val="A38600"/>
                </a:solidFill>
              </a:rPr>
              <a:t> </a:t>
            </a:r>
            <a:r>
              <a:rPr lang="pl-PL" sz="1600" dirty="0"/>
              <a:t>in evaluating their app ideas. 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App creators</a:t>
            </a:r>
            <a:r>
              <a:rPr lang="en-US" sz="1600" dirty="0"/>
              <a:t> need </a:t>
            </a:r>
            <a:r>
              <a:rPr lang="en-US" sz="1600" b="1" dirty="0">
                <a:solidFill>
                  <a:srgbClr val="C6B35F"/>
                </a:solidFill>
              </a:rPr>
              <a:t>fast, objective insight </a:t>
            </a:r>
            <a:r>
              <a:rPr lang="en-US" sz="1600" dirty="0"/>
              <a:t>into how their concept fits the current mobile-app landscape</a:t>
            </a:r>
            <a:r>
              <a:rPr lang="pl-PL" sz="1600" dirty="0"/>
              <a:t>.</a:t>
            </a:r>
          </a:p>
          <a:p>
            <a:pPr algn="just"/>
            <a:br>
              <a:rPr lang="pl-PL" sz="1600" dirty="0"/>
            </a:br>
            <a:r>
              <a:rPr lang="en-US" sz="1600" b="1" dirty="0"/>
              <a:t>This Consultant Dashboard provides exactly that</a:t>
            </a:r>
            <a:r>
              <a:rPr lang="pl-PL" sz="1600" b="1" dirty="0"/>
              <a:t>.</a:t>
            </a:r>
          </a:p>
          <a:p>
            <a:pPr algn="just"/>
            <a:br>
              <a:rPr lang="pl-PL" sz="1600" dirty="0"/>
            </a:br>
            <a:r>
              <a:rPr lang="en-US" sz="1600" dirty="0"/>
              <a:t>It </a:t>
            </a:r>
            <a:r>
              <a:rPr lang="pl-PL" sz="1600" dirty="0"/>
              <a:t>helps the Consultant</a:t>
            </a:r>
            <a:r>
              <a:rPr lang="pl-PL" sz="1600" b="1" dirty="0">
                <a:solidFill>
                  <a:srgbClr val="97497B"/>
                </a:solidFill>
              </a:rPr>
              <a:t> </a:t>
            </a:r>
            <a:r>
              <a:rPr lang="pl-PL" sz="1600" dirty="0"/>
              <a:t>to:</a:t>
            </a:r>
          </a:p>
          <a:p>
            <a:pPr marL="179388" indent="-1793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present </a:t>
            </a:r>
            <a:r>
              <a:rPr lang="en-US" sz="1600" dirty="0"/>
              <a:t>the </a:t>
            </a:r>
            <a:r>
              <a:rPr lang="en-US" sz="1600" b="1" dirty="0">
                <a:solidFill>
                  <a:srgbClr val="C6B35F"/>
                </a:solidFill>
              </a:rPr>
              <a:t>most competitive </a:t>
            </a:r>
            <a:r>
              <a:rPr lang="pl-PL" sz="1600" dirty="0"/>
              <a:t>app </a:t>
            </a:r>
            <a:r>
              <a:rPr lang="en-US" sz="1600" dirty="0"/>
              <a:t>categories</a:t>
            </a:r>
            <a:r>
              <a:rPr lang="pl-PL" sz="1600" dirty="0"/>
              <a:t>;</a:t>
            </a:r>
          </a:p>
          <a:p>
            <a:pPr marL="179388" indent="-1793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showcase </a:t>
            </a:r>
            <a:r>
              <a:rPr lang="en-US" sz="1600" dirty="0"/>
              <a:t>the specific category </a:t>
            </a:r>
            <a:r>
              <a:rPr lang="pl-PL" sz="1600" dirty="0"/>
              <a:t>targeted by the creators;</a:t>
            </a:r>
          </a:p>
          <a:p>
            <a:pPr marL="179388" indent="-1793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6B35F"/>
                </a:solidFill>
              </a:rPr>
              <a:t>compare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C6B35F"/>
                </a:solidFill>
              </a:rPr>
              <a:t>their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C6B35F"/>
                </a:solidFill>
              </a:rPr>
              <a:t>goals against market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6B35F"/>
                </a:solidFill>
              </a:rPr>
              <a:t>medians</a:t>
            </a:r>
            <a:r>
              <a:rPr lang="en-US" sz="1600" dirty="0"/>
              <a:t>.</a:t>
            </a:r>
            <a:endParaRPr lang="pl-PL" sz="1600" b="1" dirty="0">
              <a:solidFill>
                <a:srgbClr val="C04F15"/>
              </a:solidFill>
              <a:latin typeface="system-ui"/>
            </a:endParaRPr>
          </a:p>
          <a:p>
            <a:endParaRPr lang="pl-PL" sz="1600" b="1" dirty="0">
              <a:solidFill>
                <a:srgbClr val="C04F15"/>
              </a:solidFill>
              <a:latin typeface="system-ui"/>
            </a:endParaRPr>
          </a:p>
          <a:p>
            <a:endParaRPr lang="pl-PL" sz="1600" b="1" dirty="0">
              <a:solidFill>
                <a:srgbClr val="C04F15"/>
              </a:solidFill>
              <a:latin typeface="system-ui"/>
            </a:endParaRPr>
          </a:p>
          <a:p>
            <a:endParaRPr lang="pl-PL" sz="1600" b="1" dirty="0">
              <a:solidFill>
                <a:srgbClr val="A38600"/>
              </a:solidFill>
              <a:latin typeface="system-ui"/>
            </a:endParaRPr>
          </a:p>
          <a:p>
            <a:pPr marL="714375" algn="just"/>
            <a:r>
              <a:rPr lang="en-US" sz="1600" dirty="0"/>
              <a:t>With these inputs, the </a:t>
            </a:r>
            <a:r>
              <a:rPr lang="pl-PL" sz="1600" dirty="0"/>
              <a:t>Product Manager </a:t>
            </a:r>
            <a:r>
              <a:rPr lang="en-US" sz="1600" dirty="0"/>
              <a:t>can ground their decisions in data rather than assumptions </a:t>
            </a:r>
            <a:br>
              <a:rPr lang="pl-PL" sz="1600" dirty="0"/>
            </a:br>
            <a:r>
              <a:rPr lang="en-US" sz="1600" dirty="0"/>
              <a:t>and quickly understand where their app stands relative to the market.</a:t>
            </a:r>
            <a:endParaRPr lang="pl-PL" sz="1600" dirty="0">
              <a:latin typeface="system-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C8605-2719-C776-812C-429E2E771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55" y="5067543"/>
            <a:ext cx="476965" cy="40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01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9B420-3DE5-95B3-747C-56A64F51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053B7C-183B-B7AD-D6B7-82742BEE1394}"/>
              </a:ext>
            </a:extLst>
          </p:cNvPr>
          <p:cNvSpPr txBox="1"/>
          <p:nvPr/>
        </p:nvSpPr>
        <p:spPr>
          <a:xfrm>
            <a:off x="9269506" y="154283"/>
            <a:ext cx="24972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2800" b="1" dirty="0"/>
              <a:t>Data source			</a:t>
            </a:r>
            <a:endParaRPr lang="LID4096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6FE2E3-3C85-DC81-D46E-144F720FF475}"/>
              </a:ext>
            </a:extLst>
          </p:cNvPr>
          <p:cNvSpPr/>
          <p:nvPr/>
        </p:nvSpPr>
        <p:spPr>
          <a:xfrm>
            <a:off x="6096000" y="677503"/>
            <a:ext cx="5670748" cy="108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D426B-ED32-E32E-9F37-A36CBD0C3733}"/>
              </a:ext>
            </a:extLst>
          </p:cNvPr>
          <p:cNvSpPr txBox="1"/>
          <p:nvPr/>
        </p:nvSpPr>
        <p:spPr>
          <a:xfrm>
            <a:off x="6095999" y="912756"/>
            <a:ext cx="56707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rgbClr val="97497B"/>
                </a:solidFill>
              </a:rPr>
              <a:t>Google Play Store Apps dataset via Kaggle</a:t>
            </a:r>
            <a:br>
              <a:rPr lang="pl-PL" sz="1600" dirty="0"/>
            </a:br>
            <a:r>
              <a:rPr lang="pl-PL" sz="1600" dirty="0"/>
              <a:t>Authored by L. Gupta (2019)</a:t>
            </a:r>
            <a:r>
              <a:rPr lang="pl-PL" sz="1600" b="1" dirty="0">
                <a:solidFill>
                  <a:srgbClr val="97497B"/>
                </a:solidFill>
              </a:rPr>
              <a:t> [ </a:t>
            </a:r>
            <a:r>
              <a:rPr lang="en-US" sz="1600" b="1" dirty="0">
                <a:solidFill>
                  <a:srgbClr val="97497B"/>
                </a:solidFill>
              </a:rPr>
              <a:t>link</a:t>
            </a:r>
            <a:r>
              <a:rPr lang="pl-PL" sz="1600" b="1" dirty="0">
                <a:solidFill>
                  <a:srgbClr val="97497B"/>
                </a:solidFill>
              </a:rPr>
              <a:t> ]</a:t>
            </a:r>
            <a:endParaRPr lang="pl-PL" sz="1600" dirty="0"/>
          </a:p>
          <a:p>
            <a:pPr algn="r"/>
            <a:endParaRPr lang="pl-PL" sz="1600" dirty="0"/>
          </a:p>
          <a:p>
            <a:pPr algn="r"/>
            <a:r>
              <a:rPr lang="pl-PL" sz="1600" dirty="0"/>
              <a:t>{ googleplaystore.csv }</a:t>
            </a:r>
          </a:p>
          <a:p>
            <a:pPr algn="r"/>
            <a:r>
              <a:rPr lang="pl-PL" sz="1600" dirty="0"/>
              <a:t>{ googleplaystore_user_reviews.csv }</a:t>
            </a:r>
          </a:p>
          <a:p>
            <a:pPr algn="r"/>
            <a:endParaRPr lang="pl-PL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7930E-610D-C34A-27D5-D970597914F3}"/>
              </a:ext>
            </a:extLst>
          </p:cNvPr>
          <p:cNvSpPr txBox="1"/>
          <p:nvPr/>
        </p:nvSpPr>
        <p:spPr>
          <a:xfrm>
            <a:off x="5670748" y="26106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2800" b="1" dirty="0"/>
              <a:t>Approach</a:t>
            </a:r>
            <a:endParaRPr lang="LID4096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1511D-BB55-B8DB-CC5A-2D619D2D33F1}"/>
              </a:ext>
            </a:extLst>
          </p:cNvPr>
          <p:cNvSpPr/>
          <p:nvPr/>
        </p:nvSpPr>
        <p:spPr>
          <a:xfrm>
            <a:off x="6096000" y="3133834"/>
            <a:ext cx="5670748" cy="108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3E1F68-EA26-D310-4401-585B7FB271DC}"/>
              </a:ext>
            </a:extLst>
          </p:cNvPr>
          <p:cNvSpPr txBox="1"/>
          <p:nvPr/>
        </p:nvSpPr>
        <p:spPr>
          <a:xfrm>
            <a:off x="6095999" y="3452190"/>
            <a:ext cx="567074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pl-PL" sz="1600" b="1" i="0" dirty="0">
                <a:solidFill>
                  <a:srgbClr val="C6B35F"/>
                </a:solidFill>
                <a:effectLst/>
                <a:latin typeface="system-ui"/>
              </a:rPr>
              <a:t>O1: </a:t>
            </a:r>
            <a:r>
              <a:rPr lang="pl-PL" sz="1600" i="0" dirty="0">
                <a:effectLst/>
              </a:rPr>
              <a:t>Dataset preprocessing</a:t>
            </a:r>
          </a:p>
          <a:p>
            <a:pPr marL="108000" algn="r">
              <a:spcBef>
                <a:spcPts val="600"/>
              </a:spcBef>
              <a:buNone/>
            </a:pPr>
            <a:r>
              <a:rPr lang="pl-PL" sz="1400" b="1" dirty="0">
                <a:solidFill>
                  <a:srgbClr val="C6B35F"/>
                </a:solidFill>
                <a:latin typeface="system-ui"/>
              </a:rPr>
              <a:t>O1.1</a:t>
            </a:r>
            <a:r>
              <a:rPr lang="pl-PL" sz="1400" b="1" dirty="0">
                <a:solidFill>
                  <a:srgbClr val="C89140"/>
                </a:solidFill>
                <a:latin typeface="system-ui"/>
              </a:rPr>
              <a:t> </a:t>
            </a:r>
            <a:r>
              <a:rPr lang="pl-PL" sz="1400" dirty="0">
                <a:latin typeface="system-ui"/>
              </a:rPr>
              <a:t>Loading both datasets</a:t>
            </a:r>
          </a:p>
          <a:p>
            <a:pPr marL="108000" algn="r">
              <a:spcBef>
                <a:spcPts val="600"/>
              </a:spcBef>
              <a:buNone/>
            </a:pPr>
            <a:r>
              <a:rPr lang="pl-PL" sz="1400" b="1" dirty="0">
                <a:solidFill>
                  <a:srgbClr val="C6B35F"/>
                </a:solidFill>
                <a:latin typeface="system-ui"/>
              </a:rPr>
              <a:t>O1.2</a:t>
            </a:r>
            <a:r>
              <a:rPr lang="pl-PL" sz="1400" b="1" dirty="0">
                <a:solidFill>
                  <a:srgbClr val="C89140"/>
                </a:solidFill>
                <a:latin typeface="system-ui"/>
              </a:rPr>
              <a:t> </a:t>
            </a:r>
            <a:r>
              <a:rPr lang="pl-PL" sz="1400" dirty="0">
                <a:latin typeface="system-ui"/>
              </a:rPr>
              <a:t>Quality check and transforming variables</a:t>
            </a:r>
          </a:p>
          <a:p>
            <a:pPr marL="108000" algn="r">
              <a:spcBef>
                <a:spcPts val="600"/>
              </a:spcBef>
            </a:pPr>
            <a:r>
              <a:rPr lang="pl-PL" sz="1400" b="1" dirty="0">
                <a:solidFill>
                  <a:srgbClr val="C6B35F"/>
                </a:solidFill>
                <a:latin typeface="system-ui"/>
              </a:rPr>
              <a:t>O1.3</a:t>
            </a:r>
            <a:r>
              <a:rPr lang="pl-PL" sz="1400" b="1" dirty="0">
                <a:solidFill>
                  <a:srgbClr val="C89140"/>
                </a:solidFill>
                <a:latin typeface="system-ui"/>
              </a:rPr>
              <a:t> </a:t>
            </a:r>
            <a:r>
              <a:rPr lang="pl-PL" sz="1400" dirty="0">
                <a:latin typeface="system-ui"/>
              </a:rPr>
              <a:t>Merging both datasets into one dataframe</a:t>
            </a:r>
          </a:p>
          <a:p>
            <a:pPr marL="108000" algn="r">
              <a:spcBef>
                <a:spcPts val="600"/>
              </a:spcBef>
              <a:buNone/>
            </a:pPr>
            <a:r>
              <a:rPr lang="pl-PL" sz="1400" b="1" dirty="0">
                <a:solidFill>
                  <a:srgbClr val="C6B35F"/>
                </a:solidFill>
                <a:latin typeface="system-ui"/>
              </a:rPr>
              <a:t>O1.4</a:t>
            </a:r>
            <a:r>
              <a:rPr lang="pl-PL" sz="1400" b="1" dirty="0">
                <a:solidFill>
                  <a:srgbClr val="C89140"/>
                </a:solidFill>
                <a:latin typeface="system-ui"/>
              </a:rPr>
              <a:t> </a:t>
            </a:r>
            <a:r>
              <a:rPr lang="pl-PL" sz="1400" dirty="0">
                <a:latin typeface="system-ui"/>
              </a:rPr>
              <a:t>Missing data review and saving results</a:t>
            </a:r>
            <a:endParaRPr lang="pl-PL" sz="1600" dirty="0">
              <a:latin typeface="system-ui"/>
            </a:endParaRPr>
          </a:p>
          <a:p>
            <a:br>
              <a:rPr lang="pl-PL" dirty="0"/>
            </a:br>
            <a:r>
              <a:rPr lang="pl-PL" dirty="0"/>
              <a:t>	</a:t>
            </a:r>
          </a:p>
          <a:p>
            <a:pPr algn="r"/>
            <a:r>
              <a:rPr lang="en-US" sz="1600" b="1" dirty="0">
                <a:solidFill>
                  <a:srgbClr val="C6B35F"/>
                </a:solidFill>
                <a:latin typeface="system-ui"/>
              </a:rPr>
              <a:t>Python</a:t>
            </a:r>
            <a:r>
              <a:rPr lang="pl-PL" sz="1600" dirty="0">
                <a:latin typeface="system-ui"/>
              </a:rPr>
              <a:t> </a:t>
            </a:r>
            <a:r>
              <a:rPr lang="en-US" sz="1600" dirty="0">
                <a:latin typeface="system-ui"/>
              </a:rPr>
              <a:t>{pandas, </a:t>
            </a:r>
            <a:r>
              <a:rPr lang="pl-PL" sz="1600" dirty="0">
                <a:latin typeface="system-ui"/>
              </a:rPr>
              <a:t>matplotlib, seaborn</a:t>
            </a:r>
            <a:r>
              <a:rPr lang="en-US" sz="1600" dirty="0">
                <a:latin typeface="system-ui"/>
              </a:rPr>
              <a:t>}</a:t>
            </a:r>
          </a:p>
          <a:p>
            <a:pPr algn="r"/>
            <a:endParaRPr lang="en-US" sz="1600" dirty="0">
              <a:latin typeface="system-ui"/>
            </a:endParaRPr>
          </a:p>
          <a:p>
            <a:pPr algn="r"/>
            <a:r>
              <a:rPr lang="en-US" sz="1600" b="1" dirty="0">
                <a:solidFill>
                  <a:srgbClr val="C6B35F"/>
                </a:solidFill>
                <a:latin typeface="system-ui"/>
              </a:rPr>
              <a:t>Git &amp; GitHub</a:t>
            </a:r>
            <a:r>
              <a:rPr lang="pl-PL" sz="1600" b="1" dirty="0">
                <a:solidFill>
                  <a:srgbClr val="C6B35F"/>
                </a:solidFill>
                <a:latin typeface="system-ui"/>
              </a:rPr>
              <a:t> </a:t>
            </a:r>
            <a:r>
              <a:rPr lang="pl-PL" sz="1600" dirty="0">
                <a:latin typeface="system-ui"/>
              </a:rPr>
              <a:t>for version control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012E8FF-6F4C-D94E-1EF5-598416562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55" y="5067543"/>
            <a:ext cx="476965" cy="40989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F4B6C1B-1979-D9EC-ADF1-C15C5D654624}"/>
              </a:ext>
            </a:extLst>
          </p:cNvPr>
          <p:cNvSpPr/>
          <p:nvPr/>
        </p:nvSpPr>
        <p:spPr>
          <a:xfrm>
            <a:off x="425253" y="677504"/>
            <a:ext cx="5670748" cy="108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D9BFF-8DDD-111B-ACC8-F769FBAA7579}"/>
              </a:ext>
            </a:extLst>
          </p:cNvPr>
          <p:cNvSpPr txBox="1"/>
          <p:nvPr/>
        </p:nvSpPr>
        <p:spPr>
          <a:xfrm>
            <a:off x="425251" y="1066922"/>
            <a:ext cx="5670748" cy="516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dirty="0"/>
              <a:t>Imagine you are a </a:t>
            </a:r>
            <a:r>
              <a:rPr lang="pl-PL" sz="1600" b="1" dirty="0">
                <a:solidFill>
                  <a:srgbClr val="97497B"/>
                </a:solidFill>
              </a:rPr>
              <a:t>Market Research Consultant</a:t>
            </a:r>
            <a:r>
              <a:rPr lang="pl-PL" sz="1600" dirty="0"/>
              <a:t> hired </a:t>
            </a:r>
            <a:br>
              <a:rPr lang="pl-PL" sz="1600" dirty="0"/>
            </a:br>
            <a:r>
              <a:rPr lang="pl-PL" sz="1600" dirty="0"/>
              <a:t>by a mobile app company. One of your tasks is to assist </a:t>
            </a:r>
            <a:br>
              <a:rPr lang="pl-PL" sz="1600" dirty="0"/>
            </a:br>
            <a:r>
              <a:rPr lang="pl-PL" sz="1600" dirty="0"/>
              <a:t>the </a:t>
            </a:r>
            <a:r>
              <a:rPr lang="pl-PL" sz="1600" b="1" dirty="0">
                <a:solidFill>
                  <a:srgbClr val="97497B"/>
                </a:solidFill>
              </a:rPr>
              <a:t>Product Manager</a:t>
            </a:r>
            <a:r>
              <a:rPr lang="en-US" sz="1600" b="1" dirty="0">
                <a:solidFill>
                  <a:srgbClr val="A38600"/>
                </a:solidFill>
              </a:rPr>
              <a:t> </a:t>
            </a:r>
            <a:r>
              <a:rPr lang="pl-PL" sz="1600" dirty="0"/>
              <a:t>on the evaluation of their app ideas. 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Ap creators</a:t>
            </a:r>
            <a:r>
              <a:rPr lang="en-US" sz="1600" dirty="0"/>
              <a:t> need </a:t>
            </a:r>
            <a:r>
              <a:rPr lang="en-US" sz="1600" b="1" dirty="0">
                <a:solidFill>
                  <a:srgbClr val="C6B35F"/>
                </a:solidFill>
              </a:rPr>
              <a:t>fast, objective insight </a:t>
            </a:r>
            <a:r>
              <a:rPr lang="en-US" sz="1600" dirty="0"/>
              <a:t>into how their concept fits the current mobile-app landscape</a:t>
            </a:r>
            <a:r>
              <a:rPr lang="pl-PL" sz="1600" dirty="0"/>
              <a:t>.</a:t>
            </a:r>
          </a:p>
          <a:p>
            <a:pPr algn="just"/>
            <a:br>
              <a:rPr lang="pl-PL" sz="1600" dirty="0"/>
            </a:br>
            <a:r>
              <a:rPr lang="en-US" sz="1600" b="1" dirty="0"/>
              <a:t>This Consultant Dashboard provides exactly that</a:t>
            </a:r>
            <a:r>
              <a:rPr lang="pl-PL" sz="1600" b="1" dirty="0"/>
              <a:t>.</a:t>
            </a:r>
          </a:p>
          <a:p>
            <a:pPr algn="just"/>
            <a:br>
              <a:rPr lang="pl-PL" sz="1600" dirty="0"/>
            </a:br>
            <a:r>
              <a:rPr lang="en-US" sz="1600" dirty="0"/>
              <a:t>It </a:t>
            </a:r>
            <a:r>
              <a:rPr lang="pl-PL" sz="1600" dirty="0"/>
              <a:t>helps the Consultant</a:t>
            </a:r>
            <a:r>
              <a:rPr lang="pl-PL" sz="1600" b="1" dirty="0">
                <a:solidFill>
                  <a:srgbClr val="97497B"/>
                </a:solidFill>
              </a:rPr>
              <a:t> </a:t>
            </a:r>
            <a:r>
              <a:rPr lang="pl-PL" sz="1600" dirty="0"/>
              <a:t>to:</a:t>
            </a:r>
          </a:p>
          <a:p>
            <a:pPr marL="179388" indent="-1793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present </a:t>
            </a:r>
            <a:r>
              <a:rPr lang="en-US" sz="1600" dirty="0"/>
              <a:t>the </a:t>
            </a:r>
            <a:r>
              <a:rPr lang="en-US" sz="1600" b="1" dirty="0">
                <a:solidFill>
                  <a:srgbClr val="C6B35F"/>
                </a:solidFill>
              </a:rPr>
              <a:t>most competitive </a:t>
            </a:r>
            <a:r>
              <a:rPr lang="pl-PL" sz="1600" dirty="0"/>
              <a:t>app </a:t>
            </a:r>
            <a:r>
              <a:rPr lang="en-US" sz="1600" dirty="0"/>
              <a:t>categories</a:t>
            </a:r>
            <a:r>
              <a:rPr lang="pl-PL" sz="1600" dirty="0"/>
              <a:t>;</a:t>
            </a:r>
          </a:p>
          <a:p>
            <a:pPr marL="179388" indent="-1793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showcase </a:t>
            </a:r>
            <a:r>
              <a:rPr lang="en-US" sz="1600" dirty="0"/>
              <a:t>the specific category </a:t>
            </a:r>
            <a:r>
              <a:rPr lang="pl-PL" sz="1600" dirty="0"/>
              <a:t>targeted by the creators;</a:t>
            </a:r>
          </a:p>
          <a:p>
            <a:pPr marL="179388" indent="-1793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6B35F"/>
                </a:solidFill>
              </a:rPr>
              <a:t>compare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C6B35F"/>
                </a:solidFill>
              </a:rPr>
              <a:t>their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C6B35F"/>
                </a:solidFill>
              </a:rPr>
              <a:t>goals against market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C6B35F"/>
                </a:solidFill>
              </a:rPr>
              <a:t>medians</a:t>
            </a:r>
            <a:r>
              <a:rPr lang="en-US" sz="1600" dirty="0"/>
              <a:t>.</a:t>
            </a:r>
            <a:endParaRPr lang="pl-PL" sz="1600" b="1" dirty="0">
              <a:solidFill>
                <a:srgbClr val="C04F15"/>
              </a:solidFill>
              <a:latin typeface="system-ui"/>
            </a:endParaRPr>
          </a:p>
          <a:p>
            <a:endParaRPr lang="pl-PL" sz="1600" b="1" dirty="0">
              <a:solidFill>
                <a:srgbClr val="C04F15"/>
              </a:solidFill>
              <a:latin typeface="system-ui"/>
            </a:endParaRPr>
          </a:p>
          <a:p>
            <a:endParaRPr lang="pl-PL" sz="1600" b="1" dirty="0">
              <a:solidFill>
                <a:srgbClr val="C04F15"/>
              </a:solidFill>
              <a:latin typeface="system-ui"/>
            </a:endParaRPr>
          </a:p>
          <a:p>
            <a:endParaRPr lang="pl-PL" sz="1600" b="1" dirty="0">
              <a:solidFill>
                <a:srgbClr val="A38600"/>
              </a:solidFill>
              <a:latin typeface="system-ui"/>
            </a:endParaRPr>
          </a:p>
          <a:p>
            <a:pPr marL="714375" algn="just"/>
            <a:r>
              <a:rPr lang="en-US" sz="1600" dirty="0"/>
              <a:t>With these inputs, the </a:t>
            </a:r>
            <a:r>
              <a:rPr lang="pl-PL" sz="1600" dirty="0"/>
              <a:t>Product Manager </a:t>
            </a:r>
            <a:r>
              <a:rPr lang="en-US" sz="1600" dirty="0"/>
              <a:t>can ground their decisions in data rather than assumptions </a:t>
            </a:r>
            <a:br>
              <a:rPr lang="pl-PL" sz="1600" dirty="0"/>
            </a:br>
            <a:r>
              <a:rPr lang="en-US" sz="1600" dirty="0"/>
              <a:t>and quickly understand where their app stands relative to the market.</a:t>
            </a:r>
            <a:endParaRPr lang="pl-PL" sz="1600" dirty="0">
              <a:latin typeface="system-u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F14185-0149-60CF-6EF8-4D4D88A3055C}"/>
              </a:ext>
            </a:extLst>
          </p:cNvPr>
          <p:cNvSpPr/>
          <p:nvPr/>
        </p:nvSpPr>
        <p:spPr>
          <a:xfrm>
            <a:off x="359970" y="839413"/>
            <a:ext cx="5751430" cy="5970494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61244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321D-AD48-3FA3-F650-7DA018257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A2ABEFF-91BE-06D8-2369-9B4B3FB1DF0B}"/>
              </a:ext>
            </a:extLst>
          </p:cNvPr>
          <p:cNvSpPr/>
          <p:nvPr/>
        </p:nvSpPr>
        <p:spPr>
          <a:xfrm>
            <a:off x="455634" y="989967"/>
            <a:ext cx="5346157" cy="1464707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07D1AB-0C80-A4DF-3E2A-1479667EA913}"/>
              </a:ext>
            </a:extLst>
          </p:cNvPr>
          <p:cNvSpPr/>
          <p:nvPr/>
        </p:nvSpPr>
        <p:spPr>
          <a:xfrm>
            <a:off x="455633" y="2894525"/>
            <a:ext cx="5346157" cy="624456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9EFDA6-4A18-957E-AAC3-1E67B12C9470}"/>
              </a:ext>
            </a:extLst>
          </p:cNvPr>
          <p:cNvSpPr/>
          <p:nvPr/>
        </p:nvSpPr>
        <p:spPr>
          <a:xfrm>
            <a:off x="3061551" y="4005686"/>
            <a:ext cx="2740239" cy="1172906"/>
          </a:xfrm>
          <a:prstGeom prst="rect">
            <a:avLst/>
          </a:prstGeom>
          <a:solidFill>
            <a:srgbClr val="1E1F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BDD7C-091D-C293-6F32-6136A9A5AECE}"/>
              </a:ext>
            </a:extLst>
          </p:cNvPr>
          <p:cNvSpPr txBox="1"/>
          <p:nvPr/>
        </p:nvSpPr>
        <p:spPr>
          <a:xfrm>
            <a:off x="425250" y="154282"/>
            <a:ext cx="115524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1" dirty="0"/>
              <a:t>Examples of data preprocessing solutions</a:t>
            </a:r>
            <a:endParaRPr lang="LID4096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E15250-4156-7DBF-73A6-CB8802573C0A}"/>
              </a:ext>
            </a:extLst>
          </p:cNvPr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noFill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FD8827-9C54-4BBF-421D-E904E75B134A}"/>
              </a:ext>
            </a:extLst>
          </p:cNvPr>
          <p:cNvSpPr/>
          <p:nvPr/>
        </p:nvSpPr>
        <p:spPr>
          <a:xfrm>
            <a:off x="425252" y="677501"/>
            <a:ext cx="5670748" cy="108000"/>
          </a:xfrm>
          <a:prstGeom prst="rect">
            <a:avLst/>
          </a:prstGeom>
          <a:solidFill>
            <a:srgbClr val="97497B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94987E-F132-EFEF-5DD9-240765EAF6BE}"/>
              </a:ext>
            </a:extLst>
          </p:cNvPr>
          <p:cNvSpPr txBox="1"/>
          <p:nvPr/>
        </p:nvSpPr>
        <p:spPr>
          <a:xfrm>
            <a:off x="6095999" y="899322"/>
            <a:ext cx="5302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b="1" dirty="0">
                <a:solidFill>
                  <a:srgbClr val="97497B"/>
                </a:solidFill>
              </a:rPr>
              <a:t>Quality checks: </a:t>
            </a:r>
            <a:r>
              <a:rPr lang="pl-PL" sz="1400" dirty="0"/>
              <a:t>I inspected dataset columns and their content to catch potential anomalies in data types. Here I found data entry and corrected them to avoid losing otherwise correct entries.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F545C0-DA5C-7EC2-A984-D578AF89F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34" y="989967"/>
            <a:ext cx="4460398" cy="1464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420B73-4186-604F-221B-095ECF42B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34" y="2894524"/>
            <a:ext cx="4460398" cy="6244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AC72E4-BF51-9D3E-7C3F-3B3C76D9CD1E}"/>
              </a:ext>
            </a:extLst>
          </p:cNvPr>
          <p:cNvSpPr txBox="1"/>
          <p:nvPr/>
        </p:nvSpPr>
        <p:spPr>
          <a:xfrm>
            <a:off x="6095999" y="2805037"/>
            <a:ext cx="530231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b="1" dirty="0">
                <a:solidFill>
                  <a:srgbClr val="97497B"/>
                </a:solidFill>
              </a:rPr>
              <a:t>Transforming variables:</a:t>
            </a:r>
            <a:r>
              <a:rPr lang="pl-PL" sz="1400" b="1" dirty="0">
                <a:solidFill>
                  <a:srgbClr val="97497B"/>
                </a:solidFill>
              </a:rPr>
              <a:t> </a:t>
            </a:r>
            <a:r>
              <a:rPr lang="pl-PL" sz="1400" dirty="0"/>
              <a:t>I transformed the ’Last Updated’ column into a correct date-time format and displayed the percentage of entries that could potentially be lost due to conversion.</a:t>
            </a:r>
            <a:endParaRPr lang="pl-PL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61E23-0202-6DA4-9EA1-706959925E6A}"/>
              </a:ext>
            </a:extLst>
          </p:cNvPr>
          <p:cNvSpPr txBox="1"/>
          <p:nvPr/>
        </p:nvSpPr>
        <p:spPr>
          <a:xfrm>
            <a:off x="6096001" y="3900454"/>
            <a:ext cx="53023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b="1" dirty="0">
                <a:solidFill>
                  <a:srgbClr val="97497B"/>
                </a:solidFill>
              </a:rPr>
              <a:t>Missing data review:</a:t>
            </a:r>
            <a:r>
              <a:rPr lang="pl-PL" sz="1400" b="1" dirty="0">
                <a:solidFill>
                  <a:srgbClr val="97497B"/>
                </a:solidFill>
              </a:rPr>
              <a:t> </a:t>
            </a:r>
            <a:r>
              <a:rPr lang="pl-PL" sz="1400" dirty="0"/>
              <a:t>I calculated and evaluated missing data per column. Knowing the structure and characteristics of both datasets, I was able to diagnose the cause of data entry gaps.</a:t>
            </a:r>
            <a:endParaRPr lang="pl-PL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2A4508-5E43-392B-4203-BE8D04B7F4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249" b="20276"/>
          <a:stretch>
            <a:fillRect/>
          </a:stretch>
        </p:blipFill>
        <p:spPr>
          <a:xfrm>
            <a:off x="455634" y="4005687"/>
            <a:ext cx="2486742" cy="11729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1530D6-BDFF-4BC4-1B6C-237E792581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20"/>
          <a:stretch>
            <a:fillRect/>
          </a:stretch>
        </p:blipFill>
        <p:spPr>
          <a:xfrm>
            <a:off x="3052498" y="4005687"/>
            <a:ext cx="2749293" cy="87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3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60B6-61F6-0109-5878-E3E46FCB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35B882-6DCD-960E-FED7-36A6EE53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"/>
          <a:stretch>
            <a:fillRect/>
          </a:stretch>
        </p:blipFill>
        <p:spPr>
          <a:xfrm>
            <a:off x="436727" y="638550"/>
            <a:ext cx="9447057" cy="5322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416419-826E-74D8-513A-B728AB10D38A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A2B24-D713-761C-C027-292F016F5ACF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3305B7-3138-1D53-6459-0888A8E6FC22}"/>
              </a:ext>
            </a:extLst>
          </p:cNvPr>
          <p:cNvSpPr/>
          <p:nvPr/>
        </p:nvSpPr>
        <p:spPr>
          <a:xfrm>
            <a:off x="407988" y="1140415"/>
            <a:ext cx="9471402" cy="482111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CE9C7C3-BA04-04CE-DC4E-CB209103CAD6}"/>
                  </a:ext>
                </a:extLst>
              </p14:cNvPr>
              <p14:cNvContentPartPr/>
              <p14:nvPr/>
            </p14:nvContentPartPr>
            <p14:xfrm flipH="1">
              <a:off x="5450485" y="1275155"/>
              <a:ext cx="789120" cy="1064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CE9C7C3-BA04-04CE-DC4E-CB209103CAD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5432485" y="1257155"/>
                <a:ext cx="824760" cy="11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6E44A9F-F8F3-D9AB-E3AF-C68CB434F114}"/>
                  </a:ext>
                </a:extLst>
              </p14:cNvPr>
              <p14:cNvContentPartPr/>
              <p14:nvPr/>
            </p14:nvContentPartPr>
            <p14:xfrm>
              <a:off x="9176429" y="550903"/>
              <a:ext cx="989640" cy="677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6E44A9F-F8F3-D9AB-E3AF-C68CB434F11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58429" y="532903"/>
                <a:ext cx="1025280" cy="7128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C70336F-231F-FB8D-8C5B-F0EF0A619B7E}"/>
              </a:ext>
            </a:extLst>
          </p:cNvPr>
          <p:cNvSpPr txBox="1"/>
          <p:nvPr/>
        </p:nvSpPr>
        <p:spPr>
          <a:xfrm>
            <a:off x="6432642" y="2186106"/>
            <a:ext cx="3587890" cy="2009061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l-PL" sz="1400" dirty="0"/>
              <a:t>Top panel can be used to navigate between three pages of the Dashboard: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/>
              <a:t>EXPO</a:t>
            </a:r>
            <a:r>
              <a:rPr lang="pl-PL" sz="1400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/>
              <a:t>YOUR CHOICE</a:t>
            </a:r>
            <a:r>
              <a:rPr lang="pl-PL" sz="1400" dirty="0"/>
              <a:t>,</a:t>
            </a:r>
            <a:endParaRPr lang="pl-PL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/>
              <a:t>YOUR TRENDS</a:t>
            </a:r>
            <a:r>
              <a:rPr lang="pl-PL" sz="1400" dirty="0"/>
              <a:t>.</a:t>
            </a:r>
            <a:br>
              <a:rPr lang="pl-PL" sz="1400" dirty="0"/>
            </a:br>
            <a:endParaRPr lang="pl-PL" sz="1400" dirty="0"/>
          </a:p>
          <a:p>
            <a:r>
              <a:rPr lang="pl-PL" sz="1400" dirty="0">
                <a:solidFill>
                  <a:srgbClr val="97497B"/>
                </a:solidFill>
              </a:rPr>
              <a:t>Questionmark tooltip </a:t>
            </a:r>
            <a:r>
              <a:rPr lang="pl-PL" sz="1400" dirty="0"/>
              <a:t>informs users </a:t>
            </a:r>
          </a:p>
          <a:p>
            <a:r>
              <a:rPr lang="pl-PL" sz="1400" dirty="0"/>
              <a:t>how to move between pages.</a:t>
            </a:r>
          </a:p>
        </p:txBody>
      </p:sp>
    </p:spTree>
    <p:extLst>
      <p:ext uri="{BB962C8B-B14F-4D97-AF65-F5344CB8AC3E}">
        <p14:creationId xmlns:p14="http://schemas.microsoft.com/office/powerpoint/2010/main" val="115622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DB900-A654-C5E0-E44D-1813585D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326808-B158-F9AF-A48B-4F04D84964BB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60FB78-2E86-DF55-0DB8-AA3FAAF1D9F1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A6FA8A-3A51-BA46-11D7-80D9217CF4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"/>
          <a:stretch>
            <a:fillRect/>
          </a:stretch>
        </p:blipFill>
        <p:spPr>
          <a:xfrm>
            <a:off x="436727" y="638550"/>
            <a:ext cx="9447057" cy="532297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9B525E0-2396-FD18-FE7A-65807AE011C9}"/>
              </a:ext>
            </a:extLst>
          </p:cNvPr>
          <p:cNvSpPr/>
          <p:nvPr/>
        </p:nvSpPr>
        <p:spPr>
          <a:xfrm>
            <a:off x="5087938" y="1140415"/>
            <a:ext cx="4791452" cy="482111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6247952-0354-8A27-A0F6-F921906E2B6E}"/>
                  </a:ext>
                </a:extLst>
              </p14:cNvPr>
              <p14:cNvContentPartPr/>
              <p14:nvPr/>
            </p14:nvContentPartPr>
            <p14:xfrm flipH="1">
              <a:off x="6240097" y="1250597"/>
              <a:ext cx="415326" cy="560273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6247952-0354-8A27-A0F6-F921906E2B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6222102" y="1232605"/>
                <a:ext cx="450956" cy="59589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8B4859-755C-157C-D4BB-CCBE1899F1B8}"/>
              </a:ext>
            </a:extLst>
          </p:cNvPr>
          <p:cNvSpPr txBox="1"/>
          <p:nvPr/>
        </p:nvSpPr>
        <p:spPr>
          <a:xfrm>
            <a:off x="6655423" y="1530733"/>
            <a:ext cx="3903664" cy="1532334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b="1" dirty="0"/>
              <a:t>EXPO</a:t>
            </a:r>
            <a:r>
              <a:rPr lang="pl-PL" sz="1400" dirty="0"/>
              <a:t> page </a:t>
            </a:r>
            <a:r>
              <a:rPr lang="en-US" sz="1400" dirty="0"/>
              <a:t>gives a high-level market overview </a:t>
            </a:r>
            <a:r>
              <a:rPr lang="pl-PL" sz="1400" dirty="0"/>
              <a:t>of the most app-packed Categories.</a:t>
            </a:r>
          </a:p>
          <a:p>
            <a:pPr algn="just"/>
            <a:br>
              <a:rPr lang="pl-PL" sz="1400" dirty="0"/>
            </a:br>
            <a:r>
              <a:rPr lang="pl-PL" sz="1400" dirty="0"/>
              <a:t>Barplots show the number of Apps, </a:t>
            </a:r>
          </a:p>
          <a:p>
            <a:pPr algn="just"/>
            <a:r>
              <a:rPr lang="pl-PL" sz="1400" dirty="0"/>
              <a:t>the number of app Installs and the number </a:t>
            </a:r>
          </a:p>
          <a:p>
            <a:pPr algn="just"/>
            <a:r>
              <a:rPr lang="pl-PL" sz="1400" dirty="0"/>
              <a:t>of star Ratings in each Category</a:t>
            </a:r>
            <a:r>
              <a:rPr lang="en-US" sz="1400" dirty="0"/>
              <a:t>. 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265009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AAEA7-B308-F226-D030-01B7BAB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9F8B0B-1811-DCB4-3B2D-ED80975960BB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4A3093-4480-6B28-10BE-353FA150F04C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C7998D3-3672-B211-963D-343B259E9F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"/>
          <a:stretch>
            <a:fillRect/>
          </a:stretch>
        </p:blipFill>
        <p:spPr>
          <a:xfrm>
            <a:off x="436727" y="638550"/>
            <a:ext cx="9447057" cy="532297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0410AFB-151F-C8B7-8379-2A6625F67EA3}"/>
              </a:ext>
            </a:extLst>
          </p:cNvPr>
          <p:cNvSpPr/>
          <p:nvPr/>
        </p:nvSpPr>
        <p:spPr>
          <a:xfrm>
            <a:off x="5087938" y="1140415"/>
            <a:ext cx="4791452" cy="482111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F0927-BAF5-ECC0-A12D-60A4960FC64C}"/>
              </a:ext>
            </a:extLst>
          </p:cNvPr>
          <p:cNvSpPr txBox="1"/>
          <p:nvPr/>
        </p:nvSpPr>
        <p:spPr>
          <a:xfrm>
            <a:off x="5639683" y="4250215"/>
            <a:ext cx="2977312" cy="817245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All plots display the corresponding </a:t>
            </a:r>
            <a:r>
              <a:rPr lang="pl-PL" sz="1400" dirty="0">
                <a:solidFill>
                  <a:srgbClr val="A38600"/>
                </a:solidFill>
              </a:rPr>
              <a:t>median values </a:t>
            </a:r>
            <a:r>
              <a:rPr lang="pl-PL" sz="1400" dirty="0"/>
              <a:t>across Categories. </a:t>
            </a:r>
          </a:p>
          <a:p>
            <a:pPr algn="just"/>
            <a:r>
              <a:rPr lang="pl-PL" sz="1400" dirty="0"/>
              <a:t>Medians are calculated using DAX.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7D4810-7D5B-EB6F-49DB-7BF433226F2E}"/>
                  </a:ext>
                </a:extLst>
              </p14:cNvPr>
              <p14:cNvContentPartPr/>
              <p14:nvPr/>
            </p14:nvContentPartPr>
            <p14:xfrm rot="16995602" flipH="1">
              <a:off x="4487185" y="4539562"/>
              <a:ext cx="677109" cy="1356517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7D4810-7D5B-EB6F-49DB-7BF433226F2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6995602" flipH="1">
                <a:off x="4472786" y="4525162"/>
                <a:ext cx="705187" cy="1384598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E2571C9-CF38-74C6-E5A4-D11AB0B276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30" t="5158" r="1814" b="3783"/>
          <a:stretch>
            <a:fillRect/>
          </a:stretch>
        </p:blipFill>
        <p:spPr>
          <a:xfrm>
            <a:off x="5793113" y="5371707"/>
            <a:ext cx="2823882" cy="809322"/>
          </a:xfrm>
          <a:prstGeom prst="rect">
            <a:avLst/>
          </a:prstGeom>
          <a:ln w="38100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E101D00-536F-5A59-C293-6C9A1F79200A}"/>
                  </a:ext>
                </a:extLst>
              </p14:cNvPr>
              <p14:cNvContentPartPr/>
              <p14:nvPr/>
            </p14:nvContentPartPr>
            <p14:xfrm>
              <a:off x="5521313" y="5289000"/>
              <a:ext cx="354240" cy="1032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E101D00-536F-5A59-C293-6C9A1F7920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03673" y="5271360"/>
                <a:ext cx="389880" cy="10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E23750E-0A63-5AAB-5D7C-E60EF17533B3}"/>
                  </a:ext>
                </a:extLst>
              </p14:cNvPr>
              <p14:cNvContentPartPr/>
              <p14:nvPr/>
            </p14:nvContentPartPr>
            <p14:xfrm flipH="1">
              <a:off x="8492298" y="5314029"/>
              <a:ext cx="354240" cy="1032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E23750E-0A63-5AAB-5D7C-E60EF17533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flipH="1">
                <a:off x="8474298" y="5296389"/>
                <a:ext cx="389880" cy="10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C5E73F-5505-300A-D28B-C3E1A6C53E90}"/>
                  </a:ext>
                </a:extLst>
              </p14:cNvPr>
              <p14:cNvContentPartPr/>
              <p14:nvPr/>
            </p14:nvContentPartPr>
            <p14:xfrm flipH="1">
              <a:off x="6240097" y="1250597"/>
              <a:ext cx="415326" cy="560273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C5E73F-5505-300A-D28B-C3E1A6C53E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 flipH="1">
                <a:off x="6222102" y="1232605"/>
                <a:ext cx="450956" cy="595897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6075C34-F2E3-DB7A-E7E3-7B2BC4FD2BB2}"/>
              </a:ext>
            </a:extLst>
          </p:cNvPr>
          <p:cNvSpPr txBox="1"/>
          <p:nvPr/>
        </p:nvSpPr>
        <p:spPr>
          <a:xfrm>
            <a:off x="6655423" y="1530733"/>
            <a:ext cx="3903664" cy="1293971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b="1" dirty="0"/>
              <a:t>EXPO</a:t>
            </a:r>
            <a:r>
              <a:rPr lang="pl-PL" sz="1400" dirty="0"/>
              <a:t> page </a:t>
            </a:r>
            <a:r>
              <a:rPr lang="en-US" sz="1400" dirty="0"/>
              <a:t>gives a high-level market overview </a:t>
            </a:r>
            <a:r>
              <a:rPr lang="pl-PL" sz="1400" dirty="0"/>
              <a:t>of the most app-packed Categories.</a:t>
            </a:r>
          </a:p>
          <a:p>
            <a:pPr algn="just"/>
            <a:br>
              <a:rPr lang="pl-PL" sz="1400" dirty="0"/>
            </a:br>
            <a:r>
              <a:rPr lang="pl-PL" sz="1400" dirty="0"/>
              <a:t>Barplots show the number of Apps, App Installs and Star Ratings in each Category</a:t>
            </a:r>
            <a:r>
              <a:rPr lang="en-US" sz="1400" dirty="0"/>
              <a:t>. 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251916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B12DA-3024-70C0-4D8C-BCF630C07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CFEB74-AB6F-FD17-3A66-F37D7BF5C5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"/>
          <a:stretch>
            <a:fillRect/>
          </a:stretch>
        </p:blipFill>
        <p:spPr>
          <a:xfrm>
            <a:off x="436727" y="638550"/>
            <a:ext cx="9447057" cy="5322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812B8A-0B5C-3BE7-5710-ECA1D856372F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FFC718-C020-E14F-B0EE-08D6258BFC92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333A50-EAB4-E053-8708-298F598B56A4}"/>
              </a:ext>
            </a:extLst>
          </p:cNvPr>
          <p:cNvSpPr/>
          <p:nvPr/>
        </p:nvSpPr>
        <p:spPr>
          <a:xfrm>
            <a:off x="296486" y="1140503"/>
            <a:ext cx="4791452" cy="482111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55AEFA-831F-154D-7FBB-07A71CCF79D8}"/>
              </a:ext>
            </a:extLst>
          </p:cNvPr>
          <p:cNvSpPr txBox="1"/>
          <p:nvPr/>
        </p:nvSpPr>
        <p:spPr>
          <a:xfrm>
            <a:off x="946829" y="1489493"/>
            <a:ext cx="3637787" cy="1532334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Median </a:t>
            </a:r>
            <a:r>
              <a:rPr lang="pl-PL" sz="1400" dirty="0">
                <a:solidFill>
                  <a:srgbClr val="A38600"/>
                </a:solidFill>
              </a:rPr>
              <a:t>Star Rating </a:t>
            </a:r>
            <a:r>
              <a:rPr lang="pl-PL" sz="1400" dirty="0"/>
              <a:t>of displayed Categories is shown on the right.</a:t>
            </a:r>
          </a:p>
          <a:p>
            <a:pPr algn="just"/>
            <a:br>
              <a:rPr lang="pl-PL" sz="1400" dirty="0"/>
            </a:br>
            <a:r>
              <a:rPr lang="pl-PL" sz="1400" dirty="0"/>
              <a:t>Besides, some Apps receive text Reviews from users. Gauge plots show the median </a:t>
            </a:r>
            <a:r>
              <a:rPr lang="pl-PL" sz="1400" dirty="0">
                <a:solidFill>
                  <a:srgbClr val="A38600"/>
                </a:solidFill>
              </a:rPr>
              <a:t>Polarity</a:t>
            </a:r>
            <a:r>
              <a:rPr lang="pl-PL" sz="1400" dirty="0"/>
              <a:t> and </a:t>
            </a:r>
            <a:r>
              <a:rPr lang="pl-PL" sz="1400" dirty="0">
                <a:solidFill>
                  <a:srgbClr val="A38600"/>
                </a:solidFill>
              </a:rPr>
              <a:t>Subjectivity</a:t>
            </a:r>
            <a:r>
              <a:rPr lang="pl-PL" sz="1400" dirty="0"/>
              <a:t> of those Reviews.</a:t>
            </a:r>
            <a:r>
              <a:rPr lang="pl-PL" sz="1400" b="1" dirty="0"/>
              <a:t> </a:t>
            </a:r>
            <a:endParaRPr lang="pl-PL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F62FCB-9FDD-4B7D-FEA8-16EA510E7695}"/>
              </a:ext>
            </a:extLst>
          </p:cNvPr>
          <p:cNvSpPr/>
          <p:nvPr/>
        </p:nvSpPr>
        <p:spPr>
          <a:xfrm>
            <a:off x="5087938" y="3239627"/>
            <a:ext cx="4791452" cy="2975885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0902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667E7-FAEB-EF7A-BA30-A86125779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845900-1B19-05E9-CD99-DA94DDDAD3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"/>
          <a:stretch>
            <a:fillRect/>
          </a:stretch>
        </p:blipFill>
        <p:spPr>
          <a:xfrm>
            <a:off x="436727" y="638550"/>
            <a:ext cx="9447057" cy="5322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CC9C09-F982-9942-DF68-40136B803D5D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0765E0-6AD2-BCFF-CD97-644812CACED8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766BF2-5085-362A-0294-F44C98645A9A}"/>
              </a:ext>
            </a:extLst>
          </p:cNvPr>
          <p:cNvSpPr/>
          <p:nvPr/>
        </p:nvSpPr>
        <p:spPr>
          <a:xfrm>
            <a:off x="296486" y="1140503"/>
            <a:ext cx="4791452" cy="482111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3C3BC1-88D0-C0B8-778C-EB4EDDB71746}"/>
              </a:ext>
            </a:extLst>
          </p:cNvPr>
          <p:cNvSpPr txBox="1"/>
          <p:nvPr/>
        </p:nvSpPr>
        <p:spPr>
          <a:xfrm>
            <a:off x="1052261" y="3820877"/>
            <a:ext cx="3637787" cy="1532334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Finally, the bar plot show the percentage </a:t>
            </a:r>
          </a:p>
          <a:p>
            <a:pPr algn="just"/>
            <a:r>
              <a:rPr lang="pl-PL" sz="1400" dirty="0"/>
              <a:t>of </a:t>
            </a:r>
            <a:r>
              <a:rPr lang="pl-PL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Negative</a:t>
            </a:r>
            <a:r>
              <a:rPr lang="pl-PL" sz="1400" dirty="0"/>
              <a:t>, </a:t>
            </a:r>
            <a:r>
              <a:rPr lang="pl-PL" sz="1400" dirty="0">
                <a:solidFill>
                  <a:schemeClr val="bg1">
                    <a:lumMod val="65000"/>
                  </a:schemeClr>
                </a:solidFill>
              </a:rPr>
              <a:t>Neutral</a:t>
            </a:r>
            <a:r>
              <a:rPr lang="pl-PL" sz="1400" dirty="0"/>
              <a:t> and </a:t>
            </a:r>
            <a:r>
              <a:rPr lang="pl-PL" sz="1400" dirty="0">
                <a:solidFill>
                  <a:srgbClr val="A38600"/>
                </a:solidFill>
              </a:rPr>
              <a:t>Positive</a:t>
            </a:r>
            <a:r>
              <a:rPr lang="pl-PL" sz="1400" dirty="0"/>
              <a:t> Sentiments in text Reviews per Category. 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Users can inspect how Apps in most popular Categories are judged.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242F72-8000-5EF4-9509-7C1383AA2A39}"/>
              </a:ext>
            </a:extLst>
          </p:cNvPr>
          <p:cNvSpPr/>
          <p:nvPr/>
        </p:nvSpPr>
        <p:spPr>
          <a:xfrm>
            <a:off x="5087938" y="1140415"/>
            <a:ext cx="4791452" cy="2131703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82274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362D5-952E-8A3E-BD27-C1B68991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963030-07D3-D52C-7C35-17C0C5418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"/>
          <a:stretch>
            <a:fillRect/>
          </a:stretch>
        </p:blipFill>
        <p:spPr>
          <a:xfrm>
            <a:off x="436727" y="638550"/>
            <a:ext cx="9447057" cy="5322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70011B-01C8-DA41-C612-9F953EE76E9B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963F63-D483-4186-6012-258B8ADEA4F6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80C42E-A91B-2BE9-2B00-0E0166A518B2}"/>
              </a:ext>
            </a:extLst>
          </p:cNvPr>
          <p:cNvSpPr/>
          <p:nvPr/>
        </p:nvSpPr>
        <p:spPr>
          <a:xfrm>
            <a:off x="296486" y="1140503"/>
            <a:ext cx="4791452" cy="482111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6A9A5A-BE85-2939-F026-F579E5CFD314}"/>
              </a:ext>
            </a:extLst>
          </p:cNvPr>
          <p:cNvSpPr/>
          <p:nvPr/>
        </p:nvSpPr>
        <p:spPr>
          <a:xfrm>
            <a:off x="5087938" y="1140415"/>
            <a:ext cx="4791452" cy="2131703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939FF-5BBC-A620-1314-5A74D7D2E995}"/>
              </a:ext>
            </a:extLst>
          </p:cNvPr>
          <p:cNvSpPr txBox="1"/>
          <p:nvPr/>
        </p:nvSpPr>
        <p:spPr>
          <a:xfrm>
            <a:off x="477979" y="6411431"/>
            <a:ext cx="4609959" cy="272415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000" dirty="0">
                <a:solidFill>
                  <a:srgbClr val="A38600"/>
                </a:solidFill>
              </a:rPr>
              <a:t>* Apps with high Installs count heavily influence the average.</a:t>
            </a:r>
            <a:endParaRPr lang="pl-PL" sz="1400" dirty="0">
              <a:solidFill>
                <a:srgbClr val="A386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0C5E32-5194-21B7-6680-936DFC831D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21" t="25433" r="68509"/>
          <a:stretch>
            <a:fillRect/>
          </a:stretch>
        </p:blipFill>
        <p:spPr>
          <a:xfrm>
            <a:off x="800020" y="3079674"/>
            <a:ext cx="1624740" cy="3086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D153EA-C2A4-D165-D0DE-7631B348CB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21" r="68509" b="74566"/>
          <a:stretch>
            <a:fillRect/>
          </a:stretch>
        </p:blipFill>
        <p:spPr>
          <a:xfrm>
            <a:off x="2524503" y="5113518"/>
            <a:ext cx="1624740" cy="10528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0804F1-5CC3-ED1F-F655-D5BC48C90223}"/>
              </a:ext>
            </a:extLst>
          </p:cNvPr>
          <p:cNvSpPr txBox="1"/>
          <p:nvPr/>
        </p:nvSpPr>
        <p:spPr>
          <a:xfrm>
            <a:off x="683475" y="1348170"/>
            <a:ext cx="4430568" cy="1569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400" dirty="0"/>
              <a:t>Those percentages are normalized and can be: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weighted by the number of Installs</a:t>
            </a:r>
            <a:r>
              <a:rPr lang="pl-PL" sz="1400" b="1" dirty="0">
                <a:solidFill>
                  <a:srgbClr val="A38600"/>
                </a:solidFill>
              </a:rPr>
              <a:t>*</a:t>
            </a:r>
            <a:r>
              <a:rPr lang="pl-PL" sz="1400" dirty="0">
                <a:solidFill>
                  <a:schemeClr val="tx1"/>
                </a:solidFill>
              </a:rPr>
              <a:t>;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weighted by the number of Star Ratings;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u</a:t>
            </a:r>
            <a:r>
              <a:rPr lang="pl-PL" sz="1400" dirty="0">
                <a:solidFill>
                  <a:schemeClr val="tx1"/>
                </a:solidFill>
              </a:rPr>
              <a:t>nweighted</a:t>
            </a:r>
            <a:r>
              <a:rPr lang="pl-PL" sz="1400" dirty="0"/>
              <a:t>.</a:t>
            </a:r>
          </a:p>
          <a:p>
            <a:pPr marL="252413" algn="just">
              <a:lnSpc>
                <a:spcPct val="150000"/>
              </a:lnSpc>
            </a:pPr>
            <a:endParaRPr lang="pl-PL" sz="14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E6AF99-7B3B-7E54-DD36-D4DE71CC213B}"/>
              </a:ext>
            </a:extLst>
          </p:cNvPr>
          <p:cNvSpPr txBox="1"/>
          <p:nvPr/>
        </p:nvSpPr>
        <p:spPr>
          <a:xfrm>
            <a:off x="2540657" y="3095061"/>
            <a:ext cx="2224725" cy="817245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tx1"/>
                </a:solidFill>
              </a:rPr>
              <a:t>Custom </a:t>
            </a:r>
            <a:r>
              <a:rPr lang="pl-PL" sz="1400" dirty="0">
                <a:solidFill>
                  <a:srgbClr val="A38600"/>
                </a:solidFill>
              </a:rPr>
              <a:t>DAX measures </a:t>
            </a:r>
            <a:r>
              <a:rPr lang="pl-PL" sz="1400" dirty="0">
                <a:solidFill>
                  <a:schemeClr val="tx1"/>
                </a:solidFill>
              </a:rPr>
              <a:t>and </a:t>
            </a:r>
            <a:r>
              <a:rPr lang="pl-PL" sz="1400" dirty="0">
                <a:solidFill>
                  <a:srgbClr val="A38600"/>
                </a:solidFill>
              </a:rPr>
              <a:t>tables</a:t>
            </a:r>
            <a:r>
              <a:rPr lang="pl-PL" sz="1400" dirty="0">
                <a:solidFill>
                  <a:schemeClr val="tx1"/>
                </a:solidFill>
              </a:rPr>
              <a:t> were created to maintain this solution.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03D4BE9-CDE7-78B7-815B-80F6C3E658FF}"/>
                  </a:ext>
                </a:extLst>
              </p14:cNvPr>
              <p14:cNvContentPartPr/>
              <p14:nvPr/>
            </p14:nvContentPartPr>
            <p14:xfrm>
              <a:off x="517642" y="2969444"/>
              <a:ext cx="177120" cy="516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03D4BE9-CDE7-78B7-815B-80F6C3E658F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642" y="2951457"/>
                <a:ext cx="212760" cy="5518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4CFDF84-724D-B5C3-D2FF-8C49BA1DFB6B}"/>
                  </a:ext>
                </a:extLst>
              </p14:cNvPr>
              <p14:cNvContentPartPr/>
              <p14:nvPr/>
            </p14:nvContentPartPr>
            <p14:xfrm rot="10800000">
              <a:off x="4285231" y="5703453"/>
              <a:ext cx="177120" cy="516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4CFDF84-724D-B5C3-D2FF-8C49BA1DFB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4267231" y="5685466"/>
                <a:ext cx="212760" cy="5518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7261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5370C-8CA3-1776-FC7D-65CCBCB38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FB9D89-54A0-46EA-B23B-1BABF041F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"/>
          <a:stretch>
            <a:fillRect/>
          </a:stretch>
        </p:blipFill>
        <p:spPr>
          <a:xfrm>
            <a:off x="436727" y="638550"/>
            <a:ext cx="9447057" cy="5322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D78171-A606-F052-3E11-EF95E37E8928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CCDDDB-47D7-37C3-DFEE-DA52AE39CD97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75EDD2-4BB0-B1D6-3997-1B28431C9298}"/>
              </a:ext>
            </a:extLst>
          </p:cNvPr>
          <p:cNvSpPr/>
          <p:nvPr/>
        </p:nvSpPr>
        <p:spPr>
          <a:xfrm>
            <a:off x="296486" y="1140503"/>
            <a:ext cx="4791452" cy="482111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A3359F-91F0-E770-3C43-0BF6E2293293}"/>
              </a:ext>
            </a:extLst>
          </p:cNvPr>
          <p:cNvSpPr/>
          <p:nvPr/>
        </p:nvSpPr>
        <p:spPr>
          <a:xfrm>
            <a:off x="5087938" y="1140415"/>
            <a:ext cx="4791452" cy="2131703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D541F-9A1D-E2F3-BCDD-16E54A901944}"/>
              </a:ext>
            </a:extLst>
          </p:cNvPr>
          <p:cNvSpPr txBox="1"/>
          <p:nvPr/>
        </p:nvSpPr>
        <p:spPr>
          <a:xfrm>
            <a:off x="5572822" y="1731880"/>
            <a:ext cx="3247328" cy="817245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tx1"/>
                </a:solidFill>
              </a:rPr>
              <a:t>Users can choose calculation method using buttons. </a:t>
            </a:r>
            <a:r>
              <a:rPr lang="pl-PL" sz="1400" dirty="0">
                <a:solidFill>
                  <a:srgbClr val="97497B"/>
                </a:solidFill>
              </a:rPr>
              <a:t>Questionmark tooltip</a:t>
            </a:r>
            <a:r>
              <a:rPr lang="pl-PL" sz="1400" dirty="0">
                <a:solidFill>
                  <a:schemeClr val="tx1"/>
                </a:solidFill>
              </a:rPr>
              <a:t> explains how.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CB2A2-ED82-01DC-A391-7C16657FC0EE}"/>
              </a:ext>
            </a:extLst>
          </p:cNvPr>
          <p:cNvSpPr txBox="1"/>
          <p:nvPr/>
        </p:nvSpPr>
        <p:spPr>
          <a:xfrm>
            <a:off x="477979" y="6411431"/>
            <a:ext cx="4609959" cy="272415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000" dirty="0">
                <a:solidFill>
                  <a:srgbClr val="A38600"/>
                </a:solidFill>
              </a:rPr>
              <a:t>* Apps with high Installs count heavily influence the average.</a:t>
            </a:r>
            <a:endParaRPr lang="pl-PL" sz="1400" dirty="0">
              <a:solidFill>
                <a:srgbClr val="A386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190C41-D24E-238C-A452-1C2D47780E10}"/>
                  </a:ext>
                </a:extLst>
              </p14:cNvPr>
              <p14:cNvContentPartPr/>
              <p14:nvPr/>
            </p14:nvContentPartPr>
            <p14:xfrm>
              <a:off x="8536904" y="3272118"/>
              <a:ext cx="688077" cy="470817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6190C41-D24E-238C-A452-1C2D47780E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18910" y="3254120"/>
                <a:ext cx="723704" cy="5064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82A1C12-ED0F-B84A-04BE-D784B6CD4020}"/>
                  </a:ext>
                </a:extLst>
              </p14:cNvPr>
              <p14:cNvContentPartPr/>
              <p14:nvPr/>
            </p14:nvContentPartPr>
            <p14:xfrm rot="416136" flipV="1">
              <a:off x="7267425" y="2697628"/>
              <a:ext cx="279623" cy="37721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82A1C12-ED0F-B84A-04BE-D784B6CD40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416136" flipV="1">
                <a:off x="7249431" y="2679631"/>
                <a:ext cx="315251" cy="412843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642E0177-5165-E9F0-BA50-4677D6E17FE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821" t="25433" r="68509"/>
          <a:stretch>
            <a:fillRect/>
          </a:stretch>
        </p:blipFill>
        <p:spPr>
          <a:xfrm>
            <a:off x="800020" y="3079674"/>
            <a:ext cx="1624740" cy="3086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777308-3B6B-318E-0B7B-5F6B6FA4EF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821" r="68509" b="74566"/>
          <a:stretch>
            <a:fillRect/>
          </a:stretch>
        </p:blipFill>
        <p:spPr>
          <a:xfrm>
            <a:off x="2524503" y="5113518"/>
            <a:ext cx="1624740" cy="10528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C8FE14-A46F-09DD-542C-E959224CD5F4}"/>
              </a:ext>
            </a:extLst>
          </p:cNvPr>
          <p:cNvSpPr txBox="1"/>
          <p:nvPr/>
        </p:nvSpPr>
        <p:spPr>
          <a:xfrm>
            <a:off x="683475" y="1348170"/>
            <a:ext cx="4430568" cy="1569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400" dirty="0"/>
              <a:t>Those percentages are normalized and can be: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weighted by the number of Installs</a:t>
            </a:r>
            <a:r>
              <a:rPr lang="pl-PL" sz="1400" b="1" dirty="0">
                <a:solidFill>
                  <a:srgbClr val="A38600"/>
                </a:solidFill>
              </a:rPr>
              <a:t>*</a:t>
            </a:r>
            <a:r>
              <a:rPr lang="pl-PL" sz="1400" dirty="0">
                <a:solidFill>
                  <a:schemeClr val="tx1"/>
                </a:solidFill>
              </a:rPr>
              <a:t>;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weighted by the number of Star Ratings;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u</a:t>
            </a:r>
            <a:r>
              <a:rPr lang="pl-PL" sz="1400" dirty="0">
                <a:solidFill>
                  <a:schemeClr val="tx1"/>
                </a:solidFill>
              </a:rPr>
              <a:t>nweighted</a:t>
            </a:r>
            <a:r>
              <a:rPr lang="pl-PL" sz="1400" dirty="0"/>
              <a:t>.</a:t>
            </a:r>
          </a:p>
          <a:p>
            <a:pPr marL="252413" algn="just">
              <a:lnSpc>
                <a:spcPct val="150000"/>
              </a:lnSpc>
            </a:pPr>
            <a:endParaRPr lang="pl-PL" sz="14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63380D-C7D9-A98C-B939-B7175EFD8552}"/>
              </a:ext>
            </a:extLst>
          </p:cNvPr>
          <p:cNvSpPr txBox="1"/>
          <p:nvPr/>
        </p:nvSpPr>
        <p:spPr>
          <a:xfrm>
            <a:off x="2540657" y="3095061"/>
            <a:ext cx="2224725" cy="817245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tx1"/>
                </a:solidFill>
              </a:rPr>
              <a:t>Custom </a:t>
            </a:r>
            <a:r>
              <a:rPr lang="pl-PL" sz="1400" dirty="0">
                <a:solidFill>
                  <a:srgbClr val="A38600"/>
                </a:solidFill>
              </a:rPr>
              <a:t>DAX measures </a:t>
            </a:r>
            <a:r>
              <a:rPr lang="pl-PL" sz="1400" dirty="0">
                <a:solidFill>
                  <a:schemeClr val="tx1"/>
                </a:solidFill>
              </a:rPr>
              <a:t>and </a:t>
            </a:r>
            <a:r>
              <a:rPr lang="pl-PL" sz="1400" dirty="0">
                <a:solidFill>
                  <a:srgbClr val="A38600"/>
                </a:solidFill>
              </a:rPr>
              <a:t>tables</a:t>
            </a:r>
            <a:r>
              <a:rPr lang="pl-PL" sz="1400" dirty="0">
                <a:solidFill>
                  <a:schemeClr val="tx1"/>
                </a:solidFill>
              </a:rPr>
              <a:t> were created to maintain this solution.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245EE98-1AEA-001A-A09E-DB98C7AF2460}"/>
                  </a:ext>
                </a:extLst>
              </p14:cNvPr>
              <p14:cNvContentPartPr/>
              <p14:nvPr/>
            </p14:nvContentPartPr>
            <p14:xfrm>
              <a:off x="517642" y="2969444"/>
              <a:ext cx="177120" cy="516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245EE98-1AEA-001A-A09E-DB98C7AF24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9642" y="2951457"/>
                <a:ext cx="212760" cy="5518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AAEC20D-724D-88FF-2283-BB730AFC14F3}"/>
                  </a:ext>
                </a:extLst>
              </p14:cNvPr>
              <p14:cNvContentPartPr/>
              <p14:nvPr/>
            </p14:nvContentPartPr>
            <p14:xfrm rot="10800000">
              <a:off x="4285231" y="5703453"/>
              <a:ext cx="177120" cy="516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AAEC20D-724D-88FF-2283-BB730AFC14F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10800000">
                <a:off x="4267231" y="5685466"/>
                <a:ext cx="212760" cy="5518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893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D22C-F918-EB4A-A0EF-1B2186C00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6E8AB3-557B-5A1A-2B73-7F6ACCE75A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"/>
          <a:stretch>
            <a:fillRect/>
          </a:stretch>
        </p:blipFill>
        <p:spPr>
          <a:xfrm>
            <a:off x="433316" y="620712"/>
            <a:ext cx="9421569" cy="5322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23222A-56C1-EDF5-8B9E-53EA9F09BB5E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6CADEC-710D-6937-E6F9-0ACE19DF7728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49E84F-99F7-2F9F-4676-65750E4B6F5B}"/>
              </a:ext>
            </a:extLst>
          </p:cNvPr>
          <p:cNvSpPr/>
          <p:nvPr/>
        </p:nvSpPr>
        <p:spPr>
          <a:xfrm>
            <a:off x="407988" y="2967319"/>
            <a:ext cx="4679950" cy="304269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3A8189-BE25-3888-F79B-99A7FA579092}"/>
              </a:ext>
            </a:extLst>
          </p:cNvPr>
          <p:cNvSpPr/>
          <p:nvPr/>
        </p:nvSpPr>
        <p:spPr>
          <a:xfrm>
            <a:off x="5087938" y="3194596"/>
            <a:ext cx="4766947" cy="281541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FFFEFB-E3D7-199C-BF87-168CCA9BE7F5}"/>
              </a:ext>
            </a:extLst>
          </p:cNvPr>
          <p:cNvSpPr txBox="1"/>
          <p:nvPr/>
        </p:nvSpPr>
        <p:spPr>
          <a:xfrm>
            <a:off x="4181282" y="3863056"/>
            <a:ext cx="3701944" cy="1055608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tx1"/>
                </a:solidFill>
              </a:rPr>
              <a:t>Furthermore, clicking </a:t>
            </a:r>
            <a:r>
              <a:rPr lang="pl-PL" sz="1400" dirty="0">
                <a:solidFill>
                  <a:srgbClr val="97497B"/>
                </a:solidFill>
              </a:rPr>
              <a:t>one Category </a:t>
            </a:r>
            <a:r>
              <a:rPr lang="pl-PL" sz="1400" dirty="0">
                <a:solidFill>
                  <a:schemeClr val="tx1"/>
                </a:solidFill>
              </a:rPr>
              <a:t>on any barplot filters the Star Rating, Sentiment Polarity and Sentiment Subjectivity medians to show only data related to this Category.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F42B6E9-EAC3-33BA-3AAB-37A60EAE45A4}"/>
                  </a:ext>
                </a:extLst>
              </p14:cNvPr>
              <p14:cNvContentPartPr/>
              <p14:nvPr/>
            </p14:nvContentPartPr>
            <p14:xfrm rot="10385676" flipV="1">
              <a:off x="3908748" y="3097662"/>
              <a:ext cx="545068" cy="735294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F42B6E9-EAC3-33BA-3AAB-37A60EAE45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0385676" flipV="1">
                <a:off x="3890771" y="3079675"/>
                <a:ext cx="580663" cy="7709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D4636A6-D3F0-A64C-A533-84482EA0D56E}"/>
                  </a:ext>
                </a:extLst>
              </p14:cNvPr>
              <p14:cNvContentPartPr/>
              <p14:nvPr/>
            </p14:nvContentPartPr>
            <p14:xfrm rot="17625192" flipV="1">
              <a:off x="4962426" y="2094664"/>
              <a:ext cx="251024" cy="5029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D4636A6-D3F0-A64C-A533-84482EA0D5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7625192" flipV="1">
                <a:off x="4948041" y="2080275"/>
                <a:ext cx="279075" cy="530959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B808E16-0A7F-45FD-56BF-99DBA2F0D9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" b="89367"/>
          <a:stretch>
            <a:fillRect/>
          </a:stretch>
        </p:blipFill>
        <p:spPr>
          <a:xfrm>
            <a:off x="442841" y="620712"/>
            <a:ext cx="9421569" cy="56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26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FDF2E-DDDE-2F99-17B4-8BFA7323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91D649-4251-BD69-CAB1-38FA5175E1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" r="-1" b="503"/>
          <a:stretch>
            <a:fillRect/>
          </a:stretch>
        </p:blipFill>
        <p:spPr>
          <a:xfrm>
            <a:off x="448705" y="620713"/>
            <a:ext cx="9433329" cy="53024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DD386C-5682-4E36-A735-B36112130325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ECBBC5-F87D-B6CE-B55D-CCB71755BBB3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9B4A29-6EF0-CB50-6A6A-EA292E66D046}"/>
              </a:ext>
            </a:extLst>
          </p:cNvPr>
          <p:cNvSpPr/>
          <p:nvPr/>
        </p:nvSpPr>
        <p:spPr>
          <a:xfrm>
            <a:off x="5087938" y="1120588"/>
            <a:ext cx="4862878" cy="488942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F13DAE-D87F-F979-B7BC-D4E2BEC1CD3D}"/>
              </a:ext>
            </a:extLst>
          </p:cNvPr>
          <p:cNvSpPr/>
          <p:nvPr/>
        </p:nvSpPr>
        <p:spPr>
          <a:xfrm>
            <a:off x="412381" y="1120588"/>
            <a:ext cx="4675557" cy="3083859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77ECE2-A895-DBF8-7041-38325AAAB767}"/>
                  </a:ext>
                </a:extLst>
              </p14:cNvPr>
              <p14:cNvContentPartPr/>
              <p14:nvPr/>
            </p14:nvContentPartPr>
            <p14:xfrm>
              <a:off x="3588387" y="4052048"/>
              <a:ext cx="688077" cy="470817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77ECE2-A895-DBF8-7041-38325AAAB7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0393" y="4034050"/>
                <a:ext cx="723704" cy="506452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CAB77B08-A02A-FE11-0CA2-9A0C86F981AF}"/>
              </a:ext>
            </a:extLst>
          </p:cNvPr>
          <p:cNvSpPr/>
          <p:nvPr/>
        </p:nvSpPr>
        <p:spPr>
          <a:xfrm>
            <a:off x="448706" y="4187767"/>
            <a:ext cx="3073625" cy="213904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0735CB-C08C-5FAE-6573-E1A19EF98FB9}"/>
              </a:ext>
            </a:extLst>
          </p:cNvPr>
          <p:cNvSpPr/>
          <p:nvPr/>
        </p:nvSpPr>
        <p:spPr>
          <a:xfrm>
            <a:off x="4445753" y="4154848"/>
            <a:ext cx="642186" cy="237857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EBA89-3455-9513-D94C-B87743079A6B}"/>
              </a:ext>
            </a:extLst>
          </p:cNvPr>
          <p:cNvSpPr txBox="1"/>
          <p:nvPr/>
        </p:nvSpPr>
        <p:spPr>
          <a:xfrm>
            <a:off x="5413368" y="4538354"/>
            <a:ext cx="3406782" cy="1055608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tx1"/>
                </a:solidFill>
              </a:rPr>
              <a:t>Finally, users can </a:t>
            </a:r>
            <a:r>
              <a:rPr lang="pl-PL" sz="1400" dirty="0">
                <a:solidFill>
                  <a:srgbClr val="A38600"/>
                </a:solidFill>
              </a:rPr>
              <a:t>activate a drill-down option</a:t>
            </a:r>
            <a:r>
              <a:rPr lang="pl-PL" sz="1400" b="1" dirty="0">
                <a:solidFill>
                  <a:srgbClr val="A38600"/>
                </a:solidFill>
              </a:rPr>
              <a:t> </a:t>
            </a:r>
            <a:r>
              <a:rPr lang="pl-PL" sz="1400" dirty="0">
                <a:solidFill>
                  <a:schemeClr val="tx1"/>
                </a:solidFill>
              </a:rPr>
              <a:t>on any barplot and click </a:t>
            </a:r>
            <a:br>
              <a:rPr lang="pl-PL" sz="1400" dirty="0">
                <a:solidFill>
                  <a:schemeClr val="tx1"/>
                </a:solidFill>
              </a:rPr>
            </a:br>
            <a:r>
              <a:rPr lang="pl-PL" sz="1400" dirty="0">
                <a:solidFill>
                  <a:schemeClr val="tx1"/>
                </a:solidFill>
              </a:rPr>
              <a:t>any Category to see the results </a:t>
            </a:r>
            <a:br>
              <a:rPr lang="pl-PL" sz="1400" dirty="0">
                <a:solidFill>
                  <a:schemeClr val="tx1"/>
                </a:solidFill>
              </a:rPr>
            </a:br>
            <a:r>
              <a:rPr lang="pl-PL" sz="1400" dirty="0">
                <a:solidFill>
                  <a:schemeClr val="tx1"/>
                </a:solidFill>
              </a:rPr>
              <a:t>for each </a:t>
            </a:r>
            <a:r>
              <a:rPr lang="pl-PL" sz="1400" dirty="0">
                <a:solidFill>
                  <a:srgbClr val="A38600"/>
                </a:solidFill>
              </a:rPr>
              <a:t>Genre</a:t>
            </a:r>
            <a:r>
              <a:rPr lang="pl-PL" sz="1400" dirty="0">
                <a:solidFill>
                  <a:schemeClr val="tx1"/>
                </a:solidFill>
              </a:rPr>
              <a:t>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C235457-D7A2-7538-3691-FF538265EB1E}"/>
                  </a:ext>
                </a:extLst>
              </p14:cNvPr>
              <p14:cNvContentPartPr/>
              <p14:nvPr/>
            </p14:nvContentPartPr>
            <p14:xfrm>
              <a:off x="1320113" y="4323480"/>
              <a:ext cx="320760" cy="1327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C235457-D7A2-7538-3691-FF538265EB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1113" y="4314840"/>
                <a:ext cx="338400" cy="134532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9C01D547-6A62-5DAE-2E11-E42FD32A5E6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0" b="90271"/>
          <a:stretch>
            <a:fillRect/>
          </a:stretch>
        </p:blipFill>
        <p:spPr>
          <a:xfrm>
            <a:off x="431335" y="620713"/>
            <a:ext cx="9433075" cy="51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71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78F9-42B6-3C59-FEB6-6D9E3C7F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6621F0-9B3D-5039-473B-2170A5E5C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"/>
          <a:stretch>
            <a:fillRect/>
          </a:stretch>
        </p:blipFill>
        <p:spPr>
          <a:xfrm>
            <a:off x="436728" y="620713"/>
            <a:ext cx="9449762" cy="5322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711AED-5ADB-E739-5D39-C60646AF2D86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AD32F1-F846-1F49-1E64-9CBFBF77BAED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E704D8-095B-6AF0-1EC7-EB11808A3DA8}"/>
              </a:ext>
            </a:extLst>
          </p:cNvPr>
          <p:cNvSpPr/>
          <p:nvPr/>
        </p:nvSpPr>
        <p:spPr>
          <a:xfrm>
            <a:off x="412383" y="1111624"/>
            <a:ext cx="9474107" cy="4832068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1CF5A0B-4AA5-F107-2303-6B7F72B66296}"/>
                  </a:ext>
                </a:extLst>
              </p14:cNvPr>
              <p14:cNvContentPartPr/>
              <p14:nvPr/>
            </p14:nvContentPartPr>
            <p14:xfrm flipH="1">
              <a:off x="7432402" y="1250595"/>
              <a:ext cx="415326" cy="560273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1CF5A0B-4AA5-F107-2303-6B7F72B662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7414407" y="1232603"/>
                <a:ext cx="450956" cy="595897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E9B0CCB-C62E-7C5B-E1A1-816267D894D3}"/>
              </a:ext>
            </a:extLst>
          </p:cNvPr>
          <p:cNvSpPr txBox="1"/>
          <p:nvPr/>
        </p:nvSpPr>
        <p:spPr>
          <a:xfrm>
            <a:off x="7238129" y="1859188"/>
            <a:ext cx="3982322" cy="1293971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b="1" dirty="0"/>
              <a:t>YOUR CHOICE</a:t>
            </a:r>
            <a:r>
              <a:rPr lang="pl-PL" sz="1400" dirty="0"/>
              <a:t> page frames the competitive landscape the proposed app would enter.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Users should start by clicking the </a:t>
            </a:r>
            <a:r>
              <a:rPr lang="pl-PL" sz="1400" dirty="0">
                <a:solidFill>
                  <a:srgbClr val="97497B"/>
                </a:solidFill>
              </a:rPr>
              <a:t>Bookmark</a:t>
            </a:r>
            <a:r>
              <a:rPr lang="pl-PL" sz="1400" dirty="0"/>
              <a:t> symbol to open Filters Panel.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8E5C3E1-D26B-0E7D-D4E8-E361B0FA6053}"/>
                  </a:ext>
                </a:extLst>
              </p14:cNvPr>
              <p14:cNvContentPartPr/>
              <p14:nvPr/>
            </p14:nvContentPartPr>
            <p14:xfrm>
              <a:off x="316269" y="640807"/>
              <a:ext cx="688077" cy="470817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8E5C3E1-D26B-0E7D-D4E8-E361B0FA60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275" y="622809"/>
                <a:ext cx="723704" cy="5064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6262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4AC8-0D75-E38E-FC61-F469541E0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245909-640C-0C38-4E2C-8408EF0555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"/>
          <a:stretch>
            <a:fillRect/>
          </a:stretch>
        </p:blipFill>
        <p:spPr>
          <a:xfrm>
            <a:off x="440140" y="620713"/>
            <a:ext cx="9446350" cy="5322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4CFC4B-AA38-57E2-1D81-E16A00D006FA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BF9872-571A-57FA-7710-70ED3C0E32C6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E8D40B-079D-F246-9FB5-A7564F8CDC14}"/>
              </a:ext>
            </a:extLst>
          </p:cNvPr>
          <p:cNvSpPr/>
          <p:nvPr/>
        </p:nvSpPr>
        <p:spPr>
          <a:xfrm>
            <a:off x="2832847" y="1111624"/>
            <a:ext cx="7053643" cy="4832068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01328-8B20-065F-059C-1B2174065FEA}"/>
              </a:ext>
            </a:extLst>
          </p:cNvPr>
          <p:cNvSpPr txBox="1"/>
          <p:nvPr/>
        </p:nvSpPr>
        <p:spPr>
          <a:xfrm>
            <a:off x="3006788" y="1258553"/>
            <a:ext cx="4344248" cy="1532334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In Filters Panel users can choose </a:t>
            </a:r>
            <a:r>
              <a:rPr lang="pl-PL" sz="1400" dirty="0">
                <a:solidFill>
                  <a:srgbClr val="A38600"/>
                </a:solidFill>
              </a:rPr>
              <a:t>App Category </a:t>
            </a:r>
            <a:br>
              <a:rPr lang="pl-PL" sz="1400" b="1" dirty="0">
                <a:solidFill>
                  <a:srgbClr val="A38600"/>
                </a:solidFill>
              </a:rPr>
            </a:br>
            <a:r>
              <a:rPr lang="pl-PL" sz="1400" dirty="0"/>
              <a:t>that is of interest to the Product Manager. 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Some Categories have several </a:t>
            </a:r>
            <a:r>
              <a:rPr lang="pl-PL" sz="1400" dirty="0">
                <a:solidFill>
                  <a:srgbClr val="A38600"/>
                </a:solidFill>
              </a:rPr>
              <a:t>Genres</a:t>
            </a:r>
            <a:r>
              <a:rPr lang="pl-PL" sz="1400" dirty="0"/>
              <a:t> (category sub-types) that can be selected to narrow down </a:t>
            </a:r>
            <a:br>
              <a:rPr lang="pl-PL" sz="1400" dirty="0"/>
            </a:br>
            <a:r>
              <a:rPr lang="pl-PL" sz="1400" dirty="0"/>
              <a:t>the focus of the analysis.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15F565C-93B8-4947-F517-53392517388D}"/>
                  </a:ext>
                </a:extLst>
              </p14:cNvPr>
              <p14:cNvContentPartPr/>
              <p14:nvPr/>
            </p14:nvContentPartPr>
            <p14:xfrm>
              <a:off x="316269" y="640807"/>
              <a:ext cx="688077" cy="470817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15F565C-93B8-4947-F517-5339251738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275" y="622809"/>
                <a:ext cx="723704" cy="506452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F5D60C5-0E4B-7846-2BB8-D1DB00F90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130" y="3590387"/>
            <a:ext cx="2053405" cy="243044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B6CAC7-4D72-2842-FF1B-6722CBA06A01}"/>
              </a:ext>
            </a:extLst>
          </p:cNvPr>
          <p:cNvSpPr txBox="1"/>
          <p:nvPr/>
        </p:nvSpPr>
        <p:spPr>
          <a:xfrm>
            <a:off x="3910628" y="3527632"/>
            <a:ext cx="995502" cy="340519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0CDB41-17EA-A9AD-B369-46DD8547E26B}"/>
              </a:ext>
            </a:extLst>
          </p:cNvPr>
          <p:cNvSpPr txBox="1"/>
          <p:nvPr/>
        </p:nvSpPr>
        <p:spPr>
          <a:xfrm>
            <a:off x="7351036" y="5456935"/>
            <a:ext cx="3078839" cy="578882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Filter Panel can be closed by clicking </a:t>
            </a:r>
            <a:br>
              <a:rPr lang="pl-PL" sz="1400" dirty="0"/>
            </a:br>
            <a:r>
              <a:rPr lang="pl-PL" sz="1400" dirty="0"/>
              <a:t>the </a:t>
            </a:r>
            <a:r>
              <a:rPr lang="pl-PL" sz="1400" dirty="0">
                <a:solidFill>
                  <a:srgbClr val="97497B"/>
                </a:solidFill>
              </a:rPr>
              <a:t>Bookmark</a:t>
            </a:r>
            <a:r>
              <a:rPr lang="pl-PL" sz="1400" dirty="0"/>
              <a:t> symbol again.</a:t>
            </a:r>
          </a:p>
        </p:txBody>
      </p:sp>
    </p:spTree>
    <p:extLst>
      <p:ext uri="{BB962C8B-B14F-4D97-AF65-F5344CB8AC3E}">
        <p14:creationId xmlns:p14="http://schemas.microsoft.com/office/powerpoint/2010/main" val="722310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9663-1F5B-A64E-005A-D8E5EB94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B92062-C127-5144-8D3C-5AA148A9E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7" y="638713"/>
            <a:ext cx="9452388" cy="5304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EEF363-D22E-F29E-4172-DD91271C67C7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CCDC4E-1529-E362-52D7-850BF4C89D4A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719F2-3FA9-CFEA-CEEC-3CD8A0E2CA6B}"/>
              </a:ext>
            </a:extLst>
          </p:cNvPr>
          <p:cNvSpPr/>
          <p:nvPr/>
        </p:nvSpPr>
        <p:spPr>
          <a:xfrm>
            <a:off x="4621213" y="1120590"/>
            <a:ext cx="5267902" cy="488942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8FDDB0-CA8E-4B92-7659-FF3E7A7A4EEA}"/>
              </a:ext>
            </a:extLst>
          </p:cNvPr>
          <p:cNvSpPr txBox="1"/>
          <p:nvPr/>
        </p:nvSpPr>
        <p:spPr>
          <a:xfrm>
            <a:off x="4966609" y="1869454"/>
            <a:ext cx="4182346" cy="1055608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Pie charts describe the characteristics of Apps </a:t>
            </a:r>
            <a:br>
              <a:rPr lang="pl-PL" sz="1400" dirty="0"/>
            </a:br>
            <a:r>
              <a:rPr lang="pl-PL" sz="1400" dirty="0"/>
              <a:t>in chosen Category: </a:t>
            </a:r>
            <a:r>
              <a:rPr lang="pl-PL" sz="1400" dirty="0">
                <a:solidFill>
                  <a:srgbClr val="A38600"/>
                </a:solidFill>
              </a:rPr>
              <a:t>Content Rating </a:t>
            </a:r>
            <a:r>
              <a:rPr lang="pl-PL" sz="1400" dirty="0"/>
              <a:t>and </a:t>
            </a:r>
            <a:r>
              <a:rPr lang="pl-PL" sz="1400" dirty="0">
                <a:solidFill>
                  <a:srgbClr val="A38600"/>
                </a:solidFill>
              </a:rPr>
              <a:t>App Price</a:t>
            </a:r>
            <a:r>
              <a:rPr lang="pl-PL" sz="1400" dirty="0"/>
              <a:t>. To facilitate data presentation pricing ranges </a:t>
            </a:r>
          </a:p>
          <a:p>
            <a:pPr algn="just"/>
            <a:r>
              <a:rPr lang="pl-PL" sz="1400" dirty="0"/>
              <a:t>were created post hoc using DAX.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64E4AD-8BEC-81D0-BDE0-F589907E4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58" y="3211659"/>
            <a:ext cx="2305267" cy="14425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97F9793-4B78-4F57-DC8B-377A57C8CBFB}"/>
                  </a:ext>
                </a:extLst>
              </p14:cNvPr>
              <p14:cNvContentPartPr/>
              <p14:nvPr/>
            </p14:nvContentPartPr>
            <p14:xfrm>
              <a:off x="5465318" y="3157343"/>
              <a:ext cx="354240" cy="1590143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97F9793-4B78-4F57-DC8B-377A57C8CB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7318" y="3139343"/>
                <a:ext cx="389880" cy="1625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93CA116-C668-0CFE-EA74-72DC2D6E2E4A}"/>
                  </a:ext>
                </a:extLst>
              </p14:cNvPr>
              <p14:cNvContentPartPr/>
              <p14:nvPr/>
            </p14:nvContentPartPr>
            <p14:xfrm flipH="1">
              <a:off x="8162210" y="3169358"/>
              <a:ext cx="354240" cy="1578128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93CA116-C668-0CFE-EA74-72DC2D6E2E4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flipH="1">
                <a:off x="8144210" y="3151355"/>
                <a:ext cx="389880" cy="161377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1404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E269-3899-54E8-B060-0E46D9FAC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1D87A4-77B0-465F-D64C-549F76F6F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7" y="638713"/>
            <a:ext cx="9452388" cy="5304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19B8BB-7EE0-BFC3-927A-18694861D1C5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4BB6D7-C1F7-8C9E-2B45-A6943383758A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3B4E3C-EBD8-DB6D-F9EE-045891480A65}"/>
              </a:ext>
            </a:extLst>
          </p:cNvPr>
          <p:cNvSpPr/>
          <p:nvPr/>
        </p:nvSpPr>
        <p:spPr>
          <a:xfrm>
            <a:off x="436727" y="1138590"/>
            <a:ext cx="4212407" cy="488942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0E8D4-1FF5-4384-0AB6-8B615843CED4}"/>
              </a:ext>
            </a:extLst>
          </p:cNvPr>
          <p:cNvSpPr txBox="1"/>
          <p:nvPr/>
        </p:nvSpPr>
        <p:spPr>
          <a:xfrm>
            <a:off x="591098" y="1886472"/>
            <a:ext cx="3903664" cy="1293971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Next, the table shows </a:t>
            </a:r>
            <a:r>
              <a:rPr lang="pl-PL" sz="1400" dirty="0">
                <a:solidFill>
                  <a:srgbClr val="A38600"/>
                </a:solidFill>
              </a:rPr>
              <a:t>most positively reviewed Apps</a:t>
            </a:r>
            <a:r>
              <a:rPr lang="pl-PL" sz="1400" dirty="0"/>
              <a:t> (filtered by decreasing % of Positive Sentiment) in chosen Category. </a:t>
            </a:r>
          </a:p>
          <a:p>
            <a:pPr algn="just"/>
            <a:r>
              <a:rPr lang="pl-PL" sz="1400" dirty="0"/>
              <a:t>Users can see App names, their Star Rating and Sentiment metadata.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E52CEE-0E27-870B-36C7-D9772919281F}"/>
              </a:ext>
            </a:extLst>
          </p:cNvPr>
          <p:cNvSpPr/>
          <p:nvPr/>
        </p:nvSpPr>
        <p:spPr>
          <a:xfrm>
            <a:off x="4624790" y="3682560"/>
            <a:ext cx="5264325" cy="2243131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00691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01EF2-BE67-C076-4206-2DB1E415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7B70C4-D8F6-561B-07E1-9381F7B3C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7" y="638713"/>
            <a:ext cx="9452388" cy="5304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9BD2D2-730E-DFF8-0D3F-ED7A07028172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05F8C9-9605-9367-2FCC-D0B23D9F0259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7052A9-3F84-A3D1-77D5-140CD3AEAD93}"/>
              </a:ext>
            </a:extLst>
          </p:cNvPr>
          <p:cNvSpPr/>
          <p:nvPr/>
        </p:nvSpPr>
        <p:spPr>
          <a:xfrm>
            <a:off x="436727" y="1138590"/>
            <a:ext cx="4212407" cy="488942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45375-8CDE-81F6-4C31-9373EDE56F43}"/>
              </a:ext>
            </a:extLst>
          </p:cNvPr>
          <p:cNvSpPr txBox="1"/>
          <p:nvPr/>
        </p:nvSpPr>
        <p:spPr>
          <a:xfrm>
            <a:off x="1068570" y="3917390"/>
            <a:ext cx="2948720" cy="1532334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Sentiment percentages are shown </a:t>
            </a:r>
            <a:br>
              <a:rPr lang="pl-PL" sz="1400" dirty="0"/>
            </a:br>
            <a:r>
              <a:rPr lang="pl-PL" sz="1400" dirty="0"/>
              <a:t>on the barplot below. 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Both visuals help establish </a:t>
            </a:r>
            <a:br>
              <a:rPr lang="pl-PL" sz="1400" dirty="0"/>
            </a:br>
            <a:r>
              <a:rPr lang="pl-PL" sz="1400" dirty="0"/>
              <a:t>the </a:t>
            </a:r>
            <a:r>
              <a:rPr lang="pl-PL" sz="1400" dirty="0">
                <a:solidFill>
                  <a:srgbClr val="A38600"/>
                </a:solidFill>
              </a:rPr>
              <a:t>most competitive rivals </a:t>
            </a:r>
            <a:br>
              <a:rPr lang="pl-PL" sz="1400" dirty="0">
                <a:solidFill>
                  <a:srgbClr val="A38600"/>
                </a:solidFill>
              </a:rPr>
            </a:br>
            <a:r>
              <a:rPr lang="pl-PL" sz="1400" dirty="0"/>
              <a:t>on the market and pricing options.</a:t>
            </a:r>
          </a:p>
        </p:txBody>
      </p:sp>
    </p:spTree>
    <p:extLst>
      <p:ext uri="{BB962C8B-B14F-4D97-AF65-F5344CB8AC3E}">
        <p14:creationId xmlns:p14="http://schemas.microsoft.com/office/powerpoint/2010/main" val="3477499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15618-586A-C5B9-9FAF-03AD3392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270CCF-3203-EFE1-53B0-BAEB03A1A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7" y="656713"/>
            <a:ext cx="9422876" cy="5304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234438-CD10-25E4-740A-17EA249E330B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6F7719-717C-D318-5E32-806CC16A805B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28FFBA-3DE6-57B0-1222-63CD2D9DE79E}"/>
              </a:ext>
            </a:extLst>
          </p:cNvPr>
          <p:cNvSpPr/>
          <p:nvPr/>
        </p:nvSpPr>
        <p:spPr>
          <a:xfrm>
            <a:off x="412383" y="1174590"/>
            <a:ext cx="9447220" cy="488942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7698BB-05BD-9002-53F6-12AF240768B9}"/>
                  </a:ext>
                </a:extLst>
              </p14:cNvPr>
              <p14:cNvContentPartPr/>
              <p14:nvPr/>
            </p14:nvContentPartPr>
            <p14:xfrm flipH="1">
              <a:off x="8651602" y="1267432"/>
              <a:ext cx="415326" cy="560273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7698BB-05BD-9002-53F6-12AF240768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8633607" y="1249440"/>
                <a:ext cx="450956" cy="595897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D22E496-1C2E-6725-C9AE-44403B4EBCEE}"/>
              </a:ext>
            </a:extLst>
          </p:cNvPr>
          <p:cNvSpPr txBox="1"/>
          <p:nvPr/>
        </p:nvSpPr>
        <p:spPr>
          <a:xfrm>
            <a:off x="7238129" y="1859188"/>
            <a:ext cx="3982322" cy="2247424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b="1" dirty="0"/>
              <a:t>YOUR TRENDS</a:t>
            </a:r>
            <a:r>
              <a:rPr lang="pl-PL" sz="1400" dirty="0"/>
              <a:t> page </a:t>
            </a:r>
            <a:r>
              <a:rPr lang="en-US" sz="1400" dirty="0"/>
              <a:t>compare</a:t>
            </a:r>
            <a:r>
              <a:rPr lang="pl-PL" sz="1400" dirty="0"/>
              <a:t>s</a:t>
            </a:r>
            <a:r>
              <a:rPr lang="en-US" sz="1400" dirty="0"/>
              <a:t> </a:t>
            </a:r>
            <a:r>
              <a:rPr lang="pl-PL" sz="1400" dirty="0"/>
              <a:t>Product Manager’s goals </a:t>
            </a:r>
            <a:r>
              <a:rPr lang="en-US" sz="1400" dirty="0"/>
              <a:t>with real-world benchmarks. </a:t>
            </a:r>
            <a:r>
              <a:rPr lang="pl-PL" sz="1400" dirty="0"/>
              <a:t>I</a:t>
            </a:r>
            <a:r>
              <a:rPr lang="en-US" sz="1400" dirty="0"/>
              <a:t>t highlights whether the typical </a:t>
            </a:r>
            <a:r>
              <a:rPr lang="pl-PL" sz="1400" dirty="0"/>
              <a:t>App </a:t>
            </a:r>
            <a:r>
              <a:rPr lang="en-US" sz="1400" dirty="0"/>
              <a:t>rating, price, size, and engagement levels </a:t>
            </a:r>
            <a:r>
              <a:rPr lang="pl-PL" sz="1400" dirty="0"/>
              <a:t>within chosen Category </a:t>
            </a:r>
            <a:r>
              <a:rPr lang="en-US" sz="1400" dirty="0"/>
              <a:t>align with what the </a:t>
            </a:r>
            <a:r>
              <a:rPr lang="pl-PL" sz="1400" dirty="0"/>
              <a:t>app creator</a:t>
            </a:r>
            <a:r>
              <a:rPr lang="en-US" sz="1400" dirty="0"/>
              <a:t> hopes to achieve.</a:t>
            </a:r>
            <a:endParaRPr lang="pl-PL" sz="1400" dirty="0"/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Users should start by clicking the </a:t>
            </a:r>
            <a:r>
              <a:rPr lang="pl-PL" sz="1400" dirty="0">
                <a:solidFill>
                  <a:srgbClr val="97497B"/>
                </a:solidFill>
              </a:rPr>
              <a:t>Bookmark</a:t>
            </a:r>
            <a:r>
              <a:rPr lang="pl-PL" sz="1400" dirty="0"/>
              <a:t> symbol to open Filters Panel.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2D59211-83D5-2D51-B784-784445935ACD}"/>
                  </a:ext>
                </a:extLst>
              </p14:cNvPr>
              <p14:cNvContentPartPr/>
              <p14:nvPr/>
            </p14:nvContentPartPr>
            <p14:xfrm>
              <a:off x="316269" y="640807"/>
              <a:ext cx="688077" cy="470817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2D59211-83D5-2D51-B784-784445935A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275" y="622809"/>
                <a:ext cx="723704" cy="5064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858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1A8DC-0D84-BF26-4149-AE116C01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5F008D5-7F1C-735A-BC2E-49F6E0A9B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7" y="656713"/>
            <a:ext cx="9422876" cy="5307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97A495-F904-6A42-6994-6380F1952DCE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A1CF30-4EC2-952A-0148-034EA466EF1D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6C64E7-CA8B-6E0F-B28D-0FC4B03270E1}"/>
              </a:ext>
            </a:extLst>
          </p:cNvPr>
          <p:cNvSpPr/>
          <p:nvPr/>
        </p:nvSpPr>
        <p:spPr>
          <a:xfrm>
            <a:off x="2857499" y="1174590"/>
            <a:ext cx="7002103" cy="488942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7CAC0D-2E81-3D46-54D9-A6E4F27EC891}"/>
              </a:ext>
            </a:extLst>
          </p:cNvPr>
          <p:cNvSpPr txBox="1"/>
          <p:nvPr/>
        </p:nvSpPr>
        <p:spPr>
          <a:xfrm>
            <a:off x="3006788" y="1258553"/>
            <a:ext cx="4382812" cy="1770698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In Filters Panel users can choose </a:t>
            </a:r>
            <a:r>
              <a:rPr lang="pl-PL" sz="1400" dirty="0">
                <a:solidFill>
                  <a:srgbClr val="A38600"/>
                </a:solidFill>
              </a:rPr>
              <a:t>App Category, Genre</a:t>
            </a:r>
            <a:r>
              <a:rPr lang="pl-PL" sz="1400" dirty="0"/>
              <a:t> and target group (</a:t>
            </a:r>
            <a:r>
              <a:rPr lang="pl-PL" sz="1400" dirty="0">
                <a:solidFill>
                  <a:srgbClr val="A38600"/>
                </a:solidFill>
              </a:rPr>
              <a:t>Content Rating</a:t>
            </a:r>
            <a:r>
              <a:rPr lang="pl-PL" sz="1400" dirty="0"/>
              <a:t>). 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Furthermore, several numerical KPIs (</a:t>
            </a:r>
            <a:r>
              <a:rPr lang="pl-PL" sz="1400" dirty="0">
                <a:solidFill>
                  <a:srgbClr val="A38600"/>
                </a:solidFill>
              </a:rPr>
              <a:t>Goals</a:t>
            </a:r>
            <a:r>
              <a:rPr lang="pl-PL" sz="1400" dirty="0"/>
              <a:t>) </a:t>
            </a:r>
            <a:br>
              <a:rPr lang="pl-PL" sz="1400" dirty="0"/>
            </a:br>
            <a:r>
              <a:rPr lang="pl-PL" sz="1400" dirty="0"/>
              <a:t>can be set to inform comparisons. For example, Product Managers may already have an idea </a:t>
            </a:r>
            <a:br>
              <a:rPr lang="pl-PL" sz="1400" dirty="0"/>
            </a:br>
            <a:r>
              <a:rPr lang="pl-PL" sz="1400" dirty="0"/>
              <a:t>of the </a:t>
            </a:r>
            <a:r>
              <a:rPr lang="pl-PL" sz="1400" dirty="0">
                <a:solidFill>
                  <a:srgbClr val="97497B"/>
                </a:solidFill>
              </a:rPr>
              <a:t>target App Rating</a:t>
            </a:r>
            <a:r>
              <a:rPr lang="pl-PL" sz="1400" b="1" dirty="0">
                <a:solidFill>
                  <a:srgbClr val="97497B"/>
                </a:solidFill>
              </a:rPr>
              <a:t> </a:t>
            </a:r>
            <a:r>
              <a:rPr lang="pl-PL" sz="1400" dirty="0"/>
              <a:t>the product should achieve.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0F78ADF-1FDE-E005-5623-F98EDCBE0DDA}"/>
                  </a:ext>
                </a:extLst>
              </p14:cNvPr>
              <p14:cNvContentPartPr/>
              <p14:nvPr/>
            </p14:nvContentPartPr>
            <p14:xfrm>
              <a:off x="3400320" y="343860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0F78ADF-1FDE-E005-5623-F98EDCBE0D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1320" y="34296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DD5894B-18F8-3E6E-312B-2A0DD371A1AC}"/>
                  </a:ext>
                </a:extLst>
              </p14:cNvPr>
              <p14:cNvContentPartPr/>
              <p14:nvPr/>
            </p14:nvContentPartPr>
            <p14:xfrm>
              <a:off x="4200240" y="424788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DD5894B-18F8-3E6E-312B-2A0DD371A1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82240" y="422988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E7198F0-1A6E-DACF-A7AB-F8CC83CB5B7B}"/>
                  </a:ext>
                </a:extLst>
              </p14:cNvPr>
              <p14:cNvContentPartPr/>
              <p14:nvPr/>
            </p14:nvContentPartPr>
            <p14:xfrm>
              <a:off x="2343000" y="3266880"/>
              <a:ext cx="280080" cy="544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E7198F0-1A6E-DACF-A7AB-F8CC83CB5B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25000" y="3248880"/>
                <a:ext cx="315720" cy="5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D7B85E9-B4B8-7799-ADD1-419747A9D4EE}"/>
                  </a:ext>
                </a:extLst>
              </p14:cNvPr>
              <p14:cNvContentPartPr/>
              <p14:nvPr/>
            </p14:nvContentPartPr>
            <p14:xfrm rot="10800000">
              <a:off x="512691" y="3266880"/>
              <a:ext cx="280080" cy="544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D7B85E9-B4B8-7799-ADD1-419747A9D4E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10800000">
                <a:off x="494691" y="3248880"/>
                <a:ext cx="315720" cy="58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180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EE0FD-975B-AF14-1C5A-7A2308602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1AE0F0-2D33-25E8-F712-F34500ECA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7" y="656713"/>
            <a:ext cx="9422876" cy="5304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1CBDAC-8AC0-C636-7F9F-B6DE7BF724BA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D44865-F62F-E47E-2D1C-3C3FA3F04D34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D9B89-626D-AB4C-C01B-D47E2FB70E41}"/>
              </a:ext>
            </a:extLst>
          </p:cNvPr>
          <p:cNvSpPr/>
          <p:nvPr/>
        </p:nvSpPr>
        <p:spPr>
          <a:xfrm>
            <a:off x="5057775" y="1174590"/>
            <a:ext cx="4801828" cy="4889422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45BB55-6834-C496-4A78-794902E679EE}"/>
              </a:ext>
            </a:extLst>
          </p:cNvPr>
          <p:cNvSpPr/>
          <p:nvPr/>
        </p:nvSpPr>
        <p:spPr>
          <a:xfrm>
            <a:off x="255947" y="3533774"/>
            <a:ext cx="4801828" cy="2530237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515BD-A80B-CB17-23AF-7272F87D0D0C}"/>
              </a:ext>
            </a:extLst>
          </p:cNvPr>
          <p:cNvSpPr txBox="1"/>
          <p:nvPr/>
        </p:nvSpPr>
        <p:spPr>
          <a:xfrm>
            <a:off x="5314079" y="1419939"/>
            <a:ext cx="3715621" cy="1770698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The page includes four plots showing </a:t>
            </a:r>
            <a:br>
              <a:rPr lang="pl-PL" sz="1400" dirty="0"/>
            </a:br>
            <a:r>
              <a:rPr lang="pl-PL" sz="1400" dirty="0"/>
              <a:t>the relationships between benchmark performance measures. 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For example, we can observe </a:t>
            </a:r>
            <a:r>
              <a:rPr lang="pl-PL" sz="1400" dirty="0">
                <a:solidFill>
                  <a:srgbClr val="A38600"/>
                </a:solidFill>
              </a:rPr>
              <a:t>moderate trend (dashed line) </a:t>
            </a:r>
            <a:r>
              <a:rPr lang="pl-PL" sz="1400" dirty="0"/>
              <a:t>of the number of App Installs increasing together with App Rating.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3C95CA0-4B44-CC26-2A4A-33ACC3FB5223}"/>
                  </a:ext>
                </a:extLst>
              </p14:cNvPr>
              <p14:cNvContentPartPr/>
              <p14:nvPr/>
            </p14:nvContentPartPr>
            <p14:xfrm flipH="1">
              <a:off x="4484175" y="2850391"/>
              <a:ext cx="829903" cy="1197734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3C95CA0-4B44-CC26-2A4A-33ACC3FB52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4466173" y="2832391"/>
                <a:ext cx="865547" cy="123337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7A42A2D-9C7F-922D-C23D-518A24E999F4}"/>
              </a:ext>
            </a:extLst>
          </p:cNvPr>
          <p:cNvSpPr txBox="1"/>
          <p:nvPr/>
        </p:nvSpPr>
        <p:spPr>
          <a:xfrm>
            <a:off x="5389603" y="3734389"/>
            <a:ext cx="3640098" cy="2009061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A number to the right is </a:t>
            </a:r>
            <a:r>
              <a:rPr lang="pl-PL" sz="1400" dirty="0">
                <a:solidFill>
                  <a:srgbClr val="97497B"/>
                </a:solidFill>
              </a:rPr>
              <a:t>median App Rating</a:t>
            </a:r>
            <a:r>
              <a:rPr lang="pl-PL" sz="1400" dirty="0"/>
              <a:t> </a:t>
            </a:r>
            <a:br>
              <a:rPr lang="pl-PL" sz="1400" dirty="0"/>
            </a:br>
            <a:r>
              <a:rPr lang="pl-PL" sz="1400" dirty="0"/>
              <a:t>for all Apps within previously chosen group (Category, Genre, Content Rating). </a:t>
            </a:r>
            <a:br>
              <a:rPr lang="pl-PL" sz="1400" dirty="0"/>
            </a:br>
            <a:br>
              <a:rPr lang="pl-PL" sz="1400" dirty="0"/>
            </a:br>
            <a:r>
              <a:rPr lang="pl-PL" sz="1400" dirty="0"/>
              <a:t>Importantly, this value is then compared </a:t>
            </a:r>
            <a:br>
              <a:rPr lang="pl-PL" sz="1400" dirty="0"/>
            </a:br>
            <a:r>
              <a:rPr lang="pl-PL" sz="1400" dirty="0"/>
              <a:t>to </a:t>
            </a:r>
            <a:r>
              <a:rPr lang="pl-PL" sz="1400" dirty="0">
                <a:solidFill>
                  <a:srgbClr val="97497B"/>
                </a:solidFill>
              </a:rPr>
              <a:t>goal App Rating</a:t>
            </a:r>
            <a:r>
              <a:rPr lang="pl-PL" sz="1400" dirty="0"/>
              <a:t>, to show how far does the target result stand from the real-world median. 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9D03AD9-370B-4316-2533-DADAE82EDA80}"/>
                  </a:ext>
                </a:extLst>
              </p14:cNvPr>
              <p14:cNvContentPartPr/>
              <p14:nvPr/>
            </p14:nvContentPartPr>
            <p14:xfrm>
              <a:off x="4378080" y="2276520"/>
              <a:ext cx="556200" cy="451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9D03AD9-370B-4316-2533-DADAE82EDA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60440" y="2258520"/>
                <a:ext cx="591840" cy="4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4959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1B8D3-8B12-8567-1587-4BE7F65B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9E0727-6EAA-D6DB-F238-C75D098BB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7" y="656713"/>
            <a:ext cx="9422876" cy="5304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0ED564-2172-BF4E-0D35-E1C581078565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20015-A050-BF0B-6737-83F881B8D6B3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A3B577-F889-0345-708D-FE25F9A99085}"/>
              </a:ext>
            </a:extLst>
          </p:cNvPr>
          <p:cNvSpPr/>
          <p:nvPr/>
        </p:nvSpPr>
        <p:spPr>
          <a:xfrm>
            <a:off x="255947" y="1204152"/>
            <a:ext cx="4801828" cy="2367723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A9D6F8-34ED-382D-2C5B-6FC46341E7D1}"/>
              </a:ext>
            </a:extLst>
          </p:cNvPr>
          <p:cNvSpPr txBox="1"/>
          <p:nvPr/>
        </p:nvSpPr>
        <p:spPr>
          <a:xfrm>
            <a:off x="875250" y="1860209"/>
            <a:ext cx="3715621" cy="1055608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Three remaining plots illustrate </a:t>
            </a:r>
            <a:br>
              <a:rPr lang="pl-PL" sz="1400" dirty="0"/>
            </a:br>
            <a:r>
              <a:rPr lang="pl-PL" sz="1400" dirty="0"/>
              <a:t>how does App Price, Size, and the number </a:t>
            </a:r>
            <a:br>
              <a:rPr lang="pl-PL" sz="1400" dirty="0"/>
            </a:br>
            <a:r>
              <a:rPr lang="pl-PL" sz="1400" dirty="0"/>
              <a:t>of Reviews correspond to their Star Rating </a:t>
            </a:r>
            <a:br>
              <a:rPr lang="pl-PL" sz="1400" dirty="0"/>
            </a:br>
            <a:r>
              <a:rPr lang="pl-PL" sz="1400" dirty="0"/>
              <a:t>and user engagement.</a:t>
            </a:r>
          </a:p>
        </p:txBody>
      </p:sp>
    </p:spTree>
    <p:extLst>
      <p:ext uri="{BB962C8B-B14F-4D97-AF65-F5344CB8AC3E}">
        <p14:creationId xmlns:p14="http://schemas.microsoft.com/office/powerpoint/2010/main" val="2411871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BE3F0-7D67-4B37-F1A4-076E17787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603641-8245-0154-ACB0-07CE7CCC7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7" y="656713"/>
            <a:ext cx="9422876" cy="5304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EBAFD0-297D-F972-CEAF-993693D5BD59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Creating the Dashboard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C4B045-0CBE-3B71-3F31-812EC560E26D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7CAB6-0F3D-A888-CB5E-A5CA7C01D91F}"/>
              </a:ext>
            </a:extLst>
          </p:cNvPr>
          <p:cNvSpPr/>
          <p:nvPr/>
        </p:nvSpPr>
        <p:spPr>
          <a:xfrm>
            <a:off x="255947" y="1204152"/>
            <a:ext cx="4801828" cy="2367723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6F3BA-2E90-6006-57E1-70B31A852F2E}"/>
              </a:ext>
            </a:extLst>
          </p:cNvPr>
          <p:cNvSpPr txBox="1"/>
          <p:nvPr/>
        </p:nvSpPr>
        <p:spPr>
          <a:xfrm>
            <a:off x="875250" y="1860209"/>
            <a:ext cx="3715621" cy="1055608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/>
              <a:t>Three remaining plots illustrate </a:t>
            </a:r>
            <a:br>
              <a:rPr lang="pl-PL" sz="1400" dirty="0"/>
            </a:br>
            <a:r>
              <a:rPr lang="pl-PL" sz="1400" dirty="0"/>
              <a:t>how does App Price, Size, and the number </a:t>
            </a:r>
            <a:br>
              <a:rPr lang="pl-PL" sz="1400" dirty="0"/>
            </a:br>
            <a:r>
              <a:rPr lang="pl-PL" sz="1400" dirty="0"/>
              <a:t>of Reviews correspond to their Star Rating </a:t>
            </a:r>
            <a:br>
              <a:rPr lang="pl-PL" sz="1400" dirty="0"/>
            </a:br>
            <a:r>
              <a:rPr lang="pl-PL" sz="1400" dirty="0"/>
              <a:t>and user engagement.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4C9036-0D47-9E1B-FA42-D9B2D7036350}"/>
              </a:ext>
            </a:extLst>
          </p:cNvPr>
          <p:cNvSpPr/>
          <p:nvPr/>
        </p:nvSpPr>
        <p:spPr>
          <a:xfrm>
            <a:off x="5148165" y="1204152"/>
            <a:ext cx="4801828" cy="4757540"/>
          </a:xfrm>
          <a:prstGeom prst="rect">
            <a:avLst/>
          </a:prstGeom>
          <a:solidFill>
            <a:srgbClr val="FFFFFF">
              <a:alpha val="94902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FADD60-0662-116F-5BC5-4EEDA1963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512" y="1398679"/>
            <a:ext cx="1715091" cy="43684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090918-7FD8-4868-4A21-AAAF85401298}"/>
              </a:ext>
            </a:extLst>
          </p:cNvPr>
          <p:cNvSpPr txBox="1"/>
          <p:nvPr/>
        </p:nvSpPr>
        <p:spPr>
          <a:xfrm>
            <a:off x="5514851" y="1248176"/>
            <a:ext cx="2224725" cy="817245"/>
          </a:xfrm>
          <a:prstGeom prst="roundRect">
            <a:avLst/>
          </a:prstGeom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tx1"/>
                </a:solidFill>
              </a:rPr>
              <a:t>Custom </a:t>
            </a:r>
            <a:r>
              <a:rPr lang="pl-PL" sz="1400" dirty="0">
                <a:solidFill>
                  <a:srgbClr val="A38600"/>
                </a:solidFill>
              </a:rPr>
              <a:t>DAX measures </a:t>
            </a:r>
            <a:r>
              <a:rPr lang="pl-PL" sz="1400" dirty="0">
                <a:solidFill>
                  <a:schemeClr val="tx1"/>
                </a:solidFill>
              </a:rPr>
              <a:t>and </a:t>
            </a:r>
            <a:r>
              <a:rPr lang="pl-PL" sz="1400" dirty="0">
                <a:solidFill>
                  <a:srgbClr val="A38600"/>
                </a:solidFill>
              </a:rPr>
              <a:t>tables</a:t>
            </a:r>
            <a:r>
              <a:rPr lang="pl-PL" sz="1400" dirty="0">
                <a:solidFill>
                  <a:schemeClr val="tx1"/>
                </a:solidFill>
              </a:rPr>
              <a:t> were created to maintain this solution.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5EC301A-F72B-A587-4534-4C3C18A8EEAD}"/>
                  </a:ext>
                </a:extLst>
              </p14:cNvPr>
              <p14:cNvContentPartPr/>
              <p14:nvPr/>
            </p14:nvContentPartPr>
            <p14:xfrm>
              <a:off x="7815515" y="1398679"/>
              <a:ext cx="177120" cy="516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5EC301A-F72B-A587-4534-4C3C18A8EE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7552" y="1380692"/>
                <a:ext cx="212688" cy="5518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6683F05-C8F7-B3FD-AF28-5018419CADD6}"/>
                  </a:ext>
                </a:extLst>
              </p14:cNvPr>
              <p14:cNvContentPartPr/>
              <p14:nvPr/>
            </p14:nvContentPartPr>
            <p14:xfrm rot="10800000">
              <a:off x="9951823" y="5250924"/>
              <a:ext cx="177120" cy="516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6683F05-C8F7-B3FD-AF28-5018419CAD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9933860" y="5232937"/>
                <a:ext cx="212688" cy="5518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2276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C380-C540-9737-24B0-33898BD8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200F261-DD13-E367-0500-16A00099AD64}"/>
              </a:ext>
            </a:extLst>
          </p:cNvPr>
          <p:cNvSpPr/>
          <p:nvPr/>
        </p:nvSpPr>
        <p:spPr>
          <a:xfrm>
            <a:off x="1291512" y="724753"/>
            <a:ext cx="9731742" cy="4085102"/>
          </a:xfrm>
          <a:prstGeom prst="rect">
            <a:avLst/>
          </a:prstGeom>
          <a:solidFill>
            <a:srgbClr val="E1D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0F99C20-07C3-0E93-8B72-756BB2A3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004" y="857297"/>
            <a:ext cx="9543732" cy="38308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917FA0-9980-7FF0-3E47-ACDCE2C8BB9B}"/>
              </a:ext>
            </a:extLst>
          </p:cNvPr>
          <p:cNvSpPr txBox="1"/>
          <p:nvPr/>
        </p:nvSpPr>
        <p:spPr>
          <a:xfrm>
            <a:off x="412383" y="154283"/>
            <a:ext cx="56707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000" b="1" dirty="0"/>
              <a:t>Final Dashboard Model</a:t>
            </a:r>
            <a:endParaRPr lang="LID4096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86AA8E-78FD-A636-659D-B00614E73D46}"/>
              </a:ext>
            </a:extLst>
          </p:cNvPr>
          <p:cNvSpPr/>
          <p:nvPr/>
        </p:nvSpPr>
        <p:spPr>
          <a:xfrm>
            <a:off x="412383" y="500393"/>
            <a:ext cx="5670748" cy="72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67DB6B-44F9-AF60-3D3A-170E792370CF}"/>
              </a:ext>
            </a:extLst>
          </p:cNvPr>
          <p:cNvSpPr/>
          <p:nvPr/>
        </p:nvSpPr>
        <p:spPr>
          <a:xfrm>
            <a:off x="2888904" y="1819323"/>
            <a:ext cx="1514475" cy="2825721"/>
          </a:xfrm>
          <a:prstGeom prst="rect">
            <a:avLst/>
          </a:prstGeom>
          <a:solidFill>
            <a:srgbClr val="A38600">
              <a:alpha val="10196"/>
            </a:srgbClr>
          </a:solidFill>
          <a:ln w="3175">
            <a:solidFill>
              <a:srgbClr val="A38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40D31A8-8530-31D1-3D38-5C6CB8B500FF}"/>
              </a:ext>
            </a:extLst>
          </p:cNvPr>
          <p:cNvSpPr/>
          <p:nvPr/>
        </p:nvSpPr>
        <p:spPr>
          <a:xfrm>
            <a:off x="1403005" y="857298"/>
            <a:ext cx="4505325" cy="3790950"/>
          </a:xfrm>
          <a:custGeom>
            <a:avLst/>
            <a:gdLst>
              <a:gd name="connsiteX0" fmla="*/ 1438275 w 4429125"/>
              <a:gd name="connsiteY0" fmla="*/ 3838575 h 3838575"/>
              <a:gd name="connsiteX1" fmla="*/ 0 w 4429125"/>
              <a:gd name="connsiteY1" fmla="*/ 3829050 h 3838575"/>
              <a:gd name="connsiteX2" fmla="*/ 0 w 4429125"/>
              <a:gd name="connsiteY2" fmla="*/ 0 h 3838575"/>
              <a:gd name="connsiteX3" fmla="*/ 4429125 w 4429125"/>
              <a:gd name="connsiteY3" fmla="*/ 19050 h 3838575"/>
              <a:gd name="connsiteX4" fmla="*/ 4419600 w 4429125"/>
              <a:gd name="connsiteY4" fmla="*/ 942975 h 3838575"/>
              <a:gd name="connsiteX5" fmla="*/ 1428750 w 4429125"/>
              <a:gd name="connsiteY5" fmla="*/ 942975 h 3838575"/>
              <a:gd name="connsiteX6" fmla="*/ 1438275 w 4429125"/>
              <a:gd name="connsiteY6" fmla="*/ 3838575 h 3838575"/>
              <a:gd name="connsiteX0" fmla="*/ 1438275 w 4429125"/>
              <a:gd name="connsiteY0" fmla="*/ 3838575 h 3838575"/>
              <a:gd name="connsiteX1" fmla="*/ 0 w 4429125"/>
              <a:gd name="connsiteY1" fmla="*/ 3829050 h 3838575"/>
              <a:gd name="connsiteX2" fmla="*/ 0 w 4429125"/>
              <a:gd name="connsiteY2" fmla="*/ 0 h 3838575"/>
              <a:gd name="connsiteX3" fmla="*/ 4429125 w 4429125"/>
              <a:gd name="connsiteY3" fmla="*/ 19050 h 3838575"/>
              <a:gd name="connsiteX4" fmla="*/ 4419600 w 4429125"/>
              <a:gd name="connsiteY4" fmla="*/ 942975 h 3838575"/>
              <a:gd name="connsiteX5" fmla="*/ 1419225 w 4429125"/>
              <a:gd name="connsiteY5" fmla="*/ 933450 h 3838575"/>
              <a:gd name="connsiteX6" fmla="*/ 1438275 w 4429125"/>
              <a:gd name="connsiteY6" fmla="*/ 3838575 h 3838575"/>
              <a:gd name="connsiteX0" fmla="*/ 1438275 w 4429125"/>
              <a:gd name="connsiteY0" fmla="*/ 3838575 h 3838575"/>
              <a:gd name="connsiteX1" fmla="*/ 0 w 4429125"/>
              <a:gd name="connsiteY1" fmla="*/ 3829050 h 3838575"/>
              <a:gd name="connsiteX2" fmla="*/ 0 w 4429125"/>
              <a:gd name="connsiteY2" fmla="*/ 0 h 3838575"/>
              <a:gd name="connsiteX3" fmla="*/ 4429125 w 4429125"/>
              <a:gd name="connsiteY3" fmla="*/ 19050 h 3838575"/>
              <a:gd name="connsiteX4" fmla="*/ 4419600 w 4429125"/>
              <a:gd name="connsiteY4" fmla="*/ 942975 h 3838575"/>
              <a:gd name="connsiteX5" fmla="*/ 1447800 w 4429125"/>
              <a:gd name="connsiteY5" fmla="*/ 933450 h 3838575"/>
              <a:gd name="connsiteX6" fmla="*/ 1438275 w 4429125"/>
              <a:gd name="connsiteY6" fmla="*/ 3838575 h 3838575"/>
              <a:gd name="connsiteX0" fmla="*/ 1438275 w 4429125"/>
              <a:gd name="connsiteY0" fmla="*/ 3838575 h 3838575"/>
              <a:gd name="connsiteX1" fmla="*/ 0 w 4429125"/>
              <a:gd name="connsiteY1" fmla="*/ 3829050 h 3838575"/>
              <a:gd name="connsiteX2" fmla="*/ 0 w 4429125"/>
              <a:gd name="connsiteY2" fmla="*/ 0 h 3838575"/>
              <a:gd name="connsiteX3" fmla="*/ 4429125 w 4429125"/>
              <a:gd name="connsiteY3" fmla="*/ 19050 h 3838575"/>
              <a:gd name="connsiteX4" fmla="*/ 4419600 w 4429125"/>
              <a:gd name="connsiteY4" fmla="*/ 942975 h 3838575"/>
              <a:gd name="connsiteX5" fmla="*/ 1409700 w 4429125"/>
              <a:gd name="connsiteY5" fmla="*/ 933450 h 3838575"/>
              <a:gd name="connsiteX6" fmla="*/ 1438275 w 4429125"/>
              <a:gd name="connsiteY6" fmla="*/ 3838575 h 3838575"/>
              <a:gd name="connsiteX0" fmla="*/ 1438275 w 4429125"/>
              <a:gd name="connsiteY0" fmla="*/ 3838575 h 3838575"/>
              <a:gd name="connsiteX1" fmla="*/ 0 w 4429125"/>
              <a:gd name="connsiteY1" fmla="*/ 3829050 h 3838575"/>
              <a:gd name="connsiteX2" fmla="*/ 0 w 4429125"/>
              <a:gd name="connsiteY2" fmla="*/ 0 h 3838575"/>
              <a:gd name="connsiteX3" fmla="*/ 4429125 w 4429125"/>
              <a:gd name="connsiteY3" fmla="*/ 19050 h 3838575"/>
              <a:gd name="connsiteX4" fmla="*/ 4419600 w 4429125"/>
              <a:gd name="connsiteY4" fmla="*/ 942975 h 3838575"/>
              <a:gd name="connsiteX5" fmla="*/ 1438275 w 4429125"/>
              <a:gd name="connsiteY5" fmla="*/ 923925 h 3838575"/>
              <a:gd name="connsiteX6" fmla="*/ 1438275 w 4429125"/>
              <a:gd name="connsiteY6" fmla="*/ 3838575 h 3838575"/>
              <a:gd name="connsiteX0" fmla="*/ 1438275 w 4429125"/>
              <a:gd name="connsiteY0" fmla="*/ 3819525 h 3819525"/>
              <a:gd name="connsiteX1" fmla="*/ 0 w 4429125"/>
              <a:gd name="connsiteY1" fmla="*/ 3810000 h 3819525"/>
              <a:gd name="connsiteX2" fmla="*/ 9525 w 4429125"/>
              <a:gd name="connsiteY2" fmla="*/ 0 h 3819525"/>
              <a:gd name="connsiteX3" fmla="*/ 4429125 w 4429125"/>
              <a:gd name="connsiteY3" fmla="*/ 0 h 3819525"/>
              <a:gd name="connsiteX4" fmla="*/ 4419600 w 4429125"/>
              <a:gd name="connsiteY4" fmla="*/ 923925 h 3819525"/>
              <a:gd name="connsiteX5" fmla="*/ 1438275 w 4429125"/>
              <a:gd name="connsiteY5" fmla="*/ 904875 h 3819525"/>
              <a:gd name="connsiteX6" fmla="*/ 1438275 w 4429125"/>
              <a:gd name="connsiteY6" fmla="*/ 3819525 h 3819525"/>
              <a:gd name="connsiteX0" fmla="*/ 1438275 w 4429125"/>
              <a:gd name="connsiteY0" fmla="*/ 3790950 h 3810000"/>
              <a:gd name="connsiteX1" fmla="*/ 0 w 4429125"/>
              <a:gd name="connsiteY1" fmla="*/ 3810000 h 3810000"/>
              <a:gd name="connsiteX2" fmla="*/ 9525 w 4429125"/>
              <a:gd name="connsiteY2" fmla="*/ 0 h 3810000"/>
              <a:gd name="connsiteX3" fmla="*/ 4429125 w 4429125"/>
              <a:gd name="connsiteY3" fmla="*/ 0 h 3810000"/>
              <a:gd name="connsiteX4" fmla="*/ 4419600 w 4429125"/>
              <a:gd name="connsiteY4" fmla="*/ 923925 h 3810000"/>
              <a:gd name="connsiteX5" fmla="*/ 1438275 w 4429125"/>
              <a:gd name="connsiteY5" fmla="*/ 904875 h 3810000"/>
              <a:gd name="connsiteX6" fmla="*/ 1438275 w 4429125"/>
              <a:gd name="connsiteY6" fmla="*/ 3790950 h 3810000"/>
              <a:gd name="connsiteX0" fmla="*/ 1438275 w 4429125"/>
              <a:gd name="connsiteY0" fmla="*/ 3790950 h 3790950"/>
              <a:gd name="connsiteX1" fmla="*/ 0 w 4429125"/>
              <a:gd name="connsiteY1" fmla="*/ 3790950 h 3790950"/>
              <a:gd name="connsiteX2" fmla="*/ 9525 w 4429125"/>
              <a:gd name="connsiteY2" fmla="*/ 0 h 3790950"/>
              <a:gd name="connsiteX3" fmla="*/ 4429125 w 4429125"/>
              <a:gd name="connsiteY3" fmla="*/ 0 h 3790950"/>
              <a:gd name="connsiteX4" fmla="*/ 4419600 w 4429125"/>
              <a:gd name="connsiteY4" fmla="*/ 923925 h 3790950"/>
              <a:gd name="connsiteX5" fmla="*/ 1438275 w 4429125"/>
              <a:gd name="connsiteY5" fmla="*/ 904875 h 3790950"/>
              <a:gd name="connsiteX6" fmla="*/ 1438275 w 4429125"/>
              <a:gd name="connsiteY6" fmla="*/ 3790950 h 3790950"/>
              <a:gd name="connsiteX0" fmla="*/ 1438275 w 4429125"/>
              <a:gd name="connsiteY0" fmla="*/ 3790950 h 3790950"/>
              <a:gd name="connsiteX1" fmla="*/ 0 w 4429125"/>
              <a:gd name="connsiteY1" fmla="*/ 3790950 h 3790950"/>
              <a:gd name="connsiteX2" fmla="*/ 9525 w 4429125"/>
              <a:gd name="connsiteY2" fmla="*/ 0 h 3790950"/>
              <a:gd name="connsiteX3" fmla="*/ 4429125 w 4429125"/>
              <a:gd name="connsiteY3" fmla="*/ 0 h 3790950"/>
              <a:gd name="connsiteX4" fmla="*/ 4419600 w 4429125"/>
              <a:gd name="connsiteY4" fmla="*/ 923925 h 3790950"/>
              <a:gd name="connsiteX5" fmla="*/ 1466850 w 4429125"/>
              <a:gd name="connsiteY5" fmla="*/ 933450 h 3790950"/>
              <a:gd name="connsiteX6" fmla="*/ 1438275 w 4429125"/>
              <a:gd name="connsiteY6" fmla="*/ 3790950 h 3790950"/>
              <a:gd name="connsiteX0" fmla="*/ 1485900 w 4429125"/>
              <a:gd name="connsiteY0" fmla="*/ 3790950 h 3790950"/>
              <a:gd name="connsiteX1" fmla="*/ 0 w 4429125"/>
              <a:gd name="connsiteY1" fmla="*/ 3790950 h 3790950"/>
              <a:gd name="connsiteX2" fmla="*/ 9525 w 4429125"/>
              <a:gd name="connsiteY2" fmla="*/ 0 h 3790950"/>
              <a:gd name="connsiteX3" fmla="*/ 4429125 w 4429125"/>
              <a:gd name="connsiteY3" fmla="*/ 0 h 3790950"/>
              <a:gd name="connsiteX4" fmla="*/ 4419600 w 4429125"/>
              <a:gd name="connsiteY4" fmla="*/ 923925 h 3790950"/>
              <a:gd name="connsiteX5" fmla="*/ 1466850 w 4429125"/>
              <a:gd name="connsiteY5" fmla="*/ 933450 h 3790950"/>
              <a:gd name="connsiteX6" fmla="*/ 1485900 w 4429125"/>
              <a:gd name="connsiteY6" fmla="*/ 3790950 h 3790950"/>
              <a:gd name="connsiteX0" fmla="*/ 1485900 w 4495800"/>
              <a:gd name="connsiteY0" fmla="*/ 3790950 h 3790950"/>
              <a:gd name="connsiteX1" fmla="*/ 0 w 4495800"/>
              <a:gd name="connsiteY1" fmla="*/ 3790950 h 3790950"/>
              <a:gd name="connsiteX2" fmla="*/ 9525 w 4495800"/>
              <a:gd name="connsiteY2" fmla="*/ 0 h 3790950"/>
              <a:gd name="connsiteX3" fmla="*/ 4429125 w 4495800"/>
              <a:gd name="connsiteY3" fmla="*/ 0 h 3790950"/>
              <a:gd name="connsiteX4" fmla="*/ 4495800 w 4495800"/>
              <a:gd name="connsiteY4" fmla="*/ 923925 h 3790950"/>
              <a:gd name="connsiteX5" fmla="*/ 1466850 w 4495800"/>
              <a:gd name="connsiteY5" fmla="*/ 933450 h 3790950"/>
              <a:gd name="connsiteX6" fmla="*/ 1485900 w 4495800"/>
              <a:gd name="connsiteY6" fmla="*/ 3790950 h 3790950"/>
              <a:gd name="connsiteX0" fmla="*/ 1485900 w 4505325"/>
              <a:gd name="connsiteY0" fmla="*/ 3790950 h 3790950"/>
              <a:gd name="connsiteX1" fmla="*/ 0 w 4505325"/>
              <a:gd name="connsiteY1" fmla="*/ 3790950 h 3790950"/>
              <a:gd name="connsiteX2" fmla="*/ 9525 w 4505325"/>
              <a:gd name="connsiteY2" fmla="*/ 0 h 3790950"/>
              <a:gd name="connsiteX3" fmla="*/ 4505325 w 4505325"/>
              <a:gd name="connsiteY3" fmla="*/ 9525 h 3790950"/>
              <a:gd name="connsiteX4" fmla="*/ 4495800 w 4505325"/>
              <a:gd name="connsiteY4" fmla="*/ 923925 h 3790950"/>
              <a:gd name="connsiteX5" fmla="*/ 1466850 w 4505325"/>
              <a:gd name="connsiteY5" fmla="*/ 933450 h 3790950"/>
              <a:gd name="connsiteX6" fmla="*/ 1485900 w 4505325"/>
              <a:gd name="connsiteY6" fmla="*/ 3790950 h 379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5325" h="3790950">
                <a:moveTo>
                  <a:pt x="1485900" y="3790950"/>
                </a:moveTo>
                <a:lnTo>
                  <a:pt x="0" y="3790950"/>
                </a:lnTo>
                <a:lnTo>
                  <a:pt x="9525" y="0"/>
                </a:lnTo>
                <a:lnTo>
                  <a:pt x="4505325" y="9525"/>
                </a:lnTo>
                <a:lnTo>
                  <a:pt x="4495800" y="923925"/>
                </a:lnTo>
                <a:lnTo>
                  <a:pt x="1466850" y="933450"/>
                </a:lnTo>
                <a:lnTo>
                  <a:pt x="1485900" y="3790950"/>
                </a:lnTo>
                <a:close/>
              </a:path>
            </a:pathLst>
          </a:custGeom>
          <a:solidFill>
            <a:srgbClr val="224378">
              <a:alpha val="20000"/>
            </a:srgbClr>
          </a:solidFill>
          <a:ln w="3175">
            <a:solidFill>
              <a:srgbClr val="2243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05D50E-EB83-D6FA-A7D2-5D714ABE3673}"/>
              </a:ext>
            </a:extLst>
          </p:cNvPr>
          <p:cNvSpPr/>
          <p:nvPr/>
        </p:nvSpPr>
        <p:spPr>
          <a:xfrm>
            <a:off x="1707804" y="5224105"/>
            <a:ext cx="180000" cy="180000"/>
          </a:xfrm>
          <a:prstGeom prst="rect">
            <a:avLst/>
          </a:prstGeom>
          <a:solidFill>
            <a:srgbClr val="A38600">
              <a:alpha val="20000"/>
            </a:srgbClr>
          </a:solidFill>
          <a:ln w="12700">
            <a:solidFill>
              <a:srgbClr val="A38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56BE12-E5D8-606F-D6F3-5D17E353D0D3}"/>
              </a:ext>
            </a:extLst>
          </p:cNvPr>
          <p:cNvSpPr/>
          <p:nvPr/>
        </p:nvSpPr>
        <p:spPr>
          <a:xfrm>
            <a:off x="1710626" y="5447944"/>
            <a:ext cx="180000" cy="180000"/>
          </a:xfrm>
          <a:prstGeom prst="rect">
            <a:avLst/>
          </a:prstGeom>
          <a:solidFill>
            <a:srgbClr val="224378">
              <a:alpha val="20000"/>
            </a:srgbClr>
          </a:solidFill>
          <a:ln w="12700">
            <a:solidFill>
              <a:srgbClr val="2243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16163D-DD1A-6A14-09F7-2825C35C9519}"/>
              </a:ext>
            </a:extLst>
          </p:cNvPr>
          <p:cNvSpPr/>
          <p:nvPr/>
        </p:nvSpPr>
        <p:spPr>
          <a:xfrm>
            <a:off x="1707804" y="5681310"/>
            <a:ext cx="180000" cy="180000"/>
          </a:xfrm>
          <a:prstGeom prst="rect">
            <a:avLst/>
          </a:prstGeom>
          <a:solidFill>
            <a:srgbClr val="3B7D23">
              <a:alpha val="20000"/>
            </a:srgbClr>
          </a:solidFill>
          <a:ln w="12700">
            <a:solidFill>
              <a:srgbClr val="3B7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8DC1A5A-D5AB-99F1-82FC-D862C85AB2FD}"/>
              </a:ext>
            </a:extLst>
          </p:cNvPr>
          <p:cNvSpPr/>
          <p:nvPr/>
        </p:nvSpPr>
        <p:spPr>
          <a:xfrm>
            <a:off x="4441480" y="866823"/>
            <a:ext cx="2952750" cy="3781425"/>
          </a:xfrm>
          <a:custGeom>
            <a:avLst/>
            <a:gdLst>
              <a:gd name="connsiteX0" fmla="*/ 0 w 2924175"/>
              <a:gd name="connsiteY0" fmla="*/ 1485900 h 3733800"/>
              <a:gd name="connsiteX1" fmla="*/ 1504950 w 2924175"/>
              <a:gd name="connsiteY1" fmla="*/ 1504950 h 3733800"/>
              <a:gd name="connsiteX2" fmla="*/ 1504950 w 2924175"/>
              <a:gd name="connsiteY2" fmla="*/ 0 h 3733800"/>
              <a:gd name="connsiteX3" fmla="*/ 2924175 w 2924175"/>
              <a:gd name="connsiteY3" fmla="*/ 9525 h 3733800"/>
              <a:gd name="connsiteX4" fmla="*/ 2924175 w 2924175"/>
              <a:gd name="connsiteY4" fmla="*/ 2695575 h 3733800"/>
              <a:gd name="connsiteX5" fmla="*/ 1504950 w 2924175"/>
              <a:gd name="connsiteY5" fmla="*/ 2686050 h 3733800"/>
              <a:gd name="connsiteX6" fmla="*/ 1504950 w 2924175"/>
              <a:gd name="connsiteY6" fmla="*/ 3733800 h 3733800"/>
              <a:gd name="connsiteX7" fmla="*/ 0 w 2924175"/>
              <a:gd name="connsiteY7" fmla="*/ 3733800 h 3733800"/>
              <a:gd name="connsiteX8" fmla="*/ 0 w 2924175"/>
              <a:gd name="connsiteY8" fmla="*/ 1485900 h 3733800"/>
              <a:gd name="connsiteX0" fmla="*/ 0 w 2924175"/>
              <a:gd name="connsiteY0" fmla="*/ 1485900 h 3781425"/>
              <a:gd name="connsiteX1" fmla="*/ 1504950 w 2924175"/>
              <a:gd name="connsiteY1" fmla="*/ 1504950 h 3781425"/>
              <a:gd name="connsiteX2" fmla="*/ 1504950 w 2924175"/>
              <a:gd name="connsiteY2" fmla="*/ 0 h 3781425"/>
              <a:gd name="connsiteX3" fmla="*/ 2924175 w 2924175"/>
              <a:gd name="connsiteY3" fmla="*/ 9525 h 3781425"/>
              <a:gd name="connsiteX4" fmla="*/ 2924175 w 2924175"/>
              <a:gd name="connsiteY4" fmla="*/ 2695575 h 3781425"/>
              <a:gd name="connsiteX5" fmla="*/ 1504950 w 2924175"/>
              <a:gd name="connsiteY5" fmla="*/ 2686050 h 3781425"/>
              <a:gd name="connsiteX6" fmla="*/ 1504950 w 2924175"/>
              <a:gd name="connsiteY6" fmla="*/ 3733800 h 3781425"/>
              <a:gd name="connsiteX7" fmla="*/ 9525 w 2924175"/>
              <a:gd name="connsiteY7" fmla="*/ 3781425 h 3781425"/>
              <a:gd name="connsiteX8" fmla="*/ 0 w 2924175"/>
              <a:gd name="connsiteY8" fmla="*/ 1485900 h 3781425"/>
              <a:gd name="connsiteX0" fmla="*/ 0 w 2924175"/>
              <a:gd name="connsiteY0" fmla="*/ 1485900 h 3781425"/>
              <a:gd name="connsiteX1" fmla="*/ 1504950 w 2924175"/>
              <a:gd name="connsiteY1" fmla="*/ 1504950 h 3781425"/>
              <a:gd name="connsiteX2" fmla="*/ 1504950 w 2924175"/>
              <a:gd name="connsiteY2" fmla="*/ 0 h 3781425"/>
              <a:gd name="connsiteX3" fmla="*/ 2924175 w 2924175"/>
              <a:gd name="connsiteY3" fmla="*/ 9525 h 3781425"/>
              <a:gd name="connsiteX4" fmla="*/ 2924175 w 2924175"/>
              <a:gd name="connsiteY4" fmla="*/ 2695575 h 3781425"/>
              <a:gd name="connsiteX5" fmla="*/ 1504950 w 2924175"/>
              <a:gd name="connsiteY5" fmla="*/ 2686050 h 3781425"/>
              <a:gd name="connsiteX6" fmla="*/ 1504950 w 2924175"/>
              <a:gd name="connsiteY6" fmla="*/ 3781425 h 3781425"/>
              <a:gd name="connsiteX7" fmla="*/ 9525 w 2924175"/>
              <a:gd name="connsiteY7" fmla="*/ 3781425 h 3781425"/>
              <a:gd name="connsiteX8" fmla="*/ 0 w 2924175"/>
              <a:gd name="connsiteY8" fmla="*/ 1485900 h 3781425"/>
              <a:gd name="connsiteX0" fmla="*/ 0 w 2924175"/>
              <a:gd name="connsiteY0" fmla="*/ 1485900 h 3781425"/>
              <a:gd name="connsiteX1" fmla="*/ 1504950 w 2924175"/>
              <a:gd name="connsiteY1" fmla="*/ 1504950 h 3781425"/>
              <a:gd name="connsiteX2" fmla="*/ 1504950 w 2924175"/>
              <a:gd name="connsiteY2" fmla="*/ 0 h 3781425"/>
              <a:gd name="connsiteX3" fmla="*/ 2924175 w 2924175"/>
              <a:gd name="connsiteY3" fmla="*/ 9525 h 3781425"/>
              <a:gd name="connsiteX4" fmla="*/ 2924175 w 2924175"/>
              <a:gd name="connsiteY4" fmla="*/ 2695575 h 3781425"/>
              <a:gd name="connsiteX5" fmla="*/ 1447800 w 2924175"/>
              <a:gd name="connsiteY5" fmla="*/ 2686050 h 3781425"/>
              <a:gd name="connsiteX6" fmla="*/ 1504950 w 2924175"/>
              <a:gd name="connsiteY6" fmla="*/ 3781425 h 3781425"/>
              <a:gd name="connsiteX7" fmla="*/ 9525 w 2924175"/>
              <a:gd name="connsiteY7" fmla="*/ 3781425 h 3781425"/>
              <a:gd name="connsiteX8" fmla="*/ 0 w 2924175"/>
              <a:gd name="connsiteY8" fmla="*/ 1485900 h 3781425"/>
              <a:gd name="connsiteX0" fmla="*/ 0 w 2924175"/>
              <a:gd name="connsiteY0" fmla="*/ 1485900 h 3781425"/>
              <a:gd name="connsiteX1" fmla="*/ 1504950 w 2924175"/>
              <a:gd name="connsiteY1" fmla="*/ 1504950 h 3781425"/>
              <a:gd name="connsiteX2" fmla="*/ 1504950 w 2924175"/>
              <a:gd name="connsiteY2" fmla="*/ 0 h 3781425"/>
              <a:gd name="connsiteX3" fmla="*/ 2924175 w 2924175"/>
              <a:gd name="connsiteY3" fmla="*/ 9525 h 3781425"/>
              <a:gd name="connsiteX4" fmla="*/ 2924175 w 2924175"/>
              <a:gd name="connsiteY4" fmla="*/ 2695575 h 3781425"/>
              <a:gd name="connsiteX5" fmla="*/ 1447800 w 2924175"/>
              <a:gd name="connsiteY5" fmla="*/ 2686050 h 3781425"/>
              <a:gd name="connsiteX6" fmla="*/ 1457325 w 2924175"/>
              <a:gd name="connsiteY6" fmla="*/ 3762375 h 3781425"/>
              <a:gd name="connsiteX7" fmla="*/ 9525 w 2924175"/>
              <a:gd name="connsiteY7" fmla="*/ 3781425 h 3781425"/>
              <a:gd name="connsiteX8" fmla="*/ 0 w 2924175"/>
              <a:gd name="connsiteY8" fmla="*/ 1485900 h 3781425"/>
              <a:gd name="connsiteX0" fmla="*/ 0 w 2924175"/>
              <a:gd name="connsiteY0" fmla="*/ 1485900 h 3781425"/>
              <a:gd name="connsiteX1" fmla="*/ 1504950 w 2924175"/>
              <a:gd name="connsiteY1" fmla="*/ 1504950 h 3781425"/>
              <a:gd name="connsiteX2" fmla="*/ 1504950 w 2924175"/>
              <a:gd name="connsiteY2" fmla="*/ 0 h 3781425"/>
              <a:gd name="connsiteX3" fmla="*/ 2924175 w 2924175"/>
              <a:gd name="connsiteY3" fmla="*/ 9525 h 3781425"/>
              <a:gd name="connsiteX4" fmla="*/ 2924175 w 2924175"/>
              <a:gd name="connsiteY4" fmla="*/ 2695575 h 3781425"/>
              <a:gd name="connsiteX5" fmla="*/ 1476375 w 2924175"/>
              <a:gd name="connsiteY5" fmla="*/ 2695575 h 3781425"/>
              <a:gd name="connsiteX6" fmla="*/ 1457325 w 2924175"/>
              <a:gd name="connsiteY6" fmla="*/ 3762375 h 3781425"/>
              <a:gd name="connsiteX7" fmla="*/ 9525 w 2924175"/>
              <a:gd name="connsiteY7" fmla="*/ 3781425 h 3781425"/>
              <a:gd name="connsiteX8" fmla="*/ 0 w 2924175"/>
              <a:gd name="connsiteY8" fmla="*/ 1485900 h 3781425"/>
              <a:gd name="connsiteX0" fmla="*/ 0 w 2924175"/>
              <a:gd name="connsiteY0" fmla="*/ 1485900 h 3781425"/>
              <a:gd name="connsiteX1" fmla="*/ 1504950 w 2924175"/>
              <a:gd name="connsiteY1" fmla="*/ 1504950 h 3781425"/>
              <a:gd name="connsiteX2" fmla="*/ 1504950 w 2924175"/>
              <a:gd name="connsiteY2" fmla="*/ 0 h 3781425"/>
              <a:gd name="connsiteX3" fmla="*/ 2924175 w 2924175"/>
              <a:gd name="connsiteY3" fmla="*/ 9525 h 3781425"/>
              <a:gd name="connsiteX4" fmla="*/ 2924175 w 2924175"/>
              <a:gd name="connsiteY4" fmla="*/ 2695575 h 3781425"/>
              <a:gd name="connsiteX5" fmla="*/ 1476375 w 2924175"/>
              <a:gd name="connsiteY5" fmla="*/ 2695575 h 3781425"/>
              <a:gd name="connsiteX6" fmla="*/ 1457325 w 2924175"/>
              <a:gd name="connsiteY6" fmla="*/ 3781425 h 3781425"/>
              <a:gd name="connsiteX7" fmla="*/ 9525 w 2924175"/>
              <a:gd name="connsiteY7" fmla="*/ 3781425 h 3781425"/>
              <a:gd name="connsiteX8" fmla="*/ 0 w 2924175"/>
              <a:gd name="connsiteY8" fmla="*/ 1485900 h 3781425"/>
              <a:gd name="connsiteX0" fmla="*/ 0 w 2924175"/>
              <a:gd name="connsiteY0" fmla="*/ 1485900 h 3781425"/>
              <a:gd name="connsiteX1" fmla="*/ 1504950 w 2924175"/>
              <a:gd name="connsiteY1" fmla="*/ 1504950 h 3781425"/>
              <a:gd name="connsiteX2" fmla="*/ 1504950 w 2924175"/>
              <a:gd name="connsiteY2" fmla="*/ 0 h 3781425"/>
              <a:gd name="connsiteX3" fmla="*/ 2924175 w 2924175"/>
              <a:gd name="connsiteY3" fmla="*/ 9525 h 3781425"/>
              <a:gd name="connsiteX4" fmla="*/ 2924175 w 2924175"/>
              <a:gd name="connsiteY4" fmla="*/ 2695575 h 3781425"/>
              <a:gd name="connsiteX5" fmla="*/ 1447800 w 2924175"/>
              <a:gd name="connsiteY5" fmla="*/ 2686050 h 3781425"/>
              <a:gd name="connsiteX6" fmla="*/ 1457325 w 2924175"/>
              <a:gd name="connsiteY6" fmla="*/ 3781425 h 3781425"/>
              <a:gd name="connsiteX7" fmla="*/ 9525 w 2924175"/>
              <a:gd name="connsiteY7" fmla="*/ 3781425 h 3781425"/>
              <a:gd name="connsiteX8" fmla="*/ 0 w 2924175"/>
              <a:gd name="connsiteY8" fmla="*/ 1485900 h 3781425"/>
              <a:gd name="connsiteX0" fmla="*/ 0 w 2924175"/>
              <a:gd name="connsiteY0" fmla="*/ 1485900 h 3781425"/>
              <a:gd name="connsiteX1" fmla="*/ 1504950 w 2924175"/>
              <a:gd name="connsiteY1" fmla="*/ 1504950 h 3781425"/>
              <a:gd name="connsiteX2" fmla="*/ 1504950 w 2924175"/>
              <a:gd name="connsiteY2" fmla="*/ 0 h 3781425"/>
              <a:gd name="connsiteX3" fmla="*/ 2924175 w 2924175"/>
              <a:gd name="connsiteY3" fmla="*/ 9525 h 3781425"/>
              <a:gd name="connsiteX4" fmla="*/ 2924175 w 2924175"/>
              <a:gd name="connsiteY4" fmla="*/ 2695575 h 3781425"/>
              <a:gd name="connsiteX5" fmla="*/ 1466850 w 2924175"/>
              <a:gd name="connsiteY5" fmla="*/ 2686050 h 3781425"/>
              <a:gd name="connsiteX6" fmla="*/ 1457325 w 2924175"/>
              <a:gd name="connsiteY6" fmla="*/ 3781425 h 3781425"/>
              <a:gd name="connsiteX7" fmla="*/ 9525 w 2924175"/>
              <a:gd name="connsiteY7" fmla="*/ 3781425 h 3781425"/>
              <a:gd name="connsiteX8" fmla="*/ 0 w 2924175"/>
              <a:gd name="connsiteY8" fmla="*/ 1485900 h 3781425"/>
              <a:gd name="connsiteX0" fmla="*/ 0 w 2952750"/>
              <a:gd name="connsiteY0" fmla="*/ 1485900 h 3781425"/>
              <a:gd name="connsiteX1" fmla="*/ 1504950 w 2952750"/>
              <a:gd name="connsiteY1" fmla="*/ 1504950 h 3781425"/>
              <a:gd name="connsiteX2" fmla="*/ 1504950 w 2952750"/>
              <a:gd name="connsiteY2" fmla="*/ 0 h 3781425"/>
              <a:gd name="connsiteX3" fmla="*/ 2924175 w 2952750"/>
              <a:gd name="connsiteY3" fmla="*/ 9525 h 3781425"/>
              <a:gd name="connsiteX4" fmla="*/ 2952750 w 2952750"/>
              <a:gd name="connsiteY4" fmla="*/ 2695575 h 3781425"/>
              <a:gd name="connsiteX5" fmla="*/ 1466850 w 2952750"/>
              <a:gd name="connsiteY5" fmla="*/ 2686050 h 3781425"/>
              <a:gd name="connsiteX6" fmla="*/ 1457325 w 2952750"/>
              <a:gd name="connsiteY6" fmla="*/ 3781425 h 3781425"/>
              <a:gd name="connsiteX7" fmla="*/ 9525 w 2952750"/>
              <a:gd name="connsiteY7" fmla="*/ 3781425 h 3781425"/>
              <a:gd name="connsiteX8" fmla="*/ 0 w 2952750"/>
              <a:gd name="connsiteY8" fmla="*/ 1485900 h 3781425"/>
              <a:gd name="connsiteX0" fmla="*/ 0 w 2952750"/>
              <a:gd name="connsiteY0" fmla="*/ 1485900 h 3781425"/>
              <a:gd name="connsiteX1" fmla="*/ 1504950 w 2952750"/>
              <a:gd name="connsiteY1" fmla="*/ 1504950 h 3781425"/>
              <a:gd name="connsiteX2" fmla="*/ 1504950 w 2952750"/>
              <a:gd name="connsiteY2" fmla="*/ 0 h 3781425"/>
              <a:gd name="connsiteX3" fmla="*/ 2924175 w 2952750"/>
              <a:gd name="connsiteY3" fmla="*/ 9525 h 3781425"/>
              <a:gd name="connsiteX4" fmla="*/ 2952750 w 2952750"/>
              <a:gd name="connsiteY4" fmla="*/ 2695575 h 3781425"/>
              <a:gd name="connsiteX5" fmla="*/ 1466850 w 2952750"/>
              <a:gd name="connsiteY5" fmla="*/ 2714625 h 3781425"/>
              <a:gd name="connsiteX6" fmla="*/ 1457325 w 2952750"/>
              <a:gd name="connsiteY6" fmla="*/ 3781425 h 3781425"/>
              <a:gd name="connsiteX7" fmla="*/ 9525 w 2952750"/>
              <a:gd name="connsiteY7" fmla="*/ 3781425 h 3781425"/>
              <a:gd name="connsiteX8" fmla="*/ 0 w 2952750"/>
              <a:gd name="connsiteY8" fmla="*/ 1485900 h 3781425"/>
              <a:gd name="connsiteX0" fmla="*/ 0 w 2952750"/>
              <a:gd name="connsiteY0" fmla="*/ 1485900 h 3781425"/>
              <a:gd name="connsiteX1" fmla="*/ 1504950 w 2952750"/>
              <a:gd name="connsiteY1" fmla="*/ 1504950 h 3781425"/>
              <a:gd name="connsiteX2" fmla="*/ 1504950 w 2952750"/>
              <a:gd name="connsiteY2" fmla="*/ 0 h 3781425"/>
              <a:gd name="connsiteX3" fmla="*/ 2924175 w 2952750"/>
              <a:gd name="connsiteY3" fmla="*/ 9525 h 3781425"/>
              <a:gd name="connsiteX4" fmla="*/ 2952750 w 2952750"/>
              <a:gd name="connsiteY4" fmla="*/ 2724150 h 3781425"/>
              <a:gd name="connsiteX5" fmla="*/ 1466850 w 2952750"/>
              <a:gd name="connsiteY5" fmla="*/ 2714625 h 3781425"/>
              <a:gd name="connsiteX6" fmla="*/ 1457325 w 2952750"/>
              <a:gd name="connsiteY6" fmla="*/ 3781425 h 3781425"/>
              <a:gd name="connsiteX7" fmla="*/ 9525 w 2952750"/>
              <a:gd name="connsiteY7" fmla="*/ 3781425 h 3781425"/>
              <a:gd name="connsiteX8" fmla="*/ 0 w 2952750"/>
              <a:gd name="connsiteY8" fmla="*/ 1485900 h 3781425"/>
              <a:gd name="connsiteX0" fmla="*/ 0 w 2952750"/>
              <a:gd name="connsiteY0" fmla="*/ 1485900 h 3781425"/>
              <a:gd name="connsiteX1" fmla="*/ 1504950 w 2952750"/>
              <a:gd name="connsiteY1" fmla="*/ 1504950 h 3781425"/>
              <a:gd name="connsiteX2" fmla="*/ 1504950 w 2952750"/>
              <a:gd name="connsiteY2" fmla="*/ 0 h 3781425"/>
              <a:gd name="connsiteX3" fmla="*/ 2952750 w 2952750"/>
              <a:gd name="connsiteY3" fmla="*/ 9525 h 3781425"/>
              <a:gd name="connsiteX4" fmla="*/ 2952750 w 2952750"/>
              <a:gd name="connsiteY4" fmla="*/ 2724150 h 3781425"/>
              <a:gd name="connsiteX5" fmla="*/ 1466850 w 2952750"/>
              <a:gd name="connsiteY5" fmla="*/ 2714625 h 3781425"/>
              <a:gd name="connsiteX6" fmla="*/ 1457325 w 2952750"/>
              <a:gd name="connsiteY6" fmla="*/ 3781425 h 3781425"/>
              <a:gd name="connsiteX7" fmla="*/ 9525 w 2952750"/>
              <a:gd name="connsiteY7" fmla="*/ 3781425 h 3781425"/>
              <a:gd name="connsiteX8" fmla="*/ 0 w 2952750"/>
              <a:gd name="connsiteY8" fmla="*/ 1485900 h 3781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52750" h="3781425">
                <a:moveTo>
                  <a:pt x="0" y="1485900"/>
                </a:moveTo>
                <a:lnTo>
                  <a:pt x="1504950" y="1504950"/>
                </a:lnTo>
                <a:lnTo>
                  <a:pt x="1504950" y="0"/>
                </a:lnTo>
                <a:lnTo>
                  <a:pt x="2952750" y="9525"/>
                </a:lnTo>
                <a:lnTo>
                  <a:pt x="2952750" y="2724150"/>
                </a:lnTo>
                <a:lnTo>
                  <a:pt x="1466850" y="2714625"/>
                </a:lnTo>
                <a:lnTo>
                  <a:pt x="1457325" y="3781425"/>
                </a:lnTo>
                <a:lnTo>
                  <a:pt x="9525" y="3781425"/>
                </a:lnTo>
                <a:lnTo>
                  <a:pt x="0" y="1485900"/>
                </a:lnTo>
                <a:close/>
              </a:path>
            </a:pathLst>
          </a:custGeom>
          <a:solidFill>
            <a:srgbClr val="3B7D23">
              <a:alpha val="20000"/>
            </a:srgbClr>
          </a:solidFill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4319CD-14D4-3166-A44D-504E9F5AF094}"/>
              </a:ext>
            </a:extLst>
          </p:cNvPr>
          <p:cNvSpPr/>
          <p:nvPr/>
        </p:nvSpPr>
        <p:spPr>
          <a:xfrm>
            <a:off x="9461154" y="917715"/>
            <a:ext cx="1440000" cy="792076"/>
          </a:xfrm>
          <a:prstGeom prst="rect">
            <a:avLst/>
          </a:prstGeom>
          <a:solidFill>
            <a:srgbClr val="3B7D23">
              <a:alpha val="20000"/>
            </a:srgbClr>
          </a:solidFill>
          <a:ln w="3175">
            <a:solidFill>
              <a:srgbClr val="3B7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95934A-A69B-0D54-89B8-143051DFFCF6}"/>
              </a:ext>
            </a:extLst>
          </p:cNvPr>
          <p:cNvSpPr/>
          <p:nvPr/>
        </p:nvSpPr>
        <p:spPr>
          <a:xfrm>
            <a:off x="1707804" y="5909926"/>
            <a:ext cx="180000" cy="180969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E0DD11-A032-FE4C-2ECB-7D9C1DEB6202}"/>
              </a:ext>
            </a:extLst>
          </p:cNvPr>
          <p:cNvSpPr/>
          <p:nvPr/>
        </p:nvSpPr>
        <p:spPr>
          <a:xfrm>
            <a:off x="7849703" y="1607432"/>
            <a:ext cx="1440000" cy="1260000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 w="31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52746D-F9BE-79FB-872B-C829E31ECE62}"/>
              </a:ext>
            </a:extLst>
          </p:cNvPr>
          <p:cNvSpPr/>
          <p:nvPr/>
        </p:nvSpPr>
        <p:spPr>
          <a:xfrm>
            <a:off x="9451629" y="2752773"/>
            <a:ext cx="1440000" cy="792075"/>
          </a:xfrm>
          <a:prstGeom prst="rect">
            <a:avLst/>
          </a:prstGeom>
          <a:solidFill>
            <a:srgbClr val="3B7D23">
              <a:alpha val="20000"/>
            </a:srgbClr>
          </a:solidFill>
          <a:ln w="3175">
            <a:solidFill>
              <a:srgbClr val="3B7D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E99D68-AFDF-AA8A-9BB0-6B5C4EB68668}"/>
              </a:ext>
            </a:extLst>
          </p:cNvPr>
          <p:cNvSpPr/>
          <p:nvPr/>
        </p:nvSpPr>
        <p:spPr>
          <a:xfrm>
            <a:off x="7441854" y="3360436"/>
            <a:ext cx="1440000" cy="1284608"/>
          </a:xfrm>
          <a:prstGeom prst="rect">
            <a:avLst/>
          </a:prstGeom>
          <a:solidFill>
            <a:srgbClr val="707070">
              <a:alpha val="20000"/>
            </a:srgbClr>
          </a:solidFill>
          <a:ln w="3175">
            <a:solidFill>
              <a:srgbClr val="707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87ECC2-EF6B-8C17-5890-E4BA612CF030}"/>
              </a:ext>
            </a:extLst>
          </p:cNvPr>
          <p:cNvSpPr txBox="1"/>
          <p:nvPr/>
        </p:nvSpPr>
        <p:spPr>
          <a:xfrm>
            <a:off x="1887805" y="5181118"/>
            <a:ext cx="5630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00" dirty="0"/>
              <a:t>DAX </a:t>
            </a:r>
            <a:r>
              <a:rPr lang="pl-PL" sz="1100" i="1" dirty="0"/>
              <a:t>_Measures</a:t>
            </a:r>
            <a:r>
              <a:rPr lang="pl-PL" sz="1100" dirty="0"/>
              <a:t> ensuring correct calculations across filters. </a:t>
            </a:r>
            <a:endParaRPr lang="LID4096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C3D042-9657-C00F-5D37-4A69F95A0357}"/>
              </a:ext>
            </a:extLst>
          </p:cNvPr>
          <p:cNvSpPr txBox="1"/>
          <p:nvPr/>
        </p:nvSpPr>
        <p:spPr>
          <a:xfrm>
            <a:off x="1887804" y="5409194"/>
            <a:ext cx="5630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00" dirty="0"/>
              <a:t>Additional ( </a:t>
            </a:r>
            <a:r>
              <a:rPr lang="pl-PL" sz="1100" i="1" dirty="0"/>
              <a:t>lookup_ </a:t>
            </a:r>
            <a:r>
              <a:rPr lang="pl-PL" sz="1100" dirty="0"/>
              <a:t>and </a:t>
            </a:r>
            <a:r>
              <a:rPr lang="pl-PL" sz="1100" i="1" dirty="0"/>
              <a:t>goal_ </a:t>
            </a:r>
            <a:r>
              <a:rPr lang="pl-PL" sz="1100" dirty="0"/>
              <a:t>) tables added to maintaing visuals and store input values. </a:t>
            </a:r>
            <a:endParaRPr lang="LID4096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EC414A-43F2-CABF-E5D3-A340FA2B7DDD}"/>
              </a:ext>
            </a:extLst>
          </p:cNvPr>
          <p:cNvSpPr txBox="1"/>
          <p:nvPr/>
        </p:nvSpPr>
        <p:spPr>
          <a:xfrm>
            <a:off x="1887804" y="5642890"/>
            <a:ext cx="5630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00" dirty="0"/>
              <a:t>Dimentional  ( </a:t>
            </a:r>
            <a:r>
              <a:rPr lang="pl-PL" sz="1100" i="1" dirty="0"/>
              <a:t>dim_ </a:t>
            </a:r>
            <a:r>
              <a:rPr lang="pl-PL" sz="1100" dirty="0"/>
              <a:t>) tables storing the source data and IDs. </a:t>
            </a:r>
            <a:endParaRPr lang="LID4096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E50CA1-82B3-07DC-3D9A-25088A966575}"/>
              </a:ext>
            </a:extLst>
          </p:cNvPr>
          <p:cNvSpPr txBox="1"/>
          <p:nvPr/>
        </p:nvSpPr>
        <p:spPr>
          <a:xfrm>
            <a:off x="1887804" y="5872488"/>
            <a:ext cx="5630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00" dirty="0"/>
              <a:t>Bridging ( </a:t>
            </a:r>
            <a:r>
              <a:rPr lang="pl-PL" sz="1100" i="1" dirty="0"/>
              <a:t>brid_</a:t>
            </a:r>
            <a:r>
              <a:rPr lang="pl-PL" sz="1100" dirty="0"/>
              <a:t> ) table maintaining proper hierarchy of App</a:t>
            </a:r>
            <a:r>
              <a:rPr lang="en-US" sz="1100" dirty="0"/>
              <a:t>–</a:t>
            </a:r>
            <a:r>
              <a:rPr lang="pl-PL" sz="1100" dirty="0">
                <a:sym typeface="Wingdings" panose="05000000000000000000" pitchFamily="2" charset="2"/>
              </a:rPr>
              <a:t>Genre</a:t>
            </a:r>
            <a:r>
              <a:rPr lang="en-US" sz="1100" dirty="0"/>
              <a:t>–</a:t>
            </a:r>
            <a:r>
              <a:rPr lang="pl-PL" sz="1100" dirty="0">
                <a:sym typeface="Wingdings" panose="05000000000000000000" pitchFamily="2" charset="2"/>
              </a:rPr>
              <a:t>Category</a:t>
            </a:r>
            <a:r>
              <a:rPr lang="pl-PL" sz="1100" dirty="0"/>
              <a:t>. </a:t>
            </a:r>
            <a:endParaRPr lang="LID4096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58EBA2-66EF-835E-2D63-C95E3A37FF27}"/>
              </a:ext>
            </a:extLst>
          </p:cNvPr>
          <p:cNvSpPr/>
          <p:nvPr/>
        </p:nvSpPr>
        <p:spPr>
          <a:xfrm>
            <a:off x="1707804" y="6136318"/>
            <a:ext cx="180000" cy="180969"/>
          </a:xfrm>
          <a:prstGeom prst="rect">
            <a:avLst/>
          </a:prstGeom>
          <a:solidFill>
            <a:srgbClr val="707070">
              <a:alpha val="20000"/>
            </a:srgbClr>
          </a:solidFill>
          <a:ln w="12700">
            <a:solidFill>
              <a:srgbClr val="707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788242-B3CB-0793-1AFB-561B72703D6E}"/>
              </a:ext>
            </a:extLst>
          </p:cNvPr>
          <p:cNvSpPr txBox="1"/>
          <p:nvPr/>
        </p:nvSpPr>
        <p:spPr>
          <a:xfrm>
            <a:off x="1887804" y="6095997"/>
            <a:ext cx="5630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00" dirty="0"/>
              <a:t>Original source data table ( </a:t>
            </a:r>
            <a:r>
              <a:rPr lang="pl-PL" sz="1100" i="1" dirty="0"/>
              <a:t>fact_</a:t>
            </a:r>
            <a:r>
              <a:rPr lang="pl-PL" sz="1100" dirty="0"/>
              <a:t> ). </a:t>
            </a:r>
            <a:endParaRPr lang="LID4096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E542BF-3FDD-486F-1762-D5AFCD0CCCBF}"/>
              </a:ext>
            </a:extLst>
          </p:cNvPr>
          <p:cNvSpPr txBox="1"/>
          <p:nvPr/>
        </p:nvSpPr>
        <p:spPr>
          <a:xfrm>
            <a:off x="1393480" y="4887245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b="1" dirty="0"/>
              <a:t>Legend:</a:t>
            </a:r>
            <a:endParaRPr lang="LID4096" sz="1400" b="1" dirty="0"/>
          </a:p>
        </p:txBody>
      </p:sp>
    </p:spTree>
    <p:extLst>
      <p:ext uri="{BB962C8B-B14F-4D97-AF65-F5344CB8AC3E}">
        <p14:creationId xmlns:p14="http://schemas.microsoft.com/office/powerpoint/2010/main" val="3871175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0C400-E2AF-877F-3B82-19218394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4D243D6-B0C3-091C-C1FB-55211A4AF45A}"/>
              </a:ext>
            </a:extLst>
          </p:cNvPr>
          <p:cNvSpPr txBox="1"/>
          <p:nvPr/>
        </p:nvSpPr>
        <p:spPr>
          <a:xfrm>
            <a:off x="425251" y="15428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1" dirty="0"/>
              <a:t>Final results</a:t>
            </a:r>
            <a:endParaRPr lang="LID4096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4938B7-8E07-C82B-80AA-0BB139682C8A}"/>
              </a:ext>
            </a:extLst>
          </p:cNvPr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noFill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F559DD-0A9C-69B4-B398-7F7154215961}"/>
              </a:ext>
            </a:extLst>
          </p:cNvPr>
          <p:cNvSpPr/>
          <p:nvPr/>
        </p:nvSpPr>
        <p:spPr>
          <a:xfrm>
            <a:off x="425252" y="677501"/>
            <a:ext cx="5670748" cy="108000"/>
          </a:xfrm>
          <a:prstGeom prst="rect">
            <a:avLst/>
          </a:prstGeom>
          <a:solidFill>
            <a:srgbClr val="97497B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5A7DE-B69E-EEDD-F146-2519835E782B}"/>
              </a:ext>
            </a:extLst>
          </p:cNvPr>
          <p:cNvSpPr txBox="1"/>
          <p:nvPr/>
        </p:nvSpPr>
        <p:spPr>
          <a:xfrm>
            <a:off x="425251" y="882415"/>
            <a:ext cx="61638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dirty="0">
                <a:latin typeface="system-ui"/>
              </a:rPr>
              <a:t>	</a:t>
            </a:r>
            <a:r>
              <a:rPr lang="pl-PL" sz="1600" b="1" dirty="0">
                <a:solidFill>
                  <a:srgbClr val="97497B"/>
                </a:solidFill>
                <a:latin typeface="system-ui"/>
              </a:rPr>
              <a:t>prep_fact_data.csv</a:t>
            </a:r>
          </a:p>
          <a:p>
            <a:r>
              <a:rPr lang="pl-PL" sz="1600" b="1" i="1" dirty="0">
                <a:solidFill>
                  <a:srgbClr val="224378"/>
                </a:solidFill>
                <a:latin typeface="system-ui"/>
              </a:rPr>
              <a:t>	</a:t>
            </a:r>
            <a:r>
              <a:rPr lang="pl-PL" sz="1200" i="1" dirty="0">
                <a:latin typeface="system-ui"/>
              </a:rPr>
              <a:t>the main dataset merged from both Kaggle data sources </a:t>
            </a:r>
            <a:br>
              <a:rPr lang="pl-PL" sz="1200" i="1" dirty="0">
                <a:latin typeface="system-ui"/>
              </a:rPr>
            </a:br>
            <a:r>
              <a:rPr lang="pl-PL" sz="1200" i="1" dirty="0">
                <a:latin typeface="system-ui"/>
              </a:rPr>
              <a:t>	{googleplaystore.csv, googleplaystore_user_reviews.csv} </a:t>
            </a:r>
            <a:br>
              <a:rPr lang="pl-PL" sz="1200" i="1" dirty="0">
                <a:latin typeface="system-ui"/>
              </a:rPr>
            </a:br>
            <a:r>
              <a:rPr lang="pl-PL" sz="1200" i="1" dirty="0">
                <a:latin typeface="system-ui"/>
              </a:rPr>
              <a:t>	and preprocessed using Python codes.</a:t>
            </a:r>
          </a:p>
          <a:p>
            <a:pPr lvl="2"/>
            <a:endParaRPr lang="pl-PL" sz="1600" dirty="0">
              <a:latin typeface="system-ui"/>
            </a:endParaRPr>
          </a:p>
          <a:p>
            <a:r>
              <a:rPr lang="pl-PL" sz="1600" b="1" dirty="0">
                <a:solidFill>
                  <a:srgbClr val="224378"/>
                </a:solidFill>
                <a:latin typeface="system-ui"/>
              </a:rPr>
              <a:t>	</a:t>
            </a:r>
            <a:r>
              <a:rPr lang="pl-PL" sz="1600" b="1" dirty="0">
                <a:solidFill>
                  <a:srgbClr val="97497B"/>
                </a:solidFill>
                <a:latin typeface="system-ui"/>
              </a:rPr>
              <a:t>preprocessing_code.py</a:t>
            </a:r>
          </a:p>
          <a:p>
            <a:pPr lvl="2"/>
            <a:r>
              <a:rPr lang="pl-PL" sz="1200" i="1" dirty="0">
                <a:latin typeface="system-ui"/>
              </a:rPr>
              <a:t>the Python code that can be re-used in future </a:t>
            </a:r>
            <a:br>
              <a:rPr lang="pl-PL" sz="1200" i="1" dirty="0">
                <a:latin typeface="system-ui"/>
              </a:rPr>
            </a:br>
            <a:r>
              <a:rPr lang="pl-PL" sz="1200" i="1" dirty="0">
                <a:latin typeface="system-ui"/>
              </a:rPr>
              <a:t>in case of a database update.</a:t>
            </a:r>
          </a:p>
          <a:p>
            <a:pPr lvl="2"/>
            <a:endParaRPr lang="pl-PL" sz="1600" i="1" dirty="0">
              <a:latin typeface="system-ui"/>
            </a:endParaRPr>
          </a:p>
          <a:p>
            <a:r>
              <a:rPr lang="pl-PL" sz="1600" b="1" dirty="0">
                <a:solidFill>
                  <a:srgbClr val="97497B"/>
                </a:solidFill>
                <a:latin typeface="system-ui"/>
              </a:rPr>
              <a:t>	Consultant_Dashboard.pbix</a:t>
            </a:r>
          </a:p>
          <a:p>
            <a:pPr lvl="2"/>
            <a:r>
              <a:rPr lang="pl-PL" sz="1200" i="1" dirty="0">
                <a:latin typeface="system-ui"/>
              </a:rPr>
              <a:t>the PowerBI dashboard based on the preprocessed dataset</a:t>
            </a:r>
            <a:br>
              <a:rPr lang="pl-PL" sz="1200" i="1" dirty="0">
                <a:latin typeface="system-ui"/>
              </a:rPr>
            </a:br>
            <a:r>
              <a:rPr lang="pl-PL" sz="1200" i="1" dirty="0">
                <a:latin typeface="system-ui"/>
              </a:rPr>
              <a:t>{prep_fact_data.csv} </a:t>
            </a:r>
          </a:p>
          <a:p>
            <a:pPr lvl="2"/>
            <a:endParaRPr lang="pl-PL" sz="1200" i="1" dirty="0">
              <a:latin typeface="system-ui"/>
            </a:endParaRPr>
          </a:p>
        </p:txBody>
      </p:sp>
      <p:pic>
        <p:nvPicPr>
          <p:cNvPr id="5" name="Picture 2" descr="36- data source Vector Icons free download in SVG, PNG Format">
            <a:extLst>
              <a:ext uri="{FF2B5EF4-FFF2-40B4-BE49-F238E27FC236}">
                <a16:creationId xmlns:a16="http://schemas.microsoft.com/office/drawing/2014/main" id="{9B15A48D-963C-3302-F12C-011D9197F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22" y="1119859"/>
            <a:ext cx="434788" cy="43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de flat color outline icon 10332153 PNG">
            <a:extLst>
              <a:ext uri="{FF2B5EF4-FFF2-40B4-BE49-F238E27FC236}">
                <a16:creationId xmlns:a16="http://schemas.microsoft.com/office/drawing/2014/main" id="{960A0BC4-88AA-4D80-11DB-678BD5E57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16429" y="1974471"/>
            <a:ext cx="408435" cy="40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59F135-4B04-EEDA-A1C6-21C361547A03}"/>
              </a:ext>
            </a:extLst>
          </p:cNvPr>
          <p:cNvSpPr/>
          <p:nvPr/>
        </p:nvSpPr>
        <p:spPr>
          <a:xfrm>
            <a:off x="1007872" y="2859944"/>
            <a:ext cx="100914" cy="3131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9033BD-27AE-B669-AEF1-17DA27BECDBD}"/>
              </a:ext>
            </a:extLst>
          </p:cNvPr>
          <p:cNvSpPr/>
          <p:nvPr/>
        </p:nvSpPr>
        <p:spPr>
          <a:xfrm>
            <a:off x="931672" y="2940818"/>
            <a:ext cx="100914" cy="232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4FCBE4-0F0A-78F8-38BB-2DC91617A4FC}"/>
              </a:ext>
            </a:extLst>
          </p:cNvPr>
          <p:cNvSpPr/>
          <p:nvPr/>
        </p:nvSpPr>
        <p:spPr>
          <a:xfrm>
            <a:off x="868858" y="3005812"/>
            <a:ext cx="100914" cy="1672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7325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8C839-0ADB-6E42-D7D0-17622F0C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F0C1C9-B65C-576E-8A90-ADE8BCDDF05F}"/>
              </a:ext>
            </a:extLst>
          </p:cNvPr>
          <p:cNvSpPr/>
          <p:nvPr/>
        </p:nvSpPr>
        <p:spPr>
          <a:xfrm>
            <a:off x="425251" y="677502"/>
            <a:ext cx="5670748" cy="120355"/>
          </a:xfrm>
          <a:prstGeom prst="rect">
            <a:avLst/>
          </a:prstGeom>
          <a:solidFill>
            <a:srgbClr val="224378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noFill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604B98-9649-AB0F-F503-52B8B06D4645}"/>
              </a:ext>
            </a:extLst>
          </p:cNvPr>
          <p:cNvSpPr/>
          <p:nvPr/>
        </p:nvSpPr>
        <p:spPr>
          <a:xfrm>
            <a:off x="425252" y="677501"/>
            <a:ext cx="5670748" cy="108000"/>
          </a:xfrm>
          <a:prstGeom prst="rect">
            <a:avLst/>
          </a:prstGeom>
          <a:solidFill>
            <a:srgbClr val="97497B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99A2DA-1AEE-AE3E-BEEC-9309F55F011E}"/>
              </a:ext>
            </a:extLst>
          </p:cNvPr>
          <p:cNvSpPr/>
          <p:nvPr/>
        </p:nvSpPr>
        <p:spPr>
          <a:xfrm>
            <a:off x="6096000" y="675866"/>
            <a:ext cx="5670748" cy="108000"/>
          </a:xfrm>
          <a:prstGeom prst="rect">
            <a:avLst/>
          </a:prstGeom>
          <a:solidFill>
            <a:srgbClr val="97497B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F7252-0CD8-DB3C-63FA-0A8C8A8A0BB4}"/>
              </a:ext>
            </a:extLst>
          </p:cNvPr>
          <p:cNvSpPr txBox="1"/>
          <p:nvPr/>
        </p:nvSpPr>
        <p:spPr>
          <a:xfrm>
            <a:off x="6095999" y="153464"/>
            <a:ext cx="5670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l-PL" sz="2800" b="1" dirty="0"/>
              <a:t>Limitations of</a:t>
            </a:r>
            <a:r>
              <a:rPr lang="en-US" sz="2800" b="1" dirty="0"/>
              <a:t> </a:t>
            </a:r>
            <a:r>
              <a:rPr lang="pl-PL" sz="2800" b="1" dirty="0"/>
              <a:t>d</a:t>
            </a:r>
            <a:r>
              <a:rPr lang="en-US" sz="2800" b="1" dirty="0"/>
              <a:t>ata </a:t>
            </a:r>
            <a:r>
              <a:rPr lang="pl-PL" sz="2800" b="1" dirty="0"/>
              <a:t>c</a:t>
            </a:r>
            <a:r>
              <a:rPr lang="en-US" sz="2800" b="1" dirty="0"/>
              <a:t>overage</a:t>
            </a:r>
            <a:endParaRPr lang="LID4096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BCC138-91A8-13AC-6A81-3D9F35C0AFAE}"/>
              </a:ext>
            </a:extLst>
          </p:cNvPr>
          <p:cNvSpPr txBox="1"/>
          <p:nvPr/>
        </p:nvSpPr>
        <p:spPr>
          <a:xfrm>
            <a:off x="6095999" y="880780"/>
            <a:ext cx="567074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 </a:t>
            </a:r>
            <a:endParaRPr lang="pl-PL" sz="1600" dirty="0"/>
          </a:p>
          <a:p>
            <a:pPr marL="285750" indent="-285750" algn="just">
              <a:buFontTx/>
              <a:buChar char="-"/>
            </a:pPr>
            <a:r>
              <a:rPr lang="en-US" sz="1400" dirty="0"/>
              <a:t>The </a:t>
            </a:r>
            <a:r>
              <a:rPr lang="en-US" sz="1400" i="1" dirty="0">
                <a:solidFill>
                  <a:srgbClr val="97497B"/>
                </a:solidFill>
              </a:rPr>
              <a:t>Last Updated </a:t>
            </a:r>
            <a:r>
              <a:rPr lang="en-US" sz="1400" dirty="0"/>
              <a:t>field does not extend beyond 2018, indicating </a:t>
            </a:r>
            <a:br>
              <a:rPr lang="pl-PL" sz="1400" dirty="0"/>
            </a:br>
            <a:r>
              <a:rPr lang="en-US" sz="1400" dirty="0"/>
              <a:t>that the source dataset is no longer current and may not fully reflect today’s app-store landscape.</a:t>
            </a:r>
            <a:endParaRPr lang="pl-PL" sz="1400" dirty="0"/>
          </a:p>
          <a:p>
            <a:pPr algn="just"/>
            <a:endParaRPr lang="pl-PL" sz="1400" i="1" dirty="0"/>
          </a:p>
          <a:p>
            <a:pPr marL="285750" indent="-285750" algn="just">
              <a:buFontTx/>
              <a:buChar char="-"/>
            </a:pPr>
            <a:r>
              <a:rPr lang="en-US" sz="1400" dirty="0"/>
              <a:t>Several </a:t>
            </a:r>
            <a:r>
              <a:rPr lang="pl-PL" sz="1400" i="1" dirty="0">
                <a:solidFill>
                  <a:srgbClr val="97497B"/>
                </a:solidFill>
              </a:rPr>
              <a:t>G</a:t>
            </a:r>
            <a:r>
              <a:rPr lang="en-US" sz="1400" i="1" dirty="0">
                <a:solidFill>
                  <a:srgbClr val="97497B"/>
                </a:solidFill>
              </a:rPr>
              <a:t>enres </a:t>
            </a:r>
            <a:r>
              <a:rPr lang="en-US" sz="1400" dirty="0"/>
              <a:t>contain only a small number of </a:t>
            </a:r>
            <a:r>
              <a:rPr lang="pl-PL" sz="1400" dirty="0"/>
              <a:t>A</a:t>
            </a:r>
            <a:r>
              <a:rPr lang="en-US" sz="1400" dirty="0"/>
              <a:t>pps, which limits the reliability of </a:t>
            </a:r>
            <a:r>
              <a:rPr lang="pl-PL" sz="1400" dirty="0"/>
              <a:t>some</a:t>
            </a:r>
            <a:r>
              <a:rPr lang="en-US" sz="1400" dirty="0"/>
              <a:t> category-level comparisons or trend-based interpretation</a:t>
            </a:r>
            <a:r>
              <a:rPr lang="pl-PL" sz="1400" dirty="0"/>
              <a:t>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27B38AA-14F4-AC7C-587F-9B9683B5F827}"/>
                  </a:ext>
                </a:extLst>
              </p14:cNvPr>
              <p14:cNvContentPartPr/>
              <p14:nvPr/>
            </p14:nvContentPartPr>
            <p14:xfrm>
              <a:off x="11219317" y="3133431"/>
              <a:ext cx="280080" cy="1094535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27B38AA-14F4-AC7C-587F-9B9683B5F8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01317" y="3115789"/>
                <a:ext cx="315720" cy="11301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CBC3481-232F-AF87-AD2A-4B397B88A03D}"/>
                  </a:ext>
                </a:extLst>
              </p14:cNvPr>
              <p14:cNvContentPartPr/>
              <p14:nvPr/>
            </p14:nvContentPartPr>
            <p14:xfrm rot="10800000">
              <a:off x="6624249" y="3128258"/>
              <a:ext cx="280080" cy="1099709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CBC3481-232F-AF87-AD2A-4B397B88A0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10800000">
                <a:off x="6606249" y="3110614"/>
                <a:ext cx="315720" cy="113535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DD8D0BE-29C3-2FAF-F0B3-B62A05042A5E}"/>
              </a:ext>
            </a:extLst>
          </p:cNvPr>
          <p:cNvSpPr txBox="1"/>
          <p:nvPr/>
        </p:nvSpPr>
        <p:spPr>
          <a:xfrm>
            <a:off x="6764289" y="3206128"/>
            <a:ext cx="45950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896938"/>
            <a:r>
              <a:rPr lang="en-US" sz="1400" i="1" dirty="0"/>
              <a:t>This dashboard was </a:t>
            </a:r>
            <a:r>
              <a:rPr lang="pl-PL" sz="1400" i="1" dirty="0"/>
              <a:t>created</a:t>
            </a:r>
            <a:r>
              <a:rPr lang="en-US" sz="1400" i="1" dirty="0"/>
              <a:t> as a portfolio project </a:t>
            </a:r>
            <a:br>
              <a:rPr lang="pl-PL" sz="1400" i="1" dirty="0"/>
            </a:br>
            <a:r>
              <a:rPr lang="en-US" sz="1400" i="1" dirty="0"/>
              <a:t>to demonstrate analytical </a:t>
            </a:r>
            <a:r>
              <a:rPr lang="pl-PL" sz="1400" i="1" dirty="0"/>
              <a:t>and</a:t>
            </a:r>
            <a:r>
              <a:rPr lang="en-US" sz="1400" i="1" dirty="0"/>
              <a:t> data-modelling skills, </a:t>
            </a:r>
            <a:br>
              <a:rPr lang="pl-PL" sz="1400" i="1" dirty="0"/>
            </a:br>
            <a:r>
              <a:rPr lang="pl-PL" sz="1400" i="1" dirty="0"/>
              <a:t>as well as the </a:t>
            </a:r>
            <a:r>
              <a:rPr lang="en-US" sz="1400" i="1" dirty="0"/>
              <a:t>Power BI proficiency. While the dataset has clear limitations, it serves adequately for </a:t>
            </a:r>
            <a:r>
              <a:rPr lang="pl-PL" sz="1400" i="1" dirty="0"/>
              <a:t>those purposes.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7F7AA-1501-B926-845A-5C1B2CFD0C29}"/>
              </a:ext>
            </a:extLst>
          </p:cNvPr>
          <p:cNvSpPr txBox="1"/>
          <p:nvPr/>
        </p:nvSpPr>
        <p:spPr>
          <a:xfrm>
            <a:off x="425251" y="882415"/>
            <a:ext cx="61638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dirty="0">
                <a:latin typeface="system-ui"/>
              </a:rPr>
              <a:t>	</a:t>
            </a:r>
            <a:r>
              <a:rPr lang="pl-PL" sz="1600" b="1" dirty="0">
                <a:solidFill>
                  <a:srgbClr val="97497B"/>
                </a:solidFill>
                <a:latin typeface="system-ui"/>
              </a:rPr>
              <a:t>prep_fact_data.csv</a:t>
            </a:r>
          </a:p>
          <a:p>
            <a:r>
              <a:rPr lang="pl-PL" sz="1600" b="1" i="1" dirty="0">
                <a:solidFill>
                  <a:srgbClr val="224378"/>
                </a:solidFill>
                <a:latin typeface="system-ui"/>
              </a:rPr>
              <a:t>	</a:t>
            </a:r>
            <a:r>
              <a:rPr lang="pl-PL" sz="1200" i="1" dirty="0">
                <a:latin typeface="system-ui"/>
              </a:rPr>
              <a:t>the main dataset merged from both Kaggle data sources </a:t>
            </a:r>
            <a:br>
              <a:rPr lang="pl-PL" sz="1200" i="1" dirty="0">
                <a:latin typeface="system-ui"/>
              </a:rPr>
            </a:br>
            <a:r>
              <a:rPr lang="pl-PL" sz="1200" i="1" dirty="0">
                <a:latin typeface="system-ui"/>
              </a:rPr>
              <a:t>	{googleplaystore.csv, googleplaystore_user_reviews.csv} </a:t>
            </a:r>
            <a:br>
              <a:rPr lang="pl-PL" sz="1200" i="1" dirty="0">
                <a:latin typeface="system-ui"/>
              </a:rPr>
            </a:br>
            <a:r>
              <a:rPr lang="pl-PL" sz="1200" i="1" dirty="0">
                <a:latin typeface="system-ui"/>
              </a:rPr>
              <a:t>	and preprocessed using Python codes.</a:t>
            </a:r>
          </a:p>
          <a:p>
            <a:pPr lvl="2"/>
            <a:endParaRPr lang="pl-PL" sz="1600" dirty="0">
              <a:latin typeface="system-ui"/>
            </a:endParaRPr>
          </a:p>
          <a:p>
            <a:r>
              <a:rPr lang="pl-PL" sz="1600" b="1" dirty="0">
                <a:solidFill>
                  <a:srgbClr val="224378"/>
                </a:solidFill>
                <a:latin typeface="system-ui"/>
              </a:rPr>
              <a:t>	</a:t>
            </a:r>
            <a:r>
              <a:rPr lang="pl-PL" sz="1600" b="1" dirty="0">
                <a:solidFill>
                  <a:srgbClr val="97497B"/>
                </a:solidFill>
                <a:latin typeface="system-ui"/>
              </a:rPr>
              <a:t>preprocessing_code.py</a:t>
            </a:r>
          </a:p>
          <a:p>
            <a:pPr lvl="2"/>
            <a:r>
              <a:rPr lang="pl-PL" sz="1200" i="1" dirty="0">
                <a:latin typeface="system-ui"/>
              </a:rPr>
              <a:t>the Python code that can be re-used in future </a:t>
            </a:r>
            <a:br>
              <a:rPr lang="pl-PL" sz="1200" i="1" dirty="0">
                <a:latin typeface="system-ui"/>
              </a:rPr>
            </a:br>
            <a:r>
              <a:rPr lang="pl-PL" sz="1200" i="1" dirty="0">
                <a:latin typeface="system-ui"/>
              </a:rPr>
              <a:t>in case of a database update.</a:t>
            </a:r>
          </a:p>
          <a:p>
            <a:pPr lvl="2"/>
            <a:endParaRPr lang="pl-PL" sz="1600" i="1" dirty="0">
              <a:latin typeface="system-ui"/>
            </a:endParaRPr>
          </a:p>
          <a:p>
            <a:r>
              <a:rPr lang="pl-PL" sz="1600" b="1" dirty="0">
                <a:solidFill>
                  <a:srgbClr val="97497B"/>
                </a:solidFill>
                <a:latin typeface="system-ui"/>
              </a:rPr>
              <a:t>	Consultant_Dashboard.pbix</a:t>
            </a:r>
          </a:p>
          <a:p>
            <a:pPr lvl="2"/>
            <a:r>
              <a:rPr lang="pl-PL" sz="1200" i="1" dirty="0">
                <a:latin typeface="system-ui"/>
              </a:rPr>
              <a:t>the PowerBI dashboard based on the preprocessed dataset</a:t>
            </a:r>
            <a:br>
              <a:rPr lang="pl-PL" sz="1200" i="1" dirty="0">
                <a:latin typeface="system-ui"/>
              </a:rPr>
            </a:br>
            <a:r>
              <a:rPr lang="pl-PL" sz="1200" i="1" dirty="0">
                <a:latin typeface="system-ui"/>
              </a:rPr>
              <a:t>{prep_fact_data.csv} </a:t>
            </a:r>
          </a:p>
          <a:p>
            <a:pPr lvl="2"/>
            <a:endParaRPr lang="pl-PL" sz="1200" i="1" dirty="0">
              <a:latin typeface="system-ui"/>
            </a:endParaRPr>
          </a:p>
        </p:txBody>
      </p:sp>
      <p:pic>
        <p:nvPicPr>
          <p:cNvPr id="7" name="Picture 2" descr="36- data source Vector Icons free download in SVG, PNG Format">
            <a:extLst>
              <a:ext uri="{FF2B5EF4-FFF2-40B4-BE49-F238E27FC236}">
                <a16:creationId xmlns:a16="http://schemas.microsoft.com/office/drawing/2014/main" id="{74455F7B-B568-E1C3-9CF9-EF2144580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22" y="1119859"/>
            <a:ext cx="434788" cy="43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Code flat color outline icon 10332153 PNG">
            <a:extLst>
              <a:ext uri="{FF2B5EF4-FFF2-40B4-BE49-F238E27FC236}">
                <a16:creationId xmlns:a16="http://schemas.microsoft.com/office/drawing/2014/main" id="{4A77A694-789C-FD72-4368-B1A59394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16429" y="1974471"/>
            <a:ext cx="408435" cy="40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5B3DC6B-2D1F-2EF4-B54C-C8A048DE51FE}"/>
              </a:ext>
            </a:extLst>
          </p:cNvPr>
          <p:cNvSpPr/>
          <p:nvPr/>
        </p:nvSpPr>
        <p:spPr>
          <a:xfrm>
            <a:off x="1007872" y="2859944"/>
            <a:ext cx="100914" cy="3131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CBE5E34-B0C2-BDCB-B4B8-5E81958784A7}"/>
              </a:ext>
            </a:extLst>
          </p:cNvPr>
          <p:cNvSpPr/>
          <p:nvPr/>
        </p:nvSpPr>
        <p:spPr>
          <a:xfrm>
            <a:off x="931672" y="2940818"/>
            <a:ext cx="100914" cy="232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FC2C42D-B8B0-89FA-BB21-92645CE415D9}"/>
              </a:ext>
            </a:extLst>
          </p:cNvPr>
          <p:cNvSpPr/>
          <p:nvPr/>
        </p:nvSpPr>
        <p:spPr>
          <a:xfrm>
            <a:off x="868858" y="3005812"/>
            <a:ext cx="100914" cy="1672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0EBE55-27F2-F1B4-0551-DAED7450D077}"/>
              </a:ext>
            </a:extLst>
          </p:cNvPr>
          <p:cNvSpPr/>
          <p:nvPr/>
        </p:nvSpPr>
        <p:spPr>
          <a:xfrm>
            <a:off x="425250" y="797857"/>
            <a:ext cx="5635559" cy="561053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19189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025B-C0BD-784C-35B1-E9DB777A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5B9489-5601-B8F8-A89A-17038327B734}"/>
              </a:ext>
            </a:extLst>
          </p:cNvPr>
          <p:cNvSpPr/>
          <p:nvPr/>
        </p:nvSpPr>
        <p:spPr>
          <a:xfrm>
            <a:off x="425253" y="677504"/>
            <a:ext cx="5670748" cy="108000"/>
          </a:xfrm>
          <a:prstGeom prst="rect">
            <a:avLst/>
          </a:prstGeom>
          <a:solidFill>
            <a:srgbClr val="C6B35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>
              <a:ln>
                <a:solidFill>
                  <a:srgbClr val="C89140"/>
                </a:solidFill>
              </a:ln>
              <a:solidFill>
                <a:srgbClr val="C8914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41400-5179-3B52-16EA-1C9088628B4E}"/>
              </a:ext>
            </a:extLst>
          </p:cNvPr>
          <p:cNvSpPr txBox="1"/>
          <p:nvPr/>
        </p:nvSpPr>
        <p:spPr>
          <a:xfrm>
            <a:off x="344570" y="154284"/>
            <a:ext cx="7454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800" b="1" dirty="0"/>
              <a:t>Key skills</a:t>
            </a:r>
            <a:endParaRPr lang="LID4096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D3637-1E2C-8EE2-F82A-23947C889407}"/>
              </a:ext>
            </a:extLst>
          </p:cNvPr>
          <p:cNvSpPr txBox="1"/>
          <p:nvPr/>
        </p:nvSpPr>
        <p:spPr>
          <a:xfrm>
            <a:off x="425253" y="905360"/>
            <a:ext cx="11480054" cy="5237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600" b="1" dirty="0"/>
              <a:t>Data modelling</a:t>
            </a:r>
          </a:p>
          <a:p>
            <a:pPr marL="361950" indent="-1714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Designing </a:t>
            </a:r>
            <a:r>
              <a:rPr lang="en-US" sz="1400" dirty="0">
                <a:solidFill>
                  <a:srgbClr val="97497B"/>
                </a:solidFill>
              </a:rPr>
              <a:t>a star-schema model </a:t>
            </a:r>
            <a:r>
              <a:rPr lang="en-US" sz="1400" dirty="0"/>
              <a:t>(fact table + dimension tables).</a:t>
            </a:r>
          </a:p>
          <a:p>
            <a:pPr marL="361950" indent="-1714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Creating one-to-many and one-to-one </a:t>
            </a:r>
            <a:r>
              <a:rPr lang="en-US" sz="1400" dirty="0">
                <a:solidFill>
                  <a:srgbClr val="97497B"/>
                </a:solidFill>
              </a:rPr>
              <a:t>relationships</a:t>
            </a:r>
            <a:r>
              <a:rPr lang="en-US" sz="1400" dirty="0"/>
              <a:t>.</a:t>
            </a:r>
          </a:p>
          <a:p>
            <a:pPr marL="361950" indent="-1714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Resolving ambiguity with </a:t>
            </a:r>
            <a:r>
              <a:rPr lang="en-US" sz="1400" dirty="0">
                <a:solidFill>
                  <a:srgbClr val="97497B"/>
                </a:solidFill>
              </a:rPr>
              <a:t>bridging tables </a:t>
            </a:r>
            <a:r>
              <a:rPr lang="en-US" sz="1400" dirty="0"/>
              <a:t>(</a:t>
            </a:r>
            <a:r>
              <a:rPr lang="pl-PL" sz="1400" dirty="0"/>
              <a:t>App</a:t>
            </a:r>
            <a:r>
              <a:rPr lang="en-US" sz="1400" dirty="0"/>
              <a:t>–</a:t>
            </a:r>
            <a:r>
              <a:rPr lang="pl-PL" sz="1400" dirty="0">
                <a:sym typeface="Wingdings" panose="05000000000000000000" pitchFamily="2" charset="2"/>
              </a:rPr>
              <a:t>Genre</a:t>
            </a:r>
            <a:r>
              <a:rPr lang="en-US" sz="1400" dirty="0"/>
              <a:t>–</a:t>
            </a:r>
            <a:r>
              <a:rPr lang="pl-PL" sz="1400" dirty="0">
                <a:sym typeface="Wingdings" panose="05000000000000000000" pitchFamily="2" charset="2"/>
              </a:rPr>
              <a:t>Category</a:t>
            </a:r>
            <a:r>
              <a:rPr lang="en-US" sz="1400" dirty="0"/>
              <a:t>).</a:t>
            </a:r>
            <a:endParaRPr lang="pl-PL" sz="1400" dirty="0"/>
          </a:p>
          <a:p>
            <a:pPr marL="361950" indent="-1714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Creating </a:t>
            </a:r>
            <a:r>
              <a:rPr lang="en-US" sz="1400" dirty="0">
                <a:solidFill>
                  <a:srgbClr val="97497B"/>
                </a:solidFill>
              </a:rPr>
              <a:t>calculated columns </a:t>
            </a:r>
            <a:r>
              <a:rPr lang="en-US" sz="1400" dirty="0"/>
              <a:t>(</a:t>
            </a:r>
            <a:r>
              <a:rPr lang="pl-PL" sz="1400" dirty="0"/>
              <a:t>for </a:t>
            </a:r>
            <a:r>
              <a:rPr lang="en-US" sz="1400" dirty="0"/>
              <a:t>categorical ranges</a:t>
            </a:r>
            <a:r>
              <a:rPr lang="pl-PL" sz="1400" dirty="0"/>
              <a:t> and</a:t>
            </a:r>
            <a:r>
              <a:rPr lang="en-US" sz="1400" dirty="0"/>
              <a:t> ordering).</a:t>
            </a:r>
          </a:p>
          <a:p>
            <a:pPr marL="361950" indent="-17145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l-PL" sz="1400" dirty="0"/>
              <a:t>B</a:t>
            </a:r>
            <a:r>
              <a:rPr lang="en-US" sz="1400" dirty="0"/>
              <a:t>uilding </a:t>
            </a:r>
            <a:r>
              <a:rPr lang="en-US" sz="1400" dirty="0">
                <a:solidFill>
                  <a:srgbClr val="97497B"/>
                </a:solidFill>
              </a:rPr>
              <a:t>aggregation</a:t>
            </a:r>
            <a:r>
              <a:rPr lang="en-US" sz="1400" dirty="0"/>
              <a:t> measures (counts, medians, ratios).</a:t>
            </a:r>
            <a:endParaRPr lang="pl-PL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1200" dirty="0"/>
          </a:p>
          <a:p>
            <a:pPr marL="1077913">
              <a:lnSpc>
                <a:spcPct val="150000"/>
              </a:lnSpc>
            </a:pPr>
            <a:r>
              <a:rPr lang="pl-PL" sz="1600" b="1" dirty="0"/>
              <a:t>Data visualization</a:t>
            </a:r>
            <a:endParaRPr lang="en-US" sz="1600" dirty="0"/>
          </a:p>
          <a:p>
            <a:pPr marL="1439863" indent="-180975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Designing charts with </a:t>
            </a:r>
            <a:r>
              <a:rPr lang="en-US" sz="1400" dirty="0">
                <a:solidFill>
                  <a:srgbClr val="A38600"/>
                </a:solidFill>
              </a:rPr>
              <a:t>drill-down hierarchies </a:t>
            </a:r>
            <a:r>
              <a:rPr lang="en-US" sz="1400" dirty="0"/>
              <a:t>(Category → Genre).</a:t>
            </a:r>
          </a:p>
          <a:p>
            <a:pPr marL="1439863" indent="-180975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Configuring scatterplots with </a:t>
            </a:r>
            <a:r>
              <a:rPr lang="en-US" sz="1400" dirty="0">
                <a:solidFill>
                  <a:srgbClr val="A38600"/>
                </a:solidFill>
              </a:rPr>
              <a:t>logarithmic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A38600"/>
                </a:solidFill>
              </a:rPr>
              <a:t>scaling</a:t>
            </a:r>
            <a:r>
              <a:rPr lang="pl-PL" sz="1400" dirty="0"/>
              <a:t> for a clean data presentation</a:t>
            </a:r>
            <a:r>
              <a:rPr lang="en-US" sz="1400" dirty="0"/>
              <a:t>.</a:t>
            </a:r>
          </a:p>
          <a:p>
            <a:pPr marL="1439863" indent="-180975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Creating </a:t>
            </a:r>
            <a:r>
              <a:rPr lang="pl-PL" sz="1400" dirty="0">
                <a:solidFill>
                  <a:srgbClr val="A38600"/>
                </a:solidFill>
              </a:rPr>
              <a:t>user</a:t>
            </a:r>
            <a:r>
              <a:rPr lang="en-US" sz="1400" dirty="0">
                <a:solidFill>
                  <a:srgbClr val="A38600"/>
                </a:solidFill>
              </a:rPr>
              <a:t> inputs </a:t>
            </a:r>
            <a:r>
              <a:rPr lang="pl-PL" sz="1400" dirty="0"/>
              <a:t>and</a:t>
            </a:r>
            <a:r>
              <a:rPr lang="pl-PL" sz="1400" dirty="0">
                <a:solidFill>
                  <a:srgbClr val="A38600"/>
                </a:solidFill>
              </a:rPr>
              <a:t> </a:t>
            </a:r>
            <a:r>
              <a:rPr lang="en-US" sz="1400" dirty="0">
                <a:solidFill>
                  <a:srgbClr val="A38600"/>
                </a:solidFill>
              </a:rPr>
              <a:t>KPI cards </a:t>
            </a:r>
            <a:r>
              <a:rPr lang="en-US" sz="1400" dirty="0"/>
              <a:t>with </a:t>
            </a:r>
            <a:r>
              <a:rPr lang="pl-PL" sz="1400" dirty="0"/>
              <a:t>goal</a:t>
            </a:r>
            <a:r>
              <a:rPr lang="en-US" sz="1400" dirty="0"/>
              <a:t>-vs-median logic.</a:t>
            </a:r>
          </a:p>
          <a:p>
            <a:pPr marL="1439863" indent="-180975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</a:t>
            </a:r>
            <a:r>
              <a:rPr lang="pl-PL" sz="1400" dirty="0"/>
              <a:t>reating</a:t>
            </a:r>
            <a:r>
              <a:rPr lang="en-US" sz="1400" dirty="0"/>
              <a:t> multi-page</a:t>
            </a:r>
            <a:r>
              <a:rPr lang="en-US" sz="1400" dirty="0">
                <a:solidFill>
                  <a:srgbClr val="97497B"/>
                </a:solidFill>
              </a:rPr>
              <a:t> </a:t>
            </a:r>
            <a:r>
              <a:rPr lang="en-US" sz="1400" dirty="0">
                <a:solidFill>
                  <a:srgbClr val="A38600"/>
                </a:solidFill>
              </a:rPr>
              <a:t>thematic layouts </a:t>
            </a:r>
            <a:r>
              <a:rPr lang="pl-PL" sz="1400" dirty="0">
                <a:solidFill>
                  <a:srgbClr val="1E1F22"/>
                </a:solidFill>
              </a:rPr>
              <a:t>with</a:t>
            </a:r>
            <a:r>
              <a:rPr lang="pl-PL" sz="1400" dirty="0">
                <a:solidFill>
                  <a:srgbClr val="A38600"/>
                </a:solidFill>
              </a:rPr>
              <a:t> page </a:t>
            </a:r>
            <a:r>
              <a:rPr lang="en-US" sz="1400" dirty="0">
                <a:solidFill>
                  <a:srgbClr val="A38600"/>
                </a:solidFill>
              </a:rPr>
              <a:t>navigation</a:t>
            </a:r>
            <a:r>
              <a:rPr lang="pl-PL" sz="1400" dirty="0">
                <a:solidFill>
                  <a:srgbClr val="A38600"/>
                </a:solidFill>
              </a:rPr>
              <a:t> </a:t>
            </a:r>
            <a:r>
              <a:rPr lang="pl-PL" sz="1400" dirty="0"/>
              <a:t>and</a:t>
            </a:r>
            <a:r>
              <a:rPr lang="pl-PL" sz="1400" dirty="0">
                <a:solidFill>
                  <a:srgbClr val="97497B"/>
                </a:solidFill>
              </a:rPr>
              <a:t> </a:t>
            </a:r>
            <a:r>
              <a:rPr lang="pl-PL" sz="1400" dirty="0">
                <a:solidFill>
                  <a:srgbClr val="A38600"/>
                </a:solidFill>
              </a:rPr>
              <a:t>filter panels</a:t>
            </a:r>
            <a:r>
              <a:rPr lang="pl-PL" sz="1400" dirty="0"/>
              <a:t>.</a:t>
            </a:r>
            <a:endParaRPr lang="en-US" sz="1400" dirty="0"/>
          </a:p>
          <a:p>
            <a:pPr marL="1077913">
              <a:lnSpc>
                <a:spcPct val="150000"/>
              </a:lnSpc>
            </a:pPr>
            <a:endParaRPr lang="pl-PL" sz="1200" dirty="0"/>
          </a:p>
          <a:p>
            <a:pPr marL="2154238">
              <a:lnSpc>
                <a:spcPct val="150000"/>
              </a:lnSpc>
            </a:pPr>
            <a:r>
              <a:rPr lang="pl-PL" sz="1600" b="1" dirty="0"/>
              <a:t>Storytelling</a:t>
            </a:r>
          </a:p>
          <a:p>
            <a:pPr marL="2508250" indent="-180975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Translating a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consultant-focused narrative </a:t>
            </a:r>
            <a:r>
              <a:rPr lang="en-US" sz="1400" dirty="0"/>
              <a:t>into a functional dashboard.</a:t>
            </a:r>
          </a:p>
          <a:p>
            <a:pPr marL="2508250" indent="-180975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Highlighting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high-impact </a:t>
            </a:r>
            <a:r>
              <a:rPr lang="en-US" sz="1400" dirty="0"/>
              <a:t>apps visually.</a:t>
            </a:r>
          </a:p>
          <a:p>
            <a:pPr marL="2508250" indent="-180975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Organizing visuals into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purposeful pages </a:t>
            </a:r>
            <a:r>
              <a:rPr lang="en-US" sz="1400" dirty="0"/>
              <a:t>aligned with a consulting scenario.</a:t>
            </a:r>
            <a:endParaRPr lang="pl-PL" sz="1400" dirty="0"/>
          </a:p>
          <a:p>
            <a:pPr marL="2508250" indent="-180975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Preparing a PowerPoint to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communicate methodology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1273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</Words>
  <Application>Microsoft Office PowerPoint</Application>
  <PresentationFormat>Widescreen</PresentationFormat>
  <Paragraphs>179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system-ui</vt:lpstr>
      <vt:lpstr>Wingdings</vt:lpstr>
      <vt:lpstr>Office Theme</vt:lpstr>
      <vt:lpstr>Consultant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Dominika D</dc:creator>
  <cp:lastModifiedBy>Dominika D</cp:lastModifiedBy>
  <cp:revision>20</cp:revision>
  <dcterms:created xsi:type="dcterms:W3CDTF">2025-10-24T08:49:32Z</dcterms:created>
  <dcterms:modified xsi:type="dcterms:W3CDTF">2025-11-19T19:15:47Z</dcterms:modified>
</cp:coreProperties>
</file>