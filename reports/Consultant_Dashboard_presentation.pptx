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embeddedFontLst>
    <p:embeddedFont>
      <p:font typeface="Play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91">
          <p15:clr>
            <a:srgbClr val="A4A3A4"/>
          </p15:clr>
        </p15:guide>
        <p15:guide id="2" pos="257">
          <p15:clr>
            <a:srgbClr val="A4A3A4"/>
          </p15:clr>
        </p15:guide>
        <p15:guide id="3" pos="7423">
          <p15:clr>
            <a:srgbClr val="A4A3A4"/>
          </p15:clr>
        </p15:guide>
        <p15:guide id="4" pos="6221">
          <p15:clr>
            <a:srgbClr val="A4A3A4"/>
          </p15:clr>
        </p15:guide>
        <p15:guide id="5" orient="horz" pos="3748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jDZ4essT7tOc+hy4L4sPRopaX+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1" orient="horz"/>
        <p:guide pos="257"/>
        <p:guide pos="7423"/>
        <p:guide pos="6221"/>
        <p:guide pos="374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ay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Play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Relationship Id="rId4" Type="http://schemas.openxmlformats.org/officeDocument/2006/relationships/image" Target="../media/image1.png"/><Relationship Id="rId5" Type="http://schemas.openxmlformats.org/officeDocument/2006/relationships/image" Target="../media/image7.jpg"/><Relationship Id="rId6" Type="http://schemas.openxmlformats.org/officeDocument/2006/relationships/image" Target="../media/image8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lava18/google-play-store-apps?resource=download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39913" y="472053"/>
            <a:ext cx="10764837" cy="1609073"/>
          </a:xfrm>
          <a:custGeom>
            <a:rect b="b" l="l" r="r" t="t"/>
            <a:pathLst>
              <a:path extrusionOk="0" h="1416323" w="10784541">
                <a:moveTo>
                  <a:pt x="0" y="0"/>
                </a:moveTo>
                <a:lnTo>
                  <a:pt x="10784541" y="8965"/>
                </a:lnTo>
                <a:lnTo>
                  <a:pt x="10784541" y="1416323"/>
                </a:lnTo>
                <a:lnTo>
                  <a:pt x="1" y="1411451"/>
                </a:lnTo>
                <a:cubicBezTo>
                  <a:pt x="1" y="945320"/>
                  <a:pt x="0" y="466131"/>
                  <a:pt x="0" y="0"/>
                </a:cubicBezTo>
                <a:close/>
              </a:path>
            </a:pathLst>
          </a:custGeom>
          <a:solidFill>
            <a:srgbClr val="E8E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8588189" y="5609121"/>
            <a:ext cx="2938087" cy="843671"/>
          </a:xfrm>
          <a:prstGeom prst="rect">
            <a:avLst/>
          </a:prstGeom>
          <a:solidFill>
            <a:srgbClr val="E8E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>
            <p:ph type="ctrTitle"/>
          </p:nvPr>
        </p:nvSpPr>
        <p:spPr>
          <a:xfrm>
            <a:off x="739913" y="1204453"/>
            <a:ext cx="10748685" cy="898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Font typeface="Arial"/>
              <a:buNone/>
            </a:pPr>
            <a:r>
              <a:rPr b="1" lang="pl-PL" sz="4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Consultant Dashboard</a:t>
            </a:r>
            <a:endParaRPr sz="4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47986" y="2834947"/>
            <a:ext cx="10740612" cy="2036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l-PL" sz="1600"/>
              <a:t>Imagine you are a Consultant preparing a market research for a mobile app company. </a:t>
            </a:r>
            <a:br>
              <a:rPr lang="pl-PL" sz="1600"/>
            </a:br>
            <a:r>
              <a:rPr lang="pl-PL" sz="1600"/>
              <a:t>One of your daily tasks is to </a:t>
            </a:r>
            <a:r>
              <a:rPr b="1" lang="pl-PL" sz="1600">
                <a:solidFill>
                  <a:srgbClr val="595959"/>
                </a:solidFill>
              </a:rPr>
              <a:t>meet the Product Manager and evaluate their App idea</a:t>
            </a:r>
            <a:r>
              <a:rPr lang="pl-PL" sz="1600"/>
              <a:t>.  </a:t>
            </a:r>
            <a:br>
              <a:rPr lang="pl-PL" sz="1600"/>
            </a:br>
            <a:endParaRPr sz="1600"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l-PL" sz="1600"/>
              <a:t>My </a:t>
            </a:r>
            <a:r>
              <a:rPr b="1" lang="pl-PL" sz="1600">
                <a:solidFill>
                  <a:srgbClr val="A38600"/>
                </a:solidFill>
              </a:rPr>
              <a:t>Consultant Dashboard </a:t>
            </a:r>
            <a:r>
              <a:rPr lang="pl-PL" sz="1600"/>
              <a:t>gives you a practical way </a:t>
            </a:r>
            <a:br>
              <a:rPr lang="pl-PL" sz="1600"/>
            </a:br>
            <a:r>
              <a:rPr lang="pl-PL" sz="1600"/>
              <a:t>to walk app creators through the market data behind their ideas, </a:t>
            </a:r>
            <a:br>
              <a:rPr lang="pl-PL" sz="1600"/>
            </a:br>
            <a:r>
              <a:rPr lang="pl-PL" sz="1600"/>
              <a:t>helping you ground the conversation in clear, </a:t>
            </a:r>
            <a:r>
              <a:rPr b="1" lang="pl-PL" sz="1600">
                <a:solidFill>
                  <a:srgbClr val="A38600"/>
                </a:solidFill>
              </a:rPr>
              <a:t>data-driven insights</a:t>
            </a:r>
            <a:r>
              <a:rPr lang="pl-PL" sz="1600"/>
              <a:t>.</a:t>
            </a:r>
            <a:endParaRPr/>
          </a:p>
        </p:txBody>
      </p:sp>
      <p:pic>
        <p:nvPicPr>
          <p:cNvPr descr="Learning Python » Khmer168.com – Your Source for IT Knowledge, Comparisons,  Best Practices, and ICT Insights in Cambodia Ratana SOTH - the IT Geek in  Cambodia" id="88" name="Google Shape;88;p1"/>
          <p:cNvPicPr preferRelativeResize="0"/>
          <p:nvPr/>
        </p:nvPicPr>
        <p:blipFill rotWithShape="1">
          <a:blip r:embed="rId3">
            <a:alphaModFix/>
          </a:blip>
          <a:srcRect b="0" l="23471" r="20892" t="0"/>
          <a:stretch/>
        </p:blipFill>
        <p:spPr>
          <a:xfrm>
            <a:off x="1643110" y="5671876"/>
            <a:ext cx="769085" cy="777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 Reviews 2025: Details, Pricing, &amp; Features | G2" id="89" name="Google Shape;89;p1"/>
          <p:cNvPicPr preferRelativeResize="0"/>
          <p:nvPr/>
        </p:nvPicPr>
        <p:blipFill rotWithShape="1">
          <a:blip r:embed="rId4">
            <a:alphaModFix/>
          </a:blip>
          <a:srcRect b="28886" l="29890" r="26378" t="25056"/>
          <a:stretch/>
        </p:blipFill>
        <p:spPr>
          <a:xfrm>
            <a:off x="2490854" y="5848801"/>
            <a:ext cx="949698" cy="525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GitHub? Beginner Guide For GitHub | by Ishara Madusanka | MS Club  of SLIIT | Medium" id="90" name="Google Shape;90;p1"/>
          <p:cNvPicPr preferRelativeResize="0"/>
          <p:nvPr/>
        </p:nvPicPr>
        <p:blipFill rotWithShape="1">
          <a:blip r:embed="rId5">
            <a:alphaModFix/>
          </a:blip>
          <a:srcRect b="17076" l="5207" r="7703" t="17618"/>
          <a:stretch/>
        </p:blipFill>
        <p:spPr>
          <a:xfrm>
            <a:off x="3440552" y="5803165"/>
            <a:ext cx="1461304" cy="61638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723762" y="342453"/>
            <a:ext cx="10780987" cy="108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8E1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731837" y="2088346"/>
            <a:ext cx="10764837" cy="108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552413" y="5668568"/>
            <a:ext cx="29382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</a:pPr>
            <a:r>
              <a:rPr b="1" i="0" lang="pl-PL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BY DOMINIKA DRĄŻYK</a:t>
            </a:r>
            <a:br>
              <a:rPr b="1" i="0" lang="pl-PL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l-PL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NOVEMBER, 2025</a:t>
            </a:r>
            <a:endParaRPr sz="1900"/>
          </a:p>
        </p:txBody>
      </p:sp>
      <p:sp>
        <p:nvSpPr>
          <p:cNvPr id="94" name="Google Shape;94;p1"/>
          <p:cNvSpPr/>
          <p:nvPr/>
        </p:nvSpPr>
        <p:spPr>
          <a:xfrm>
            <a:off x="8588189" y="6432320"/>
            <a:ext cx="2938087" cy="108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45054" t="0"/>
          <a:stretch/>
        </p:blipFill>
        <p:spPr>
          <a:xfrm>
            <a:off x="1992293" y="654402"/>
            <a:ext cx="8260076" cy="701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525" y="5522656"/>
            <a:ext cx="1053574" cy="105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425253" y="677504"/>
            <a:ext cx="5670748" cy="108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344570" y="154284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25251" y="1066922"/>
            <a:ext cx="5670600" cy="51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you are a 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Market Research Consultant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hired by</a:t>
            </a:r>
            <a:r>
              <a:rPr lang="pl-PL" sz="1600">
                <a:solidFill>
                  <a:schemeClr val="dk1"/>
                </a:solidFill>
              </a:rPr>
              <a:t> 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pl-PL" sz="1600">
                <a:solidFill>
                  <a:schemeClr val="dk1"/>
                </a:solidFill>
              </a:rPr>
              <a:t> 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 company. One of your tasks is to assist the</a:t>
            </a:r>
            <a:r>
              <a:rPr lang="pl-PL" sz="1600">
                <a:solidFill>
                  <a:schemeClr val="dk1"/>
                </a:solidFill>
              </a:rPr>
              <a:t> 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Product Manager</a:t>
            </a:r>
            <a:r>
              <a:rPr b="1" lang="pl-PL" sz="16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evaluating their app ideas.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 creators need </a:t>
            </a: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fast, objective insight 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how their concept fits the current mobile-app landscape.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Consultant Dashboard provides exactly that.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helps the Consultant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to:</a:t>
            </a:r>
            <a:endParaRPr/>
          </a:p>
          <a:p>
            <a:pPr indent="-179388" lvl="0" marL="179388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 the </a:t>
            </a: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most competitive 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 categories;</a:t>
            </a:r>
            <a:endParaRPr/>
          </a:p>
          <a:p>
            <a:pPr indent="-179388" lvl="0" marL="179388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showcase the specific category targeted by the creators;</a:t>
            </a:r>
            <a:endParaRPr/>
          </a:p>
          <a:p>
            <a:pPr indent="-179388" lvl="0" marL="179388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6B35F"/>
              </a:buClr>
              <a:buSzPts val="1600"/>
              <a:buFont typeface="Arial"/>
              <a:buChar char="•"/>
            </a:pP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r>
              <a:rPr b="1"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their</a:t>
            </a:r>
            <a:r>
              <a:rPr b="1"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goals against market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medians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600">
              <a:solidFill>
                <a:srgbClr val="C04F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04F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04F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A38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1437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these inputs, the Product Manager can ground their decisions in data rather than assumptions and</a:t>
            </a:r>
            <a:r>
              <a:rPr lang="pl-PL" sz="1600">
                <a:solidFill>
                  <a:schemeClr val="dk1"/>
                </a:solidFill>
              </a:rPr>
              <a:t> 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quickly understand where their app stands relative to the market.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355" y="5067543"/>
            <a:ext cx="476965" cy="409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8383050" y="154275"/>
            <a:ext cx="338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source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096000" y="677503"/>
            <a:ext cx="5670748" cy="108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6095999" y="912756"/>
            <a:ext cx="567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Google Play Store Apps dataset via Kaggle</a:t>
            </a:r>
            <a:b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Authored by L. Gupta (2019)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[ </a:t>
            </a:r>
            <a:r>
              <a:rPr b="1" lang="pl-PL" sz="1600" u="sng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{ googleplaystore.csv }</a:t>
            </a:r>
            <a:endParaRPr>
              <a:solidFill>
                <a:srgbClr val="97497B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{ googleplaystore_user_reviews.csv }</a:t>
            </a:r>
            <a:endParaRPr>
              <a:solidFill>
                <a:srgbClr val="97497B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5670748" y="2610614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096000" y="3133834"/>
            <a:ext cx="5670748" cy="108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6095999" y="3452190"/>
            <a:ext cx="5670749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B35F"/>
              </a:buClr>
              <a:buSzPts val="1600"/>
              <a:buFont typeface="Arial"/>
              <a:buNone/>
            </a:pPr>
            <a:r>
              <a:rPr b="1" i="0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O1: </a:t>
            </a:r>
            <a:r>
              <a:rPr i="0"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preprocessing</a:t>
            </a:r>
            <a:endParaRPr/>
          </a:p>
          <a:p>
            <a:pPr indent="0" lvl="0" marL="108000" marR="0" rtl="0" algn="r">
              <a:spcBef>
                <a:spcPts val="600"/>
              </a:spcBef>
              <a:spcAft>
                <a:spcPts val="0"/>
              </a:spcAft>
              <a:buClr>
                <a:srgbClr val="C6B35F"/>
              </a:buClr>
              <a:buSzPts val="1400"/>
              <a:buFont typeface="Arial"/>
              <a:buNone/>
            </a:pPr>
            <a:r>
              <a:rPr b="1" lang="pl-PL" sz="14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O1.1</a:t>
            </a:r>
            <a:r>
              <a:rPr b="1" lang="pl-PL" sz="14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Loading both datasets</a:t>
            </a:r>
            <a:endParaRPr/>
          </a:p>
          <a:p>
            <a:pPr indent="0" lvl="0" marL="108000" marR="0" rtl="0" algn="r">
              <a:spcBef>
                <a:spcPts val="600"/>
              </a:spcBef>
              <a:spcAft>
                <a:spcPts val="0"/>
              </a:spcAft>
              <a:buClr>
                <a:srgbClr val="C6B35F"/>
              </a:buClr>
              <a:buSzPts val="1400"/>
              <a:buFont typeface="Arial"/>
              <a:buNone/>
            </a:pPr>
            <a:r>
              <a:rPr b="1" lang="pl-PL" sz="14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O1.2</a:t>
            </a:r>
            <a:r>
              <a:rPr b="1" lang="pl-PL" sz="14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 check and transforming variables</a:t>
            </a:r>
            <a:endParaRPr/>
          </a:p>
          <a:p>
            <a:pPr indent="0" lvl="0" marL="108000" marR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b="1" lang="pl-PL" sz="14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O1.3</a:t>
            </a:r>
            <a:r>
              <a:rPr b="1" lang="pl-PL" sz="14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Merging both datasets into one dataframe</a:t>
            </a:r>
            <a:endParaRPr/>
          </a:p>
          <a:p>
            <a:pPr indent="0" lvl="0" marL="108000" marR="0" rtl="0" algn="r">
              <a:spcBef>
                <a:spcPts val="600"/>
              </a:spcBef>
              <a:spcAft>
                <a:spcPts val="0"/>
              </a:spcAft>
              <a:buClr>
                <a:srgbClr val="C6B35F"/>
              </a:buClr>
              <a:buSzPts val="1400"/>
              <a:buFont typeface="Arial"/>
              <a:buNone/>
            </a:pPr>
            <a:r>
              <a:rPr b="1" lang="pl-PL" sz="14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O1.4</a:t>
            </a:r>
            <a:r>
              <a:rPr b="1" lang="pl-PL" sz="1400">
                <a:solidFill>
                  <a:srgbClr val="C891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Missing data review and saving results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{pandas, matplotlib, seaborn}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Git &amp; GitHub 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version control</a:t>
            </a:r>
            <a:endParaRPr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355" y="5067543"/>
            <a:ext cx="476965" cy="40989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425253" y="677504"/>
            <a:ext cx="5670748" cy="108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425251" y="1066922"/>
            <a:ext cx="5670600" cy="51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you are a 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Market Research Consultant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hired by</a:t>
            </a:r>
            <a:r>
              <a:rPr lang="pl-PL" sz="1600">
                <a:solidFill>
                  <a:schemeClr val="dk1"/>
                </a:solidFill>
              </a:rPr>
              <a:t> 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pl-PL" sz="1600">
                <a:solidFill>
                  <a:schemeClr val="dk1"/>
                </a:solidFill>
              </a:rPr>
              <a:t> 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 company. One of your tasks is to assist the</a:t>
            </a:r>
            <a:r>
              <a:rPr lang="pl-PL" sz="1600">
                <a:solidFill>
                  <a:schemeClr val="dk1"/>
                </a:solidFill>
              </a:rPr>
              <a:t> 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Product Manager</a:t>
            </a:r>
            <a:r>
              <a:rPr b="1" lang="pl-PL" sz="16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evaluating their app ideas.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 creators need </a:t>
            </a: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fast, objective insight 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how their concept fits the current mobile-app landscape.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Consultant Dashboard provides exactly that.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helps the Consultant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to:</a:t>
            </a:r>
            <a:endParaRPr/>
          </a:p>
          <a:p>
            <a:pPr indent="-179387" lvl="0" marL="179387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 the </a:t>
            </a: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most competitive 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 categories;</a:t>
            </a:r>
            <a:endParaRPr/>
          </a:p>
          <a:p>
            <a:pPr indent="-179387" lvl="0" marL="179387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showcase the specific category targeted by the creators;</a:t>
            </a:r>
            <a:endParaRPr/>
          </a:p>
          <a:p>
            <a:pPr indent="-179387" lvl="0" marL="179387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6B35F"/>
              </a:buClr>
              <a:buSzPts val="1600"/>
              <a:buFont typeface="Arial"/>
              <a:buChar char="•"/>
            </a:pP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r>
              <a:rPr b="1"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their</a:t>
            </a:r>
            <a:r>
              <a:rPr b="1"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goals against market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600">
                <a:solidFill>
                  <a:srgbClr val="C6B35F"/>
                </a:solidFill>
                <a:latin typeface="Arial"/>
                <a:ea typeface="Arial"/>
                <a:cs typeface="Arial"/>
                <a:sym typeface="Arial"/>
              </a:rPr>
              <a:t>medians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600">
              <a:solidFill>
                <a:srgbClr val="C04F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04F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04F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A38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1437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these inputs, the Product Manager can ground their decisions in data rather than assumptions and</a:t>
            </a:r>
            <a:r>
              <a:rPr lang="pl-PL" sz="1600">
                <a:solidFill>
                  <a:schemeClr val="dk1"/>
                </a:solidFill>
              </a:rPr>
              <a:t> </a:t>
            </a: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quickly understand where their app stands relative to the market.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355" y="5067543"/>
            <a:ext cx="476965" cy="40989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344545" y="830438"/>
            <a:ext cx="5751300" cy="59706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425250" y="154282"/>
            <a:ext cx="115524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of data preprocessing solutions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25251" y="677502"/>
            <a:ext cx="5670748" cy="120355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25252" y="677501"/>
            <a:ext cx="5670748" cy="108000"/>
          </a:xfrm>
          <a:prstGeom prst="rect">
            <a:avLst/>
          </a:prstGeom>
          <a:solidFill>
            <a:srgbClr val="97497B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6095999" y="899322"/>
            <a:ext cx="530231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Quality checks: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inspected dataset columns and their content to catch potential anomalies in data types. Here I found data entry and corrected them to avoid losing otherwise correct entries.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6095999" y="2805037"/>
            <a:ext cx="5302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Transforming variables:</a:t>
            </a:r>
            <a:r>
              <a:rPr b="1"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transformed the ’Last Updated’ column into a correct date-time format and displayed the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percentage of entries that could potentially be lost due to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conversion.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6096001" y="3900454"/>
            <a:ext cx="5302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Missing data review:</a:t>
            </a:r>
            <a:r>
              <a:rPr b="1"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calculated and evaluated missing data</a:t>
            </a:r>
            <a:r>
              <a:rPr lang="pl-PL">
                <a:solidFill>
                  <a:schemeClr val="dk1"/>
                </a:solidFill>
              </a:rPr>
              <a:t>,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column-wise. Knowing the structure and characteristics of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datasets, I diagnosed the cause of data entry gaps.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2610"/>
          <a:stretch/>
        </p:blipFill>
        <p:spPr>
          <a:xfrm>
            <a:off x="455625" y="899325"/>
            <a:ext cx="5640375" cy="152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625" y="2883276"/>
            <a:ext cx="5640375" cy="688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3391"/>
          <a:stretch/>
        </p:blipFill>
        <p:spPr>
          <a:xfrm>
            <a:off x="425250" y="4003046"/>
            <a:ext cx="5640375" cy="12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257" r="0" t="0"/>
          <a:stretch/>
        </p:blipFill>
        <p:spPr>
          <a:xfrm>
            <a:off x="436727" y="638550"/>
            <a:ext cx="9447057" cy="532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07988" y="1140415"/>
            <a:ext cx="9471402" cy="4821114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432642" y="2186106"/>
            <a:ext cx="3587890" cy="200906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panel can be used to navigate between three pages of the Dashboard: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CHOICE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TRENDS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400">
                <a:solidFill>
                  <a:srgbClr val="97497B"/>
                </a:solidFill>
              </a:rPr>
              <a:t>Questionmark tooltip</a:t>
            </a:r>
            <a:r>
              <a:rPr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informs users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move between pages.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 rot="-5400000">
            <a:off x="7849633" y="1587700"/>
            <a:ext cx="753900" cy="241200"/>
          </a:xfrm>
          <a:prstGeom prst="rightArrow">
            <a:avLst>
              <a:gd fmla="val 50000" name="adj1"/>
              <a:gd fmla="val 161090" name="adj2"/>
            </a:avLst>
          </a:prstGeom>
          <a:solidFill>
            <a:srgbClr val="E8E1BF"/>
          </a:solidFill>
          <a:ln cap="flat" cmpd="sng" w="9525">
            <a:solidFill>
              <a:srgbClr val="E8E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257" r="0" t="0"/>
          <a:stretch/>
        </p:blipFill>
        <p:spPr>
          <a:xfrm>
            <a:off x="436727" y="638550"/>
            <a:ext cx="9447057" cy="532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5087938" y="1140415"/>
            <a:ext cx="4791452" cy="4821114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655423" y="1530733"/>
            <a:ext cx="3903600" cy="153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page gives a high-level market overview of the most app-packed Categories.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Barplots show the number of Apps, the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app Installs and the number of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 Ratings in each Category.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 rot="-7978639">
            <a:off x="6176892" y="1354345"/>
            <a:ext cx="649104" cy="148156"/>
          </a:xfrm>
          <a:prstGeom prst="rightArrow">
            <a:avLst>
              <a:gd fmla="val 50000" name="adj1"/>
              <a:gd fmla="val 161090" name="adj2"/>
            </a:avLst>
          </a:prstGeom>
          <a:solidFill>
            <a:srgbClr val="C6B35F"/>
          </a:solidFill>
          <a:ln cap="flat" cmpd="sng" w="9525">
            <a:solidFill>
              <a:srgbClr val="C6B3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257" r="0" t="0"/>
          <a:stretch/>
        </p:blipFill>
        <p:spPr>
          <a:xfrm>
            <a:off x="436727" y="638550"/>
            <a:ext cx="9447057" cy="532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5087938" y="1140415"/>
            <a:ext cx="4791452" cy="4821114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639675" y="4125578"/>
            <a:ext cx="3587100" cy="80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plots display the corresponding </a:t>
            </a:r>
            <a:r>
              <a:rPr b="1" lang="pl-PL" sz="1400">
                <a:solidFill>
                  <a:srgbClr val="A38600"/>
                </a:solidFill>
              </a:rPr>
              <a:t>median values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across Categories. Medians are calculated using DAX.</a:t>
            </a:r>
            <a:endParaRPr/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4">
            <a:alphaModFix/>
          </a:blip>
          <a:srcRect b="3788" l="6278" r="1811" t="5154"/>
          <a:stretch/>
        </p:blipFill>
        <p:spPr>
          <a:xfrm>
            <a:off x="5815800" y="4932775"/>
            <a:ext cx="3410975" cy="102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6655423" y="1530733"/>
            <a:ext cx="3903600" cy="153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page gives a high-level market overview of the most app-packed Categories.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Barplots show the number of Apps, the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app Installs and the number of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 Ratings in each Category.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257" r="0" t="0"/>
          <a:stretch/>
        </p:blipFill>
        <p:spPr>
          <a:xfrm>
            <a:off x="436727" y="638550"/>
            <a:ext cx="9447057" cy="532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96486" y="1140503"/>
            <a:ext cx="4791452" cy="4821114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946825" y="1489500"/>
            <a:ext cx="3208200" cy="175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Median </a:t>
            </a:r>
            <a:r>
              <a:rPr b="1" lang="pl-PL" sz="1400">
                <a:solidFill>
                  <a:srgbClr val="A38600"/>
                </a:solidFill>
              </a:rPr>
              <a:t>Star Rating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displayed Categories is shown on the right.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Besides, some Apps receive text Reviews from users. Gauge plots show the median </a:t>
            </a:r>
            <a:r>
              <a:rPr b="1" lang="pl-PL" sz="1400">
                <a:solidFill>
                  <a:srgbClr val="A38600"/>
                </a:solidFill>
              </a:rPr>
              <a:t>Polarity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b="1" lang="pl-PL" sz="1400">
                <a:solidFill>
                  <a:srgbClr val="A38600"/>
                </a:solidFill>
              </a:rPr>
              <a:t>Subjectivity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those Reviews.</a:t>
            </a:r>
            <a:r>
              <a:rPr b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087938" y="3239627"/>
            <a:ext cx="4791452" cy="2975885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9"/>
          <p:cNvPicPr preferRelativeResize="0"/>
          <p:nvPr/>
        </p:nvPicPr>
        <p:blipFill rotWithShape="1">
          <a:blip r:embed="rId3">
            <a:alphaModFix/>
          </a:blip>
          <a:srcRect b="0" l="257" r="0" t="0"/>
          <a:stretch/>
        </p:blipFill>
        <p:spPr>
          <a:xfrm>
            <a:off x="436727" y="638550"/>
            <a:ext cx="9447057" cy="532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296486" y="1140503"/>
            <a:ext cx="4791452" cy="4821114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052261" y="3820877"/>
            <a:ext cx="3637787" cy="15323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Finally, the bar plot show the percentage of </a:t>
            </a:r>
            <a:r>
              <a:rPr b="1" lang="pl-PL" sz="1400">
                <a:solidFill>
                  <a:srgbClr val="595959"/>
                </a:solidFill>
              </a:rPr>
              <a:t>Negative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l-PL" sz="1400">
                <a:solidFill>
                  <a:srgbClr val="A5A5A5"/>
                </a:solidFill>
              </a:rPr>
              <a:t>Neutral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pl-PL" sz="1400">
                <a:solidFill>
                  <a:srgbClr val="A38600"/>
                </a:solidFill>
              </a:rPr>
              <a:t>Positive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Sentiments in text Reviews per Category.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Users can inspect how Apps in most popular Categories are judged. 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5087938" y="1140415"/>
            <a:ext cx="4791452" cy="2131703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0"/>
          <p:cNvPicPr preferRelativeResize="0"/>
          <p:nvPr/>
        </p:nvPicPr>
        <p:blipFill rotWithShape="1">
          <a:blip r:embed="rId3">
            <a:alphaModFix/>
          </a:blip>
          <a:srcRect b="0" l="257" r="0" t="0"/>
          <a:stretch/>
        </p:blipFill>
        <p:spPr>
          <a:xfrm>
            <a:off x="436727" y="638550"/>
            <a:ext cx="9447057" cy="532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296486" y="1140503"/>
            <a:ext cx="4791452" cy="4821114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087938" y="1140415"/>
            <a:ext cx="4791452" cy="2131703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77979" y="6411431"/>
            <a:ext cx="4609959" cy="27241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0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* Apps with high Installs count heavily influence the average.</a:t>
            </a:r>
            <a:endParaRPr sz="1400">
              <a:solidFill>
                <a:srgbClr val="A3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10"/>
          <p:cNvPicPr preferRelativeResize="0"/>
          <p:nvPr/>
        </p:nvPicPr>
        <p:blipFill rotWithShape="1">
          <a:blip r:embed="rId4">
            <a:alphaModFix/>
          </a:blip>
          <a:srcRect b="0" l="15821" r="68509" t="25433"/>
          <a:stretch/>
        </p:blipFill>
        <p:spPr>
          <a:xfrm>
            <a:off x="800020" y="3079674"/>
            <a:ext cx="1624740" cy="3086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 rotWithShape="1">
          <a:blip r:embed="rId4">
            <a:alphaModFix/>
          </a:blip>
          <a:srcRect b="74566" l="15821" r="68509" t="0"/>
          <a:stretch/>
        </p:blipFill>
        <p:spPr>
          <a:xfrm>
            <a:off x="2524503" y="5113518"/>
            <a:ext cx="1624740" cy="105282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0"/>
          <p:cNvSpPr txBox="1"/>
          <p:nvPr/>
        </p:nvSpPr>
        <p:spPr>
          <a:xfrm>
            <a:off x="683475" y="1348170"/>
            <a:ext cx="4430568" cy="156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Those percentages are normalized and can be:</a:t>
            </a:r>
            <a:endParaRPr/>
          </a:p>
          <a:p>
            <a:pPr indent="-285749" lvl="0" marL="53816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by the number of Installs</a:t>
            </a:r>
            <a:r>
              <a:rPr b="1"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285749" lvl="0" marL="53816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by the number of Star Ratings;</a:t>
            </a:r>
            <a:endParaRPr/>
          </a:p>
          <a:p>
            <a:pPr indent="-285749" lvl="0" marL="53816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unweighted.</a:t>
            </a:r>
            <a:endParaRPr/>
          </a:p>
          <a:p>
            <a:pPr indent="0" lvl="0" marL="2524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2540657" y="3095061"/>
            <a:ext cx="2224725" cy="81724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 </a:t>
            </a:r>
            <a:r>
              <a:rPr b="1" lang="pl-PL" sz="1400">
                <a:solidFill>
                  <a:srgbClr val="A38600"/>
                </a:solidFill>
              </a:rPr>
              <a:t>DAX measures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pl-PL" sz="1400">
                <a:solidFill>
                  <a:srgbClr val="A38600"/>
                </a:solidFill>
              </a:rPr>
              <a:t>tables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were created to maintain this solution.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257" r="0" t="0"/>
          <a:stretch/>
        </p:blipFill>
        <p:spPr>
          <a:xfrm>
            <a:off x="436727" y="638550"/>
            <a:ext cx="9447057" cy="532297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296486" y="1140503"/>
            <a:ext cx="4791452" cy="4821114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5087938" y="1140415"/>
            <a:ext cx="4791452" cy="2131703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572822" y="1731880"/>
            <a:ext cx="3247328" cy="81724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Users can choose calculation method using buttons. </a:t>
            </a:r>
            <a:r>
              <a:rPr b="1" lang="pl-PL" sz="1400">
                <a:solidFill>
                  <a:srgbClr val="97497B"/>
                </a:solidFill>
              </a:rPr>
              <a:t>Questionmark tooltip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explains how.</a:t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477979" y="6411431"/>
            <a:ext cx="4609959" cy="27241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0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* Apps with high Installs count heavily influence the average.</a:t>
            </a:r>
            <a:endParaRPr sz="1400">
              <a:solidFill>
                <a:srgbClr val="A38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1"/>
          <p:cNvPicPr preferRelativeResize="0"/>
          <p:nvPr/>
        </p:nvPicPr>
        <p:blipFill rotWithShape="1">
          <a:blip r:embed="rId4">
            <a:alphaModFix/>
          </a:blip>
          <a:srcRect b="0" l="15821" r="68509" t="25433"/>
          <a:stretch/>
        </p:blipFill>
        <p:spPr>
          <a:xfrm>
            <a:off x="800020" y="3079674"/>
            <a:ext cx="1624740" cy="3086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1"/>
          <p:cNvPicPr preferRelativeResize="0"/>
          <p:nvPr/>
        </p:nvPicPr>
        <p:blipFill rotWithShape="1">
          <a:blip r:embed="rId4">
            <a:alphaModFix/>
          </a:blip>
          <a:srcRect b="74566" l="15821" r="68509" t="0"/>
          <a:stretch/>
        </p:blipFill>
        <p:spPr>
          <a:xfrm>
            <a:off x="2524503" y="5113518"/>
            <a:ext cx="1624740" cy="105282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 txBox="1"/>
          <p:nvPr/>
        </p:nvSpPr>
        <p:spPr>
          <a:xfrm>
            <a:off x="683475" y="1348170"/>
            <a:ext cx="4430568" cy="156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Those percentages are normalized and can be:</a:t>
            </a:r>
            <a:endParaRPr/>
          </a:p>
          <a:p>
            <a:pPr indent="-285749" lvl="0" marL="53816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by the number of Installs</a:t>
            </a:r>
            <a:r>
              <a:rPr b="1"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285749" lvl="0" marL="53816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by the number of Star Ratings;</a:t>
            </a:r>
            <a:endParaRPr/>
          </a:p>
          <a:p>
            <a:pPr indent="-285749" lvl="0" marL="53816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unweighted.</a:t>
            </a:r>
            <a:endParaRPr/>
          </a:p>
          <a:p>
            <a:pPr indent="0" lvl="0" marL="2524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2540657" y="3095061"/>
            <a:ext cx="2224725" cy="81724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 </a:t>
            </a:r>
            <a:r>
              <a:rPr b="1" lang="pl-PL" sz="1400">
                <a:solidFill>
                  <a:srgbClr val="A38600"/>
                </a:solidFill>
              </a:rPr>
              <a:t>DAX measures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pl-PL" sz="1400">
                <a:solidFill>
                  <a:srgbClr val="A38600"/>
                </a:solidFill>
              </a:rPr>
              <a:t>tables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were created to maintain this solution.</a:t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 rot="4156709">
            <a:off x="8280499" y="2646912"/>
            <a:ext cx="753760" cy="241258"/>
          </a:xfrm>
          <a:prstGeom prst="rightArrow">
            <a:avLst>
              <a:gd fmla="val 50000" name="adj1"/>
              <a:gd fmla="val 161090" name="adj2"/>
            </a:avLst>
          </a:prstGeom>
          <a:solidFill>
            <a:srgbClr val="97497B"/>
          </a:solidFill>
          <a:ln cap="flat" cmpd="sng" w="9525">
            <a:solidFill>
              <a:srgbClr val="974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2"/>
          <p:cNvPicPr preferRelativeResize="0"/>
          <p:nvPr/>
        </p:nvPicPr>
        <p:blipFill rotWithShape="1">
          <a:blip r:embed="rId3">
            <a:alphaModFix/>
          </a:blip>
          <a:srcRect b="0" l="222" r="0" t="0"/>
          <a:stretch/>
        </p:blipFill>
        <p:spPr>
          <a:xfrm>
            <a:off x="433316" y="620712"/>
            <a:ext cx="9421569" cy="532297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407988" y="2967319"/>
            <a:ext cx="4679950" cy="3042692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087938" y="3194596"/>
            <a:ext cx="4766947" cy="2815414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181274" y="3863050"/>
            <a:ext cx="4040100" cy="105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Furthermore, clicking </a:t>
            </a:r>
            <a:r>
              <a:rPr b="1" lang="pl-PL" sz="1400">
                <a:solidFill>
                  <a:srgbClr val="97497B"/>
                </a:solidFill>
              </a:rPr>
              <a:t>one Category</a:t>
            </a:r>
            <a:r>
              <a:rPr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any barplot filters the Star Rating, Sentiment Polarity and Sentiment Subjectivity medians to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only data related to this Category. </a:t>
            </a:r>
            <a:endParaRPr/>
          </a:p>
        </p:txBody>
      </p:sp>
      <p:pic>
        <p:nvPicPr>
          <p:cNvPr id="224" name="Google Shape;224;p12"/>
          <p:cNvPicPr preferRelativeResize="0"/>
          <p:nvPr/>
        </p:nvPicPr>
        <p:blipFill rotWithShape="1">
          <a:blip r:embed="rId3">
            <a:alphaModFix/>
          </a:blip>
          <a:srcRect b="89367" l="222" r="0" t="0"/>
          <a:stretch/>
        </p:blipFill>
        <p:spPr>
          <a:xfrm>
            <a:off x="442841" y="620712"/>
            <a:ext cx="9421569" cy="56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3"/>
          <p:cNvPicPr preferRelativeResize="0"/>
          <p:nvPr/>
        </p:nvPicPr>
        <p:blipFill rotWithShape="1">
          <a:blip r:embed="rId3">
            <a:alphaModFix/>
          </a:blip>
          <a:srcRect b="503" l="285" r="-1" t="0"/>
          <a:stretch/>
        </p:blipFill>
        <p:spPr>
          <a:xfrm>
            <a:off x="448705" y="620713"/>
            <a:ext cx="9433329" cy="530241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3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5087938" y="1120588"/>
            <a:ext cx="4862878" cy="4889422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412381" y="1120588"/>
            <a:ext cx="4675557" cy="3083859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48706" y="4187767"/>
            <a:ext cx="3073625" cy="213904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445753" y="4154848"/>
            <a:ext cx="642186" cy="237857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5413375" y="4538350"/>
            <a:ext cx="3696900" cy="105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Finally, users can </a:t>
            </a:r>
            <a:r>
              <a:rPr b="1" lang="pl-PL" sz="1400">
                <a:solidFill>
                  <a:srgbClr val="A38600"/>
                </a:solidFill>
              </a:rPr>
              <a:t>activate a drill-down option</a:t>
            </a:r>
            <a:r>
              <a:rPr b="1"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any barplot and click any Category to see the results for each </a:t>
            </a:r>
            <a:r>
              <a:rPr b="1" lang="pl-PL" sz="1400">
                <a:solidFill>
                  <a:srgbClr val="A38600"/>
                </a:solidFill>
              </a:rPr>
              <a:t>Genre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pic>
        <p:nvPicPr>
          <p:cNvPr id="237" name="Google Shape;237;p13"/>
          <p:cNvPicPr preferRelativeResize="0"/>
          <p:nvPr/>
        </p:nvPicPr>
        <p:blipFill rotWithShape="1">
          <a:blip r:embed="rId4">
            <a:alphaModFix/>
          </a:blip>
          <a:srcRect b="90271" l="100" r="0" t="0"/>
          <a:stretch/>
        </p:blipFill>
        <p:spPr>
          <a:xfrm>
            <a:off x="431335" y="620713"/>
            <a:ext cx="9433075" cy="51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4"/>
          <p:cNvPicPr preferRelativeResize="0"/>
          <p:nvPr/>
        </p:nvPicPr>
        <p:blipFill rotWithShape="1">
          <a:blip r:embed="rId3">
            <a:alphaModFix/>
          </a:blip>
          <a:srcRect b="0" l="257" r="0" t="0"/>
          <a:stretch/>
        </p:blipFill>
        <p:spPr>
          <a:xfrm>
            <a:off x="436728" y="620713"/>
            <a:ext cx="9449762" cy="532297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4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12383" y="1111624"/>
            <a:ext cx="9474107" cy="4832068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7238129" y="1859188"/>
            <a:ext cx="3982322" cy="129397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CHOICE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page frames the competitive landscape the proposed app would enter.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Users should start by clicking the </a:t>
            </a:r>
            <a:r>
              <a:rPr b="1" lang="pl-PL" sz="1400">
                <a:solidFill>
                  <a:srgbClr val="97497B"/>
                </a:solidFill>
              </a:rPr>
              <a:t>Bookmark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symbol to open Filters Panel. </a:t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 rot="-7978639">
            <a:off x="7460517" y="1390270"/>
            <a:ext cx="649104" cy="148156"/>
          </a:xfrm>
          <a:prstGeom prst="rightArrow">
            <a:avLst>
              <a:gd fmla="val 50000" name="adj1"/>
              <a:gd fmla="val 161090" name="adj2"/>
            </a:avLst>
          </a:prstGeom>
          <a:solidFill>
            <a:srgbClr val="C6B35F"/>
          </a:solidFill>
          <a:ln cap="flat" cmpd="sng" w="9525">
            <a:solidFill>
              <a:srgbClr val="C6B3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5"/>
          <p:cNvPicPr preferRelativeResize="0"/>
          <p:nvPr/>
        </p:nvPicPr>
        <p:blipFill rotWithShape="1">
          <a:blip r:embed="rId3">
            <a:alphaModFix/>
          </a:blip>
          <a:srcRect b="0" l="293" r="0" t="0"/>
          <a:stretch/>
        </p:blipFill>
        <p:spPr>
          <a:xfrm>
            <a:off x="440140" y="620713"/>
            <a:ext cx="9446350" cy="532297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5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2832847" y="1111624"/>
            <a:ext cx="7053643" cy="4832068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3006788" y="1258553"/>
            <a:ext cx="4344248" cy="15323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Filters Panel users can choose </a:t>
            </a:r>
            <a:r>
              <a:rPr b="1" lang="pl-PL" sz="1400">
                <a:solidFill>
                  <a:srgbClr val="A38600"/>
                </a:solidFill>
              </a:rPr>
              <a:t>App Category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is of interest to the Product Manager.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Categories have several </a:t>
            </a:r>
            <a:r>
              <a:rPr b="1" lang="pl-PL" sz="1400">
                <a:solidFill>
                  <a:srgbClr val="A38600"/>
                </a:solidFill>
              </a:rPr>
              <a:t>Genres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(category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sub-types) that can be selected to narrow down the focus of the analysis.</a:t>
            </a:r>
            <a:endParaRPr/>
          </a:p>
        </p:txBody>
      </p:sp>
      <p:pic>
        <p:nvPicPr>
          <p:cNvPr id="257" name="Google Shape;25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6130" y="3590387"/>
            <a:ext cx="2053405" cy="243044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5"/>
          <p:cNvSpPr/>
          <p:nvPr/>
        </p:nvSpPr>
        <p:spPr>
          <a:xfrm>
            <a:off x="3910628" y="3527632"/>
            <a:ext cx="995502" cy="34051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7351025" y="5456925"/>
            <a:ext cx="3240300" cy="57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Panel can be closed by clicking 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pl-PL" sz="1400">
                <a:solidFill>
                  <a:srgbClr val="97497B"/>
                </a:solidFill>
              </a:rPr>
              <a:t>Bookmark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symbol again.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727" y="638713"/>
            <a:ext cx="9452388" cy="530497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6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4621213" y="1120590"/>
            <a:ext cx="5267902" cy="4889422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4966609" y="1869454"/>
            <a:ext cx="4182346" cy="105560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Pie charts describe the characteristics of Apps in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chosen Category: </a:t>
            </a:r>
            <a:r>
              <a:rPr b="1" lang="pl-PL" sz="1400">
                <a:solidFill>
                  <a:srgbClr val="A38600"/>
                </a:solidFill>
              </a:rPr>
              <a:t>Content Rating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pl-PL" sz="1400">
                <a:solidFill>
                  <a:srgbClr val="A38600"/>
                </a:solidFill>
              </a:rPr>
              <a:t>App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A38600"/>
                </a:solidFill>
              </a:rPr>
              <a:t>Price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To facilitate data presentation pricing ranges were created post hoc using DAX.</a:t>
            </a:r>
            <a:endParaRPr/>
          </a:p>
        </p:txBody>
      </p:sp>
      <p:pic>
        <p:nvPicPr>
          <p:cNvPr id="269" name="Google Shape;269;p16"/>
          <p:cNvPicPr preferRelativeResize="0"/>
          <p:nvPr/>
        </p:nvPicPr>
        <p:blipFill rotWithShape="1">
          <a:blip r:embed="rId4">
            <a:alphaModFix/>
          </a:blip>
          <a:srcRect b="3656" l="6068" r="0" t="3545"/>
          <a:stretch/>
        </p:blipFill>
        <p:spPr>
          <a:xfrm>
            <a:off x="5959425" y="3272825"/>
            <a:ext cx="2584525" cy="15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727" y="638713"/>
            <a:ext cx="9452388" cy="530497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7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436727" y="1138590"/>
            <a:ext cx="4212407" cy="4889422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591098" y="1886472"/>
            <a:ext cx="3903664" cy="129397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Next, the table shows </a:t>
            </a:r>
            <a:r>
              <a:rPr b="1" lang="pl-PL" sz="1400">
                <a:solidFill>
                  <a:srgbClr val="A38600"/>
                </a:solidFill>
              </a:rPr>
              <a:t>most positively reviewed Apps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(filtered by decreasing % of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Positive Sentiment) in chosen Category. Users can see App names, their Star Rating and Sentiment metadata.</a:t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4624790" y="3682560"/>
            <a:ext cx="5264325" cy="2243131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727" y="638713"/>
            <a:ext cx="9452388" cy="530497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8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436727" y="1138590"/>
            <a:ext cx="4212407" cy="4889422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824900" y="3917400"/>
            <a:ext cx="2728800" cy="153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Sentiment percentages are</a:t>
            </a:r>
            <a:r>
              <a:rPr lang="pl-PL">
                <a:solidFill>
                  <a:schemeClr val="dk1"/>
                </a:solidFill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shown on the barplot below.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visuals help establish the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b="1" lang="pl-PL" sz="1400">
                <a:solidFill>
                  <a:srgbClr val="A38600"/>
                </a:solidFill>
              </a:rPr>
              <a:t>most competitive rivals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the market and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pricing options.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727" y="656713"/>
            <a:ext cx="9422876" cy="530497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9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412383" y="1174590"/>
            <a:ext cx="9447220" cy="4889422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7238129" y="1859188"/>
            <a:ext cx="3982322" cy="224742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TRENDS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page compares Product Manager’s goals with real-world benchmarks. It highlights whether the typical App rating, price, size, and engagement levels within chosen Category align with what the app creator hopes to achieve.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Users should start by clicking the </a:t>
            </a:r>
            <a:r>
              <a:rPr b="1" lang="pl-PL" sz="1400">
                <a:solidFill>
                  <a:srgbClr val="97497B"/>
                </a:solidFill>
              </a:rPr>
              <a:t>Bookmark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symbol to open Filters Panel. </a:t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 rot="-7978639">
            <a:off x="8717217" y="1497120"/>
            <a:ext cx="649104" cy="148156"/>
          </a:xfrm>
          <a:prstGeom prst="rightArrow">
            <a:avLst>
              <a:gd fmla="val 50000" name="adj1"/>
              <a:gd fmla="val 161090" name="adj2"/>
            </a:avLst>
          </a:prstGeom>
          <a:solidFill>
            <a:srgbClr val="C6B35F"/>
          </a:solidFill>
          <a:ln cap="flat" cmpd="sng" w="9525">
            <a:solidFill>
              <a:srgbClr val="C6B3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727" y="656713"/>
            <a:ext cx="9422876" cy="530790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0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2857499" y="1174590"/>
            <a:ext cx="7002103" cy="4889422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3006800" y="1258550"/>
            <a:ext cx="4382700" cy="198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Filters Panel users can choose </a:t>
            </a:r>
            <a:r>
              <a:rPr b="1" lang="pl-PL" sz="1400">
                <a:solidFill>
                  <a:srgbClr val="A38600"/>
                </a:solidFill>
              </a:rPr>
              <a:t>App Category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pl-PL">
                <a:solidFill>
                  <a:srgbClr val="A38600"/>
                </a:solidFill>
              </a:rPr>
              <a:t> </a:t>
            </a:r>
            <a:r>
              <a:rPr b="1" lang="pl-PL" sz="1400">
                <a:solidFill>
                  <a:srgbClr val="A38600"/>
                </a:solidFill>
              </a:rPr>
              <a:t>Genre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target group (</a:t>
            </a:r>
            <a:r>
              <a:rPr b="1" lang="pl-PL" sz="1400">
                <a:solidFill>
                  <a:srgbClr val="A38600"/>
                </a:solidFill>
              </a:rPr>
              <a:t>Content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A38600"/>
                </a:solidFill>
              </a:rPr>
              <a:t>Rating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Furthermore, several numerical KPIs (</a:t>
            </a:r>
            <a:r>
              <a:rPr b="1" lang="pl-PL" sz="1400">
                <a:solidFill>
                  <a:srgbClr val="A38600"/>
                </a:solidFill>
              </a:rPr>
              <a:t>Goals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can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set to inform comparisons. For example, Product Managers may already have an idea of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pl-PL" sz="1400">
                <a:solidFill>
                  <a:srgbClr val="97497B"/>
                </a:solidFill>
              </a:rPr>
              <a:t>target App Rating</a:t>
            </a:r>
            <a:r>
              <a:rPr b="1"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product should achieve.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727" y="656713"/>
            <a:ext cx="9422876" cy="530497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1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5057775" y="1174590"/>
            <a:ext cx="4801828" cy="4889422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255947" y="3533774"/>
            <a:ext cx="4801828" cy="2530237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5314075" y="1419951"/>
            <a:ext cx="3715500" cy="200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page includes four plots showing the relationships between benchmark performance measures.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example, we can observe </a:t>
            </a:r>
            <a:r>
              <a:rPr b="1" lang="pl-PL" sz="1400">
                <a:solidFill>
                  <a:srgbClr val="A38600"/>
                </a:solidFill>
              </a:rPr>
              <a:t>moderate trend (dashed line)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number of App Installs increasing together with App Rating. </a:t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5389603" y="3734389"/>
            <a:ext cx="3640098" cy="200906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number to the right is </a:t>
            </a:r>
            <a:r>
              <a:rPr b="1" lang="pl-PL" sz="1400">
                <a:solidFill>
                  <a:srgbClr val="97497B"/>
                </a:solidFill>
              </a:rPr>
              <a:t>median App Rating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all Apps within previously chosen group (Category, Genre, Content Rating). </a:t>
            </a: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Importantly, this value is then compared to </a:t>
            </a:r>
            <a:r>
              <a:rPr b="1" lang="pl-PL" sz="1400">
                <a:solidFill>
                  <a:srgbClr val="97497B"/>
                </a:solidFill>
              </a:rPr>
              <a:t>goal App Rating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to show how far does the target result stand from the</a:t>
            </a:r>
            <a:r>
              <a:rPr lang="pl-PL">
                <a:solidFill>
                  <a:schemeClr val="dk1"/>
                </a:solidFill>
              </a:rPr>
              <a:t> 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real-world median.  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727" y="656713"/>
            <a:ext cx="9422876" cy="530497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2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255947" y="1204152"/>
            <a:ext cx="4801828" cy="2367723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875250" y="1860200"/>
            <a:ext cx="3396600" cy="105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remaining plots illustrate how does App Price, Size, and the number of Reviews correspond to their Star Rating and user engagement.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727" y="656713"/>
            <a:ext cx="9422876" cy="530497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 txBox="1"/>
          <p:nvPr/>
        </p:nvSpPr>
        <p:spPr>
          <a:xfrm>
            <a:off x="412383" y="127354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the Dashboard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255947" y="1204152"/>
            <a:ext cx="4801828" cy="2367723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5148165" y="1204152"/>
            <a:ext cx="4801828" cy="4757540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44512" y="1398679"/>
            <a:ext cx="1715091" cy="436848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3"/>
          <p:cNvSpPr/>
          <p:nvPr/>
        </p:nvSpPr>
        <p:spPr>
          <a:xfrm>
            <a:off x="5514851" y="1248176"/>
            <a:ext cx="2224725" cy="81724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 </a:t>
            </a:r>
            <a:r>
              <a:rPr b="1" lang="pl-PL" sz="1400">
                <a:solidFill>
                  <a:srgbClr val="A38600"/>
                </a:solidFill>
              </a:rPr>
              <a:t>DAX measures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pl-PL" sz="1400">
                <a:solidFill>
                  <a:srgbClr val="A38600"/>
                </a:solidFill>
              </a:rPr>
              <a:t>tables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were created to maintain this solution.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875250" y="1860200"/>
            <a:ext cx="3396600" cy="105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remaining plots illustrate how does App Price, Size, and the number of Reviews correspond to their Star Rating and user engagement.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"/>
          <p:cNvSpPr/>
          <p:nvPr/>
        </p:nvSpPr>
        <p:spPr>
          <a:xfrm>
            <a:off x="1291512" y="724753"/>
            <a:ext cx="9731742" cy="4085102"/>
          </a:xfrm>
          <a:prstGeom prst="rect">
            <a:avLst/>
          </a:prstGeom>
          <a:solidFill>
            <a:srgbClr val="E1DF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004" y="857297"/>
            <a:ext cx="9543732" cy="3830817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4"/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Dashboard Model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2888904" y="1819323"/>
            <a:ext cx="1514475" cy="2825721"/>
          </a:xfrm>
          <a:prstGeom prst="rect">
            <a:avLst/>
          </a:prstGeom>
          <a:solidFill>
            <a:srgbClr val="A38600">
              <a:alpha val="10196"/>
            </a:srgbClr>
          </a:solidFill>
          <a:ln cap="flat" cmpd="sng" w="9525">
            <a:solidFill>
              <a:srgbClr val="A38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1403005" y="857298"/>
            <a:ext cx="4505325" cy="3790950"/>
          </a:xfrm>
          <a:custGeom>
            <a:rect b="b" l="l" r="r" t="t"/>
            <a:pathLst>
              <a:path extrusionOk="0" h="3790950" w="4505325">
                <a:moveTo>
                  <a:pt x="1485900" y="3790950"/>
                </a:moveTo>
                <a:lnTo>
                  <a:pt x="0" y="3790950"/>
                </a:lnTo>
                <a:lnTo>
                  <a:pt x="9525" y="0"/>
                </a:lnTo>
                <a:lnTo>
                  <a:pt x="4505325" y="9525"/>
                </a:lnTo>
                <a:lnTo>
                  <a:pt x="4495800" y="923925"/>
                </a:lnTo>
                <a:lnTo>
                  <a:pt x="1466850" y="933450"/>
                </a:lnTo>
                <a:lnTo>
                  <a:pt x="1485900" y="3790950"/>
                </a:lnTo>
                <a:close/>
              </a:path>
            </a:pathLst>
          </a:custGeom>
          <a:solidFill>
            <a:srgbClr val="224378">
              <a:alpha val="20000"/>
            </a:srgbClr>
          </a:solidFill>
          <a:ln cap="flat" cmpd="sng" w="9525">
            <a:solidFill>
              <a:srgbClr val="2243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1707804" y="5224105"/>
            <a:ext cx="180000" cy="180000"/>
          </a:xfrm>
          <a:prstGeom prst="rect">
            <a:avLst/>
          </a:prstGeom>
          <a:solidFill>
            <a:srgbClr val="A38600">
              <a:alpha val="20000"/>
            </a:srgbClr>
          </a:solidFill>
          <a:ln cap="flat" cmpd="sng" w="12700">
            <a:solidFill>
              <a:srgbClr val="A38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1710626" y="5447944"/>
            <a:ext cx="180000" cy="180000"/>
          </a:xfrm>
          <a:prstGeom prst="rect">
            <a:avLst/>
          </a:prstGeom>
          <a:solidFill>
            <a:srgbClr val="224378">
              <a:alpha val="20000"/>
            </a:srgbClr>
          </a:solidFill>
          <a:ln cap="flat" cmpd="sng" w="12700">
            <a:solidFill>
              <a:srgbClr val="2243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1707804" y="5681310"/>
            <a:ext cx="180000" cy="180000"/>
          </a:xfrm>
          <a:prstGeom prst="rect">
            <a:avLst/>
          </a:prstGeom>
          <a:solidFill>
            <a:srgbClr val="3B7D23">
              <a:alpha val="20000"/>
            </a:srgbClr>
          </a:solidFill>
          <a:ln cap="flat" cmpd="sng" w="12700">
            <a:solidFill>
              <a:srgbClr val="3B7D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4441480" y="866823"/>
            <a:ext cx="2952750" cy="3781425"/>
          </a:xfrm>
          <a:custGeom>
            <a:rect b="b" l="l" r="r" t="t"/>
            <a:pathLst>
              <a:path extrusionOk="0" h="3781425" w="2952750">
                <a:moveTo>
                  <a:pt x="0" y="1485900"/>
                </a:moveTo>
                <a:lnTo>
                  <a:pt x="1504950" y="1504950"/>
                </a:lnTo>
                <a:lnTo>
                  <a:pt x="1504950" y="0"/>
                </a:lnTo>
                <a:lnTo>
                  <a:pt x="2952750" y="9525"/>
                </a:lnTo>
                <a:lnTo>
                  <a:pt x="2952750" y="2724150"/>
                </a:lnTo>
                <a:lnTo>
                  <a:pt x="1466850" y="2714625"/>
                </a:lnTo>
                <a:lnTo>
                  <a:pt x="1457325" y="3781425"/>
                </a:lnTo>
                <a:lnTo>
                  <a:pt x="9525" y="3781425"/>
                </a:lnTo>
                <a:lnTo>
                  <a:pt x="0" y="1485900"/>
                </a:lnTo>
                <a:close/>
              </a:path>
            </a:pathLst>
          </a:custGeom>
          <a:solidFill>
            <a:srgbClr val="3B7D23">
              <a:alpha val="20000"/>
            </a:srgbClr>
          </a:solidFill>
          <a:ln cap="flat" cmpd="sng" w="9525">
            <a:solidFill>
              <a:srgbClr val="3A7D2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9461154" y="917715"/>
            <a:ext cx="1440000" cy="792076"/>
          </a:xfrm>
          <a:prstGeom prst="rect">
            <a:avLst/>
          </a:prstGeom>
          <a:solidFill>
            <a:srgbClr val="3B7D23">
              <a:alpha val="20000"/>
            </a:srgbClr>
          </a:solidFill>
          <a:ln cap="flat" cmpd="sng" w="9525">
            <a:solidFill>
              <a:srgbClr val="3B7D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1707804" y="5909926"/>
            <a:ext cx="180000" cy="180969"/>
          </a:xfrm>
          <a:prstGeom prst="rect">
            <a:avLst/>
          </a:prstGeom>
          <a:solidFill>
            <a:srgbClr val="0B769F">
              <a:alpha val="20000"/>
            </a:srgbClr>
          </a:solidFill>
          <a:ln cap="flat" cmpd="sng" w="12700">
            <a:solidFill>
              <a:srgbClr val="0B769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7849703" y="1607432"/>
            <a:ext cx="1440000" cy="1260000"/>
          </a:xfrm>
          <a:prstGeom prst="rect">
            <a:avLst/>
          </a:prstGeom>
          <a:solidFill>
            <a:srgbClr val="0B769F">
              <a:alpha val="20000"/>
            </a:srgbClr>
          </a:solidFill>
          <a:ln cap="flat" cmpd="sng" w="9525">
            <a:solidFill>
              <a:srgbClr val="0B769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9451629" y="2752773"/>
            <a:ext cx="1440000" cy="792075"/>
          </a:xfrm>
          <a:prstGeom prst="rect">
            <a:avLst/>
          </a:prstGeom>
          <a:solidFill>
            <a:srgbClr val="3B7D23">
              <a:alpha val="20000"/>
            </a:srgbClr>
          </a:solidFill>
          <a:ln cap="flat" cmpd="sng" w="9525">
            <a:solidFill>
              <a:srgbClr val="3B7D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7441854" y="3360436"/>
            <a:ext cx="1440000" cy="1284608"/>
          </a:xfrm>
          <a:prstGeom prst="rect">
            <a:avLst/>
          </a:prstGeom>
          <a:solidFill>
            <a:srgbClr val="707070">
              <a:alpha val="20000"/>
            </a:srgbClr>
          </a:solidFill>
          <a:ln cap="flat" cmpd="sng" w="9525">
            <a:solidFill>
              <a:srgbClr val="70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4"/>
          <p:cNvSpPr txBox="1"/>
          <p:nvPr/>
        </p:nvSpPr>
        <p:spPr>
          <a:xfrm>
            <a:off x="1887800" y="5181125"/>
            <a:ext cx="596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DAX </a:t>
            </a:r>
            <a:r>
              <a:rPr i="1"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_Measures</a:t>
            </a: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ensuring correct calculations across filters.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 txBox="1"/>
          <p:nvPr/>
        </p:nvSpPr>
        <p:spPr>
          <a:xfrm>
            <a:off x="1887800" y="5409200"/>
            <a:ext cx="596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Additional ( </a:t>
            </a:r>
            <a:r>
              <a:rPr i="1"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lookup_ </a:t>
            </a: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i="1"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goal_ </a:t>
            </a: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tables added to maintaing visuals and store input values.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4"/>
          <p:cNvSpPr txBox="1"/>
          <p:nvPr/>
        </p:nvSpPr>
        <p:spPr>
          <a:xfrm>
            <a:off x="1887800" y="5642900"/>
            <a:ext cx="596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Dimentional  ( </a:t>
            </a:r>
            <a:r>
              <a:rPr i="1"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dim_ </a:t>
            </a: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tables storing the source data and IDs.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>
            <a:off x="1887800" y="5872500"/>
            <a:ext cx="596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Bridging ( </a:t>
            </a:r>
            <a:r>
              <a:rPr i="1"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brid_</a:t>
            </a: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 table maintaining proper hierarchy of App–Genre–Category.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1707804" y="6136318"/>
            <a:ext cx="180000" cy="180969"/>
          </a:xfrm>
          <a:prstGeom prst="rect">
            <a:avLst/>
          </a:prstGeom>
          <a:solidFill>
            <a:srgbClr val="707070">
              <a:alpha val="20000"/>
            </a:srgbClr>
          </a:solidFill>
          <a:ln cap="flat" cmpd="sng" w="12700">
            <a:solidFill>
              <a:srgbClr val="7070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4"/>
          <p:cNvSpPr txBox="1"/>
          <p:nvPr/>
        </p:nvSpPr>
        <p:spPr>
          <a:xfrm>
            <a:off x="1887800" y="6096000"/>
            <a:ext cx="596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source data table ( </a:t>
            </a:r>
            <a:r>
              <a:rPr i="1"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fact_</a:t>
            </a:r>
            <a:r>
              <a:rPr lang="pl-PL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).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1393480" y="4887245"/>
            <a:ext cx="4419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Legend: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"/>
          <p:cNvSpPr txBox="1"/>
          <p:nvPr/>
        </p:nvSpPr>
        <p:spPr>
          <a:xfrm>
            <a:off x="425251" y="154282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results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425251" y="677502"/>
            <a:ext cx="5670748" cy="120355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425252" y="677501"/>
            <a:ext cx="5670748" cy="108000"/>
          </a:xfrm>
          <a:prstGeom prst="rect">
            <a:avLst/>
          </a:prstGeom>
          <a:solidFill>
            <a:srgbClr val="97497B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 txBox="1"/>
          <p:nvPr/>
        </p:nvSpPr>
        <p:spPr>
          <a:xfrm>
            <a:off x="793276" y="882425"/>
            <a:ext cx="53028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prep_fact_data.csv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-PL" sz="1600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main dataset merged from both Kaggle data sources </a:t>
            </a:r>
            <a:b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i="1" lang="pl-PL" sz="12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{googleplaystore.csv, googleplaystore_user_reviews.csv} </a:t>
            </a:r>
            <a:b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and preprocessed using Python codes.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preprocessing_code.py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Python code that can be re-used in future </a:t>
            </a:r>
            <a:b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case of a database update.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	Consultant_Dashboard.pbix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PowerBI dashboard based on the preprocessed dataset</a:t>
            </a:r>
            <a:b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l-PL" sz="1200" u="none" cap="none" strike="noStrike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{prep_fact_data.csv} </a:t>
            </a:r>
            <a:endParaRPr>
              <a:solidFill>
                <a:srgbClr val="97497B"/>
              </a:solidFill>
            </a:endParaRPr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6- data source Vector Icons free download in SVG, PNG Format" id="374" name="Google Shape;3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322" y="1119859"/>
            <a:ext cx="434788" cy="434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375" name="Google Shape;3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816429" y="1974471"/>
            <a:ext cx="408435" cy="40843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5"/>
          <p:cNvSpPr/>
          <p:nvPr/>
        </p:nvSpPr>
        <p:spPr>
          <a:xfrm>
            <a:off x="1007872" y="2859944"/>
            <a:ext cx="100914" cy="31314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931672" y="2940818"/>
            <a:ext cx="100914" cy="2322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868858" y="3005812"/>
            <a:ext cx="100914" cy="16727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"/>
          <p:cNvSpPr/>
          <p:nvPr/>
        </p:nvSpPr>
        <p:spPr>
          <a:xfrm>
            <a:off x="425251" y="677502"/>
            <a:ext cx="5670748" cy="120355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425252" y="677501"/>
            <a:ext cx="5670748" cy="108000"/>
          </a:xfrm>
          <a:prstGeom prst="rect">
            <a:avLst/>
          </a:prstGeom>
          <a:solidFill>
            <a:srgbClr val="97497B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6096000" y="675866"/>
            <a:ext cx="5670748" cy="108000"/>
          </a:xfrm>
          <a:prstGeom prst="rect">
            <a:avLst/>
          </a:prstGeom>
          <a:solidFill>
            <a:srgbClr val="97497B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6"/>
          <p:cNvSpPr txBox="1"/>
          <p:nvPr/>
        </p:nvSpPr>
        <p:spPr>
          <a:xfrm>
            <a:off x="6095999" y="153464"/>
            <a:ext cx="56707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Limitations of data coverage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 txBox="1"/>
          <p:nvPr/>
        </p:nvSpPr>
        <p:spPr>
          <a:xfrm>
            <a:off x="6095999" y="880780"/>
            <a:ext cx="567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pl-PL" sz="1400">
                <a:solidFill>
                  <a:srgbClr val="97497B"/>
                </a:solidFill>
              </a:rPr>
              <a:t>Last Updated</a:t>
            </a:r>
            <a:r>
              <a:rPr i="1"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field does not extend beyond 2018, indicating that the source dataset is no longer current and may not fully reflect today’s app-store landscape.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Several </a:t>
            </a:r>
            <a:r>
              <a:rPr b="1" i="1" lang="pl-PL" sz="1400">
                <a:solidFill>
                  <a:srgbClr val="97497B"/>
                </a:solidFill>
              </a:rPr>
              <a:t>Genres</a:t>
            </a:r>
            <a:r>
              <a:rPr i="1"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 only a small number of Apps, which limits the reliability of some category-level comparisons or trend-based interpretation. </a:t>
            </a:r>
            <a:endParaRPr/>
          </a:p>
        </p:txBody>
      </p:sp>
      <p:sp>
        <p:nvSpPr>
          <p:cNvPr id="388" name="Google Shape;388;p26"/>
          <p:cNvSpPr txBox="1"/>
          <p:nvPr/>
        </p:nvSpPr>
        <p:spPr>
          <a:xfrm>
            <a:off x="6764300" y="3206124"/>
            <a:ext cx="4595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dashboard was created as a portfolio project to</a:t>
            </a:r>
            <a:r>
              <a:rPr i="1" lang="pl-PL">
                <a:solidFill>
                  <a:schemeClr val="dk1"/>
                </a:solidFill>
              </a:rPr>
              <a:t> </a:t>
            </a:r>
            <a:r>
              <a:rPr i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demonstrate analytical and data-modelling skills, as</a:t>
            </a:r>
            <a:r>
              <a:rPr i="1" lang="pl-PL">
                <a:solidFill>
                  <a:schemeClr val="dk1"/>
                </a:solidFill>
              </a:rPr>
              <a:t> </a:t>
            </a:r>
            <a:r>
              <a:rPr i="1"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 as the Power BI proficiency. While the dataset has clear limitations, it serves adequately for those purposes.</a:t>
            </a:r>
            <a:endParaRPr/>
          </a:p>
        </p:txBody>
      </p:sp>
      <p:sp>
        <p:nvSpPr>
          <p:cNvPr id="389" name="Google Shape;389;p26"/>
          <p:cNvSpPr txBox="1"/>
          <p:nvPr/>
        </p:nvSpPr>
        <p:spPr>
          <a:xfrm>
            <a:off x="793276" y="882425"/>
            <a:ext cx="53028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prep_fact_data.csv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-PL" sz="1600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main dataset merged from both Kaggle data sources </a:t>
            </a:r>
            <a:b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i="1" lang="pl-PL" sz="12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{googleplaystore.csv, googleplaystore_user_reviews.csv} </a:t>
            </a:r>
            <a:b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l-P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and preprocessed using Python codes.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22437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preprocessing_code.py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Python code that can be re-used in future </a:t>
            </a:r>
            <a:b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case of a database update.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	Consultant_Dashboard.pbix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PowerBI dashboard based on the preprocessed dataset</a:t>
            </a:r>
            <a:br>
              <a:rPr b="0" i="1" lang="pl-P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l-PL" sz="1200" u="none" cap="none" strike="noStrike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{prep_fact_data.csv} </a:t>
            </a:r>
            <a:endParaRPr>
              <a:solidFill>
                <a:srgbClr val="97497B"/>
              </a:solidFill>
            </a:endParaRPr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6- data source Vector Icons free download in SVG, PNG Format" id="390" name="Google Shape;39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322" y="1119859"/>
            <a:ext cx="434788" cy="434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flat color outline icon 10332153 PNG" id="391" name="Google Shape;39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816429" y="1974471"/>
            <a:ext cx="408435" cy="40843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6"/>
          <p:cNvSpPr/>
          <p:nvPr/>
        </p:nvSpPr>
        <p:spPr>
          <a:xfrm>
            <a:off x="1007872" y="2859944"/>
            <a:ext cx="100800" cy="31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931672" y="2940818"/>
            <a:ext cx="100800" cy="232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868858" y="3005812"/>
            <a:ext cx="100800" cy="16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442875" y="797857"/>
            <a:ext cx="5635500" cy="5610600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6782253" y="2925484"/>
            <a:ext cx="459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l-PL" sz="1600">
                <a:solidFill>
                  <a:srgbClr val="A38600"/>
                </a:solidFill>
              </a:rPr>
              <a:t>Important note:</a:t>
            </a:r>
            <a:endParaRPr b="1" sz="1600">
              <a:solidFill>
                <a:srgbClr val="A386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/>
          <p:nvPr/>
        </p:nvSpPr>
        <p:spPr>
          <a:xfrm>
            <a:off x="425253" y="677504"/>
            <a:ext cx="5670748" cy="108000"/>
          </a:xfrm>
          <a:prstGeom prst="rect">
            <a:avLst/>
          </a:prstGeom>
          <a:solidFill>
            <a:srgbClr val="C6B35F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89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7"/>
          <p:cNvSpPr txBox="1"/>
          <p:nvPr/>
        </p:nvSpPr>
        <p:spPr>
          <a:xfrm>
            <a:off x="344570" y="154284"/>
            <a:ext cx="74547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skills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425253" y="905360"/>
            <a:ext cx="11480100" cy="5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modelling</a:t>
            </a:r>
            <a:endParaRPr/>
          </a:p>
          <a:p>
            <a:pPr indent="-171450" lvl="0" marL="361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Designing </a:t>
            </a:r>
            <a:r>
              <a:rPr b="1" lang="pl-PL" sz="1400">
                <a:solidFill>
                  <a:srgbClr val="97497B"/>
                </a:solidFill>
              </a:rPr>
              <a:t>a star-schema model</a:t>
            </a:r>
            <a:r>
              <a:rPr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(fact table + dimension tables).</a:t>
            </a:r>
            <a:endParaRPr/>
          </a:p>
          <a:p>
            <a:pPr indent="-171450" lvl="0" marL="361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one-to-many and one-to-one </a:t>
            </a:r>
            <a:r>
              <a:rPr b="1" lang="pl-PL" sz="1400">
                <a:solidFill>
                  <a:srgbClr val="97497B"/>
                </a:solidFill>
              </a:rPr>
              <a:t>relationships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71450" lvl="0" marL="361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Resolving ambiguity with </a:t>
            </a:r>
            <a:r>
              <a:rPr b="1" lang="pl-PL" sz="1400">
                <a:solidFill>
                  <a:srgbClr val="97497B"/>
                </a:solidFill>
              </a:rPr>
              <a:t>bridging tables</a:t>
            </a:r>
            <a:r>
              <a:rPr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(App–Genre–Category).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361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</a:t>
            </a:r>
            <a:r>
              <a:rPr b="1" lang="pl-PL" sz="1400">
                <a:solidFill>
                  <a:srgbClr val="97497B"/>
                </a:solidFill>
              </a:rPr>
              <a:t>calculated</a:t>
            </a:r>
            <a:r>
              <a:rPr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97497B"/>
                </a:solidFill>
              </a:rPr>
              <a:t>columns</a:t>
            </a:r>
            <a:r>
              <a:rPr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(for categorical ranges and ordering).</a:t>
            </a:r>
            <a:endParaRPr/>
          </a:p>
          <a:p>
            <a:pPr indent="-171450" lvl="0" marL="361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Building </a:t>
            </a:r>
            <a:r>
              <a:rPr b="1" lang="pl-PL" sz="1400">
                <a:solidFill>
                  <a:srgbClr val="97497B"/>
                </a:solidFill>
              </a:rPr>
              <a:t>aggregation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measures (counts, medians, ratios).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779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visualization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4398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Designing charts with </a:t>
            </a:r>
            <a:r>
              <a:rPr b="1" lang="pl-PL" sz="1400">
                <a:solidFill>
                  <a:srgbClr val="A38600"/>
                </a:solidFill>
              </a:rPr>
              <a:t>drill-down hierarchies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(Category → Genre).</a:t>
            </a:r>
            <a:endParaRPr/>
          </a:p>
          <a:p>
            <a:pPr indent="-180975" lvl="0" marL="14398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Configuring scatterplots with </a:t>
            </a:r>
            <a:r>
              <a:rPr b="1" lang="pl-PL" sz="1400">
                <a:solidFill>
                  <a:srgbClr val="A38600"/>
                </a:solidFill>
              </a:rPr>
              <a:t>logarithmic</a:t>
            </a:r>
            <a:r>
              <a:rPr b="1" lang="pl-PL" sz="1400">
                <a:solidFill>
                  <a:schemeClr val="dk1"/>
                </a:solidFill>
              </a:rPr>
              <a:t> </a:t>
            </a:r>
            <a:r>
              <a:rPr b="1" lang="pl-PL" sz="1400">
                <a:solidFill>
                  <a:srgbClr val="A38600"/>
                </a:solidFill>
              </a:rPr>
              <a:t>scaling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 clean data presentation.</a:t>
            </a:r>
            <a:endParaRPr/>
          </a:p>
          <a:p>
            <a:pPr indent="-180975" lvl="0" marL="14398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</a:t>
            </a:r>
            <a:r>
              <a:rPr b="1" lang="pl-PL" sz="1400">
                <a:solidFill>
                  <a:srgbClr val="A38600"/>
                </a:solidFill>
              </a:rPr>
              <a:t>user inputs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A38600"/>
                </a:solidFill>
              </a:rPr>
              <a:t>KPI cards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goal-vs-median logic.</a:t>
            </a:r>
            <a:endParaRPr/>
          </a:p>
          <a:p>
            <a:pPr indent="-180975" lvl="0" marL="14398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multi-page</a:t>
            </a:r>
            <a:r>
              <a:rPr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A38600"/>
                </a:solidFill>
              </a:rPr>
              <a:t>thematic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A38600"/>
                </a:solidFill>
              </a:rPr>
              <a:t>layouts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rgbClr val="1E1F22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A38600"/>
                </a:solidFill>
              </a:rPr>
              <a:t>page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A38600"/>
                </a:solidFill>
              </a:rPr>
              <a:t>navigation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pl-PL" sz="1400">
                <a:solidFill>
                  <a:srgbClr val="97497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A38600"/>
                </a:solidFill>
              </a:rPr>
              <a:t>filter</a:t>
            </a:r>
            <a:r>
              <a:rPr lang="pl-PL" sz="1400">
                <a:solidFill>
                  <a:srgbClr val="A38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A38600"/>
                </a:solidFill>
              </a:rPr>
              <a:t>panels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0779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5423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-P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Storytelling</a:t>
            </a:r>
            <a:endParaRPr/>
          </a:p>
          <a:p>
            <a:pPr indent="-180975" lvl="0" marL="25082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Translating a </a:t>
            </a:r>
            <a:r>
              <a:rPr b="1" lang="pl-PL" sz="1400">
                <a:solidFill>
                  <a:srgbClr val="747474"/>
                </a:solidFill>
              </a:rPr>
              <a:t>consultant-focused narrative</a:t>
            </a:r>
            <a:r>
              <a:rPr lang="pl-PL" sz="14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a functional dashboard.</a:t>
            </a:r>
            <a:endParaRPr/>
          </a:p>
          <a:p>
            <a:pPr indent="-180975" lvl="0" marL="25082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Highlighting</a:t>
            </a:r>
            <a:r>
              <a:rPr lang="pl-PL" sz="14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747474"/>
                </a:solidFill>
              </a:rPr>
              <a:t>high-impact</a:t>
            </a:r>
            <a:r>
              <a:rPr lang="pl-PL" sz="14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apps visually.</a:t>
            </a:r>
            <a:endParaRPr/>
          </a:p>
          <a:p>
            <a:pPr indent="-180975" lvl="0" marL="25082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Organizing visuals into </a:t>
            </a:r>
            <a:r>
              <a:rPr b="1" lang="pl-PL" sz="1400">
                <a:solidFill>
                  <a:srgbClr val="747474"/>
                </a:solidFill>
              </a:rPr>
              <a:t>purposeful</a:t>
            </a:r>
            <a:r>
              <a:rPr lang="pl-PL" sz="14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747474"/>
                </a:solidFill>
              </a:rPr>
              <a:t>pages</a:t>
            </a:r>
            <a:r>
              <a:rPr lang="pl-PL" sz="14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aligned with a consulting scenario.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25082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Preparing a PowerPoint to </a:t>
            </a:r>
            <a:r>
              <a:rPr b="1" lang="pl-PL" sz="1400">
                <a:solidFill>
                  <a:srgbClr val="747474"/>
                </a:solidFill>
              </a:rPr>
              <a:t>communicate</a:t>
            </a:r>
            <a:r>
              <a:rPr lang="pl-PL" sz="14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l-PL" sz="1400">
                <a:solidFill>
                  <a:srgbClr val="747474"/>
                </a:solidFill>
              </a:rPr>
              <a:t>methodology</a:t>
            </a:r>
            <a:r>
              <a:rPr lang="pl-P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2025-10-24T08:49:32Z</dcterms:created>
  <dc:creator>Dominika D</dc:creator>
</cp:coreProperties>
</file>